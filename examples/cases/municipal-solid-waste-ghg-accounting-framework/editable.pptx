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0b9d9a5b134a18" /><Relationship Type="http://schemas.openxmlformats.org/officeDocument/2006/relationships/extended-properties" Target="/docProps/app.xml" Id="Re9eb0e11a032468e" /><Relationship Type="http://schemas.openxmlformats.org/officeDocument/2006/relationships/officeDocument" Target="/ppt/presentation.xml" Id="Ra9b55cf1f4bb4f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cd80f6377e40d0"/>
  </p:sldMasterIdLst>
  <p:notesMasterIdLst>
    <p:notesMasterId xmlns:r="http://schemas.openxmlformats.org/officeDocument/2006/relationships" r:id="Rf2bdc0e0a1af4c18"/>
  </p:notesMasterIdLst>
  <p:sldIdLst>
    <p:sldId xmlns:r="http://schemas.openxmlformats.org/officeDocument/2006/relationships" id="256" r:id="R38a05f90ab7b4e14"/>
  </p:sldIdLst>
  <p:sldSz cx="12011025" cy="11877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e6f3124c3e4cb3" /><Relationship Type="http://schemas.openxmlformats.org/officeDocument/2006/relationships/slideMaster" Target="/ppt/slideMasters/slideMaster1.xml" Id="R68cd80f6377e40d0" /><Relationship Type="http://schemas.openxmlformats.org/officeDocument/2006/relationships/notesMaster" Target="/ppt/notesMasters/notesMaster1.xml" Id="Rf2bdc0e0a1af4c18" /><Relationship Type="http://schemas.openxmlformats.org/officeDocument/2006/relationships/presProps" Target="/ppt/presProps.xml" Id="Re0870641444b429c" /><Relationship Type="http://schemas.openxmlformats.org/officeDocument/2006/relationships/tableStyles" Target="/ppt/tableStyles.xml" Id="R9cc6e9299e2248e0" /><Relationship Type="http://schemas.openxmlformats.org/officeDocument/2006/relationships/slide" Target="/ppt/slides/slide1.xml" Id="R38a05f90ab7b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930a4481264b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af6a033dc6485c" /><Relationship Type="http://schemas.openxmlformats.org/officeDocument/2006/relationships/notesMaster" Target="/ppt/notesMasters/notesMaster1.xml" Id="R916d1e81c1614a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7fe9839194f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1071db89bc4b52" /><Relationship Type="http://schemas.openxmlformats.org/officeDocument/2006/relationships/slideLayout" Target="/ppt/slideLayouts/slideLayout1.xml" Id="R4344420d54d94d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44420d54d94d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c7f2aa8404940" /><Relationship Type="http://schemas.openxmlformats.org/officeDocument/2006/relationships/notesSlide" Target="/ppt/notesSlides/notesSlide1.xml" Id="Rffa5f0429f1b46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outer_border">
            <a:extLst xmlns:a="http://schemas.openxmlformats.org/drawingml/2006/main">
              <a:ext uri="{FF2B5EF4-FFF2-40B4-BE49-F238E27FC236}">
                <a16:creationId xmlns:a16="http://schemas.microsoft.com/office/drawing/2014/main" id="{69D25D53-9B6B-4F4A-B38F-44917A0A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76200"/>
            <a:ext cx="11763375" cy="1167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" name="region_upper_left">
            <a:extLst xmlns:a="http://schemas.openxmlformats.org/drawingml/2006/main">
              <a:ext uri="{FF2B5EF4-FFF2-40B4-BE49-F238E27FC236}">
                <a16:creationId xmlns:a16="http://schemas.microsoft.com/office/drawing/2014/main" id="{915A0E17-18BF-45CA-B8EE-EE6F3BE6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7953375" cy="779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3" name="region_scenarios">
            <a:extLst xmlns:a="http://schemas.openxmlformats.org/drawingml/2006/main">
              <a:ext uri="{FF2B5EF4-FFF2-40B4-BE49-F238E27FC236}">
                <a16:creationId xmlns:a16="http://schemas.microsoft.com/office/drawing/2014/main" id="{28A2E062-5485-4787-889A-F38F0D57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162925"/>
            <a:ext cx="7953375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4" name="region_inventories">
            <a:extLst xmlns:a="http://schemas.openxmlformats.org/drawingml/2006/main">
              <a:ext uri="{FF2B5EF4-FFF2-40B4-BE49-F238E27FC236}">
                <a16:creationId xmlns:a16="http://schemas.microsoft.com/office/drawing/2014/main" id="{B30CA259-51E7-4137-93BA-161BB322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6225"/>
            <a:ext cx="2914650" cy="787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5" name="e06_costs_to_parameters">
            <a:extLst xmlns:a="http://schemas.openxmlformats.org/drawingml/2006/main">
              <a:ext uri="{FF2B5EF4-FFF2-40B4-BE49-F238E27FC236}">
                <a16:creationId xmlns:a16="http://schemas.microsoft.com/office/drawing/2014/main" id="{CFE59AC9-CBE3-4A23-BC92-1AC45571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962650"/>
            <a:ext cx="514350" cy="3238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FFFDF0"/>
              </a:gs>
              <a:gs pos="100000">
                <a:srgbClr val="FFF1C7"/>
              </a:gs>
            </a:gsLst>
            <a:lin ang="0"/>
          </a:gradFill>
          <a:ln xmlns:a="http://schemas.openxmlformats.org/drawingml/2006/main" w="10478">
            <a:solidFill>
              <a:srgbClr val="E6C862"/>
            </a:solidFill>
            <a:prstDash val="solid"/>
          </a:ln>
        </p:spPr>
      </p:sp>
      <p:sp>
        <p:nvSpPr>
          <p:cNvPr id="6" name="e07_benefits_to_parameters">
            <a:extLst xmlns:a="http://schemas.openxmlformats.org/drawingml/2006/main">
              <a:ext uri="{FF2B5EF4-FFF2-40B4-BE49-F238E27FC236}">
                <a16:creationId xmlns:a16="http://schemas.microsoft.com/office/drawing/2014/main" id="{1A6EBBB3-AA16-495F-BEE3-3907C17D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791325"/>
            <a:ext cx="514350" cy="3238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FFFDF0"/>
              </a:gs>
              <a:gs pos="100000">
                <a:srgbClr val="FFF1C7"/>
              </a:gs>
            </a:gsLst>
            <a:lin ang="0"/>
          </a:gradFill>
          <a:ln xmlns:a="http://schemas.openxmlformats.org/drawingml/2006/main" w="10478">
            <a:solidFill>
              <a:srgbClr val="E6C862"/>
            </a:solidFill>
            <a:prstDash val="solid"/>
          </a:ln>
        </p:spPr>
      </p:sp>
      <p:sp>
        <p:nvSpPr>
          <p:cNvPr id="7" name="e08_parameters_to_accounting">
            <a:extLst xmlns:a="http://schemas.openxmlformats.org/drawingml/2006/main">
              <a:ext uri="{FF2B5EF4-FFF2-40B4-BE49-F238E27FC236}">
                <a16:creationId xmlns:a16="http://schemas.microsoft.com/office/drawing/2014/main" id="{394D19FE-7F01-4A2F-9923-C10BF0BA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515100"/>
            <a:ext cx="447675" cy="3048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F0F9ED"/>
              </a:gs>
              <a:gs pos="100000">
                <a:srgbClr val="D9EDD3"/>
              </a:gs>
            </a:gsLst>
            <a:lin ang="0"/>
          </a:gradFill>
          <a:ln xmlns:a="http://schemas.openxmlformats.org/drawingml/2006/main" w="10478">
            <a:solidFill>
              <a:srgbClr val="B0D3A8"/>
            </a:solidFill>
            <a:prstDash val="solid"/>
          </a:ln>
        </p:spPr>
      </p:sp>
      <p:sp>
        <p:nvSpPr>
          <p:cNvPr id="8" name="e13_upper_left_to_inventories">
            <a:extLst xmlns:a="http://schemas.openxmlformats.org/drawingml/2006/main">
              <a:ext uri="{FF2B5EF4-FFF2-40B4-BE49-F238E27FC236}">
                <a16:creationId xmlns:a16="http://schemas.microsoft.com/office/drawing/2014/main" id="{07F1455D-5260-4CD8-A0B0-B0EC0A87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71925"/>
            <a:ext cx="552450" cy="4381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FFF180"/>
              </a:gs>
              <a:gs pos="100000">
                <a:srgbClr val="FFDB4D"/>
              </a:gs>
            </a:gsLst>
            <a:lin ang="0"/>
          </a:gradFill>
          <a:ln xmlns:a="http://schemas.openxmlformats.org/drawingml/2006/main" w="10478">
            <a:solidFill>
              <a:srgbClr val="111111"/>
            </a:solidFill>
            <a:prstDash val="solid"/>
          </a:ln>
        </p:spPr>
      </p:sp>
      <p:sp>
        <p:nvSpPr>
          <p:cNvPr id="9" name="e16_inventories_to_assessment">
            <a:extLst xmlns:a="http://schemas.openxmlformats.org/drawingml/2006/main">
              <a:ext uri="{FF2B5EF4-FFF2-40B4-BE49-F238E27FC236}">
                <a16:creationId xmlns:a16="http://schemas.microsoft.com/office/drawing/2014/main" id="{D45AD40E-F2B8-48E5-892E-61BF6ABD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438150" cy="1085850"/>
          </a:xfrm>
          <a:prstGeom xmlns:a="http://schemas.openxmlformats.org/drawingml/2006/main" prst="downArrow">
            <a:avLst/>
          </a:prstGeom>
          <a:gradFill xmlns:a="http://schemas.openxmlformats.org/drawingml/2006/main">
            <a:gsLst>
              <a:gs pos="0">
                <a:srgbClr val="FFF180"/>
              </a:gs>
              <a:gs pos="100000">
                <a:srgbClr val="FFDB4D"/>
              </a:gs>
            </a:gsLst>
            <a:lin ang="0"/>
          </a:gradFill>
          <a:ln xmlns:a="http://schemas.openxmlformats.org/drawingml/2006/main" w="10478">
            <a:solidFill>
              <a:srgbClr val="111111"/>
            </a:solidFill>
            <a:prstDash val="solid"/>
          </a:ln>
        </p:spPr>
      </p:sp>
      <p:sp>
        <p:nvSpPr>
          <p:cNvPr id="10" name="e17_scenarios_to_assessment">
            <a:extLst xmlns:a="http://schemas.openxmlformats.org/drawingml/2006/main">
              <a:ext uri="{FF2B5EF4-FFF2-40B4-BE49-F238E27FC236}">
                <a16:creationId xmlns:a16="http://schemas.microsoft.com/office/drawing/2014/main" id="{DCCF688C-13C0-421D-8795-B656A7A0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848850"/>
            <a:ext cx="828675" cy="4381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FFF180"/>
              </a:gs>
              <a:gs pos="100000">
                <a:srgbClr val="FFDB4D"/>
              </a:gs>
            </a:gsLst>
            <a:lin ang="0"/>
          </a:gradFill>
          <a:ln xmlns:a="http://schemas.openxmlformats.org/drawingml/2006/main" w="10478">
            <a:solidFill>
              <a:srgbClr val="111111"/>
            </a:solidFill>
            <a:prstDash val="solid"/>
          </a:ln>
        </p:spPr>
      </p:sp>
      <p:sp>
        <p:nvSpPr>
          <p:cNvPr id="11" name="municipal_frame">
            <a:extLst xmlns:a="http://schemas.openxmlformats.org/drawingml/2006/main">
              <a:ext uri="{FF2B5EF4-FFF2-40B4-BE49-F238E27FC236}">
                <a16:creationId xmlns:a16="http://schemas.microsoft.com/office/drawing/2014/main" id="{FA90BA60-645D-40B4-8B2A-C41CD8E0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19100"/>
            <a:ext cx="5257800" cy="4438650"/>
          </a:xfrm>
          <a:prstGeom xmlns:a="http://schemas.openxmlformats.org/drawingml/2006/main" prst="roundRect">
            <a:avLst>
              <a:gd name="adj" fmla="val 1288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1F6F8"/>
              </a:gs>
            </a:gsLst>
            <a:lin ang="0"/>
          </a:gradFill>
          <a:ln xmlns:a="http://schemas.openxmlformats.org/drawingml/2006/main" w="9525">
            <a:solidFill>
              <a:srgbClr val="CAD3D9"/>
            </a:solidFill>
            <a:prstDash val="solid"/>
          </a:ln>
        </p:spPr>
      </p:sp>
      <p:sp>
        <p:nvSpPr>
          <p:cNvPr id="12" name="municipal_title">
            <a:extLst xmlns:a="http://schemas.openxmlformats.org/drawingml/2006/main">
              <a:ext uri="{FF2B5EF4-FFF2-40B4-BE49-F238E27FC236}">
                <a16:creationId xmlns:a16="http://schemas.microsoft.com/office/drawing/2014/main" id="{C76386EE-7E37-42CE-9163-36A23547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2925"/>
            <a:ext cx="468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Municipal solid waste management system framework</a:t>
            </a:r>
          </a:p>
        </p:txBody>
      </p:sp>
      <p:sp>
        <p:nvSpPr>
          <p:cNvPr id="13" name="ghg_panel">
            <a:extLst xmlns:a="http://schemas.openxmlformats.org/drawingml/2006/main">
              <a:ext uri="{FF2B5EF4-FFF2-40B4-BE49-F238E27FC236}">
                <a16:creationId xmlns:a16="http://schemas.microsoft.com/office/drawing/2014/main" id="{C4100EE3-F37F-401E-ADE3-9B88D87E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104900"/>
            <a:ext cx="3429000" cy="781050"/>
          </a:xfrm>
          <a:prstGeom xmlns:a="http://schemas.openxmlformats.org/drawingml/2006/main" prst="roundRect">
            <a:avLst>
              <a:gd name="adj" fmla="val 15854"/>
            </a:avLst>
          </a:prstGeom>
          <a:gradFill xmlns:a="http://schemas.openxmlformats.org/drawingml/2006/main">
            <a:gsLst>
              <a:gs pos="0">
                <a:srgbClr val="F1F9EE"/>
              </a:gs>
              <a:gs pos="100000">
                <a:srgbClr val="DDEDCF"/>
              </a:gs>
            </a:gsLst>
            <a:lin ang="0"/>
          </a:gradFill>
          <a:ln xmlns:a="http://schemas.openxmlformats.org/drawingml/2006/main" w="10478">
            <a:solidFill>
              <a:srgbClr val="84A968"/>
            </a:solidFill>
            <a:prstDash val="solid"/>
          </a:ln>
        </p:spPr>
      </p:sp>
      <p:sp>
        <p:nvSpPr>
          <p:cNvPr id="14" name="ghg_label">
            <a:extLst xmlns:a="http://schemas.openxmlformats.org/drawingml/2006/main">
              <a:ext uri="{FF2B5EF4-FFF2-40B4-BE49-F238E27FC236}">
                <a16:creationId xmlns:a16="http://schemas.microsoft.com/office/drawing/2014/main" id="{8906364F-4F4D-4A19-843A-58FD0BE5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190625"/>
            <a:ext cx="2343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GHG emission layer</a:t>
            </a:r>
          </a:p>
        </p:txBody>
      </p:sp>
      <p:sp>
        <p:nvSpPr>
          <p:cNvPr id="15" name="gas_ch4">
            <a:extLst xmlns:a="http://schemas.openxmlformats.org/drawingml/2006/main">
              <a:ext uri="{FF2B5EF4-FFF2-40B4-BE49-F238E27FC236}">
                <a16:creationId xmlns:a16="http://schemas.microsoft.com/office/drawing/2014/main" id="{0DEC9849-8ECD-41F9-B7C1-252FB463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485900"/>
            <a:ext cx="71437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CH₄</a:t>
            </a:r>
          </a:p>
        </p:txBody>
      </p:sp>
      <p:sp>
        <p:nvSpPr>
          <p:cNvPr id="16" name="gas_co2">
            <a:extLst xmlns:a="http://schemas.openxmlformats.org/drawingml/2006/main">
              <a:ext uri="{FF2B5EF4-FFF2-40B4-BE49-F238E27FC236}">
                <a16:creationId xmlns:a16="http://schemas.microsoft.com/office/drawing/2014/main" id="{C352687E-FCD8-46F9-B32E-C8CB9502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85900"/>
            <a:ext cx="7239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CO₂</a:t>
            </a:r>
          </a:p>
        </p:txBody>
      </p:sp>
      <p:sp>
        <p:nvSpPr>
          <p:cNvPr id="17" name="gas_n2o">
            <a:extLst xmlns:a="http://schemas.openxmlformats.org/drawingml/2006/main">
              <a:ext uri="{FF2B5EF4-FFF2-40B4-BE49-F238E27FC236}">
                <a16:creationId xmlns:a16="http://schemas.microsoft.com/office/drawing/2014/main" id="{C6DE5345-9457-439A-8577-45DF389C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85900"/>
            <a:ext cx="7429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N₂O</a:t>
            </a:r>
          </a:p>
        </p:txBody>
      </p:sp>
      <p:sp>
        <p:nvSpPr>
          <p:cNvPr id="18" name="layer_1">
            <a:extLst xmlns:a="http://schemas.openxmlformats.org/drawingml/2006/main">
              <a:ext uri="{FF2B5EF4-FFF2-40B4-BE49-F238E27FC236}">
                <a16:creationId xmlns:a16="http://schemas.microsoft.com/office/drawing/2014/main" id="{77D67123-F471-4E4E-80D7-24CADFF2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Layer (1)</a:t>
            </a:r>
          </a:p>
        </p:txBody>
      </p:sp>
      <p:sp>
        <p:nvSpPr>
          <p:cNvPr id="19" name="treatment_panel">
            <a:extLst xmlns:a="http://schemas.openxmlformats.org/drawingml/2006/main">
              <a:ext uri="{FF2B5EF4-FFF2-40B4-BE49-F238E27FC236}">
                <a16:creationId xmlns:a16="http://schemas.microsoft.com/office/drawing/2014/main" id="{248DE796-892E-4DC9-B09D-2A4822AD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990725"/>
            <a:ext cx="3429000" cy="1028700"/>
          </a:xfrm>
          <a:prstGeom xmlns:a="http://schemas.openxmlformats.org/drawingml/2006/main" prst="roundRect">
            <a:avLst>
              <a:gd name="adj" fmla="val 12037"/>
            </a:avLst>
          </a:prstGeom>
          <a:gradFill xmlns:a="http://schemas.openxmlformats.org/drawingml/2006/main">
            <a:gsLst>
              <a:gs pos="0">
                <a:srgbClr val="EFF6FF"/>
              </a:gs>
              <a:gs pos="100000">
                <a:srgbClr val="DCEBFB"/>
              </a:gs>
            </a:gsLst>
            <a:lin ang="0"/>
          </a:gradFill>
          <a:ln xmlns:a="http://schemas.openxmlformats.org/drawingml/2006/main" w="10478">
            <a:solidFill>
              <a:srgbClr val="7097C7"/>
            </a:solidFill>
            <a:prstDash val="solid"/>
          </a:ln>
        </p:spPr>
      </p:sp>
      <p:sp>
        <p:nvSpPr>
          <p:cNvPr id="20" name="treatment_label">
            <a:extLst xmlns:a="http://schemas.openxmlformats.org/drawingml/2006/main">
              <a:ext uri="{FF2B5EF4-FFF2-40B4-BE49-F238E27FC236}">
                <a16:creationId xmlns:a16="http://schemas.microsoft.com/office/drawing/2014/main" id="{515491BB-6099-4420-8BA4-D606839F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57400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MSW treatment layer</a:t>
            </a:r>
          </a:p>
        </p:txBody>
      </p:sp>
      <p:sp>
        <p:nvSpPr>
          <p:cNvPr id="21" name="material_recovery">
            <a:extLst xmlns:a="http://schemas.openxmlformats.org/drawingml/2006/main">
              <a:ext uri="{FF2B5EF4-FFF2-40B4-BE49-F238E27FC236}">
                <a16:creationId xmlns:a16="http://schemas.microsoft.com/office/drawing/2014/main" id="{D834ADD4-587A-4B67-9405-B01F42A6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43150"/>
            <a:ext cx="289560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097C7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Material recovery facility</a:t>
            </a:r>
          </a:p>
        </p:txBody>
      </p:sp>
      <p:sp>
        <p:nvSpPr>
          <p:cNvPr id="22" name="treatment_composting">
            <a:extLst xmlns:a="http://schemas.openxmlformats.org/drawingml/2006/main">
              <a:ext uri="{FF2B5EF4-FFF2-40B4-BE49-F238E27FC236}">
                <a16:creationId xmlns:a16="http://schemas.microsoft.com/office/drawing/2014/main" id="{01CE595A-6498-4902-9777-A9617437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67000"/>
            <a:ext cx="1028700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097C7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Composting</a:t>
            </a:r>
          </a:p>
        </p:txBody>
      </p:sp>
      <p:sp>
        <p:nvSpPr>
          <p:cNvPr id="23" name="treatment_incineration">
            <a:extLst xmlns:a="http://schemas.openxmlformats.org/drawingml/2006/main">
              <a:ext uri="{FF2B5EF4-FFF2-40B4-BE49-F238E27FC236}">
                <a16:creationId xmlns:a16="http://schemas.microsoft.com/office/drawing/2014/main" id="{ED5CC24B-30C6-45BE-8586-1D76DD1B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67000"/>
            <a:ext cx="990600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097C7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Incineration</a:t>
            </a:r>
          </a:p>
        </p:txBody>
      </p:sp>
      <p:sp>
        <p:nvSpPr>
          <p:cNvPr id="24" name="treatment_landfill">
            <a:extLst xmlns:a="http://schemas.openxmlformats.org/drawingml/2006/main">
              <a:ext uri="{FF2B5EF4-FFF2-40B4-BE49-F238E27FC236}">
                <a16:creationId xmlns:a16="http://schemas.microsoft.com/office/drawing/2014/main" id="{CAAD2D52-9F04-4420-909E-0E8D327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67000"/>
            <a:ext cx="762000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097C7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Landfill</a:t>
            </a:r>
          </a:p>
        </p:txBody>
      </p:sp>
      <p:sp>
        <p:nvSpPr>
          <p:cNvPr id="25" name="layer_2">
            <a:extLst xmlns:a="http://schemas.openxmlformats.org/drawingml/2006/main">
              <a:ext uri="{FF2B5EF4-FFF2-40B4-BE49-F238E27FC236}">
                <a16:creationId xmlns:a16="http://schemas.microsoft.com/office/drawing/2014/main" id="{976E59D1-CF7A-43CC-829C-158C1AD6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Layer (2)</a:t>
            </a:r>
          </a:p>
        </p:txBody>
      </p:sp>
      <p:sp>
        <p:nvSpPr>
          <p:cNvPr id="26" name="output_panel">
            <a:extLst xmlns:a="http://schemas.openxmlformats.org/drawingml/2006/main">
              <a:ext uri="{FF2B5EF4-FFF2-40B4-BE49-F238E27FC236}">
                <a16:creationId xmlns:a16="http://schemas.microsoft.com/office/drawing/2014/main" id="{E99D4F30-5ACC-4462-9247-CA61CEA9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24200"/>
            <a:ext cx="3429000" cy="74295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F7F0F8"/>
              </a:gs>
              <a:gs pos="100000">
                <a:srgbClr val="E9DBEF"/>
              </a:gs>
            </a:gsLst>
            <a:lin ang="0"/>
          </a:gradFill>
          <a:ln xmlns:a="http://schemas.openxmlformats.org/drawingml/2006/main" w="10478">
            <a:solidFill>
              <a:srgbClr val="9875A6"/>
            </a:solidFill>
            <a:prstDash val="solid"/>
          </a:ln>
        </p:spPr>
      </p:sp>
      <p:sp>
        <p:nvSpPr>
          <p:cNvPr id="27" name="output_label">
            <a:extLst xmlns:a="http://schemas.openxmlformats.org/drawingml/2006/main">
              <a:ext uri="{FF2B5EF4-FFF2-40B4-BE49-F238E27FC236}">
                <a16:creationId xmlns:a16="http://schemas.microsoft.com/office/drawing/2014/main" id="{EF96314C-B37A-4143-BF56-54BBC574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0992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Desired/undesired output layer</a:t>
            </a:r>
          </a:p>
        </p:txBody>
      </p:sp>
      <p:sp>
        <p:nvSpPr>
          <p:cNvPr id="28" name="products">
            <a:extLst xmlns:a="http://schemas.openxmlformats.org/drawingml/2006/main">
              <a:ext uri="{FF2B5EF4-FFF2-40B4-BE49-F238E27FC236}">
                <a16:creationId xmlns:a16="http://schemas.microsoft.com/office/drawing/2014/main" id="{16B14E42-9BAF-493E-A6E6-98E6FB78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14725"/>
            <a:ext cx="12001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875A6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Products</a:t>
            </a:r>
          </a:p>
        </p:txBody>
      </p:sp>
      <p:sp>
        <p:nvSpPr>
          <p:cNvPr id="29" name="undesirable_outputs">
            <a:extLst xmlns:a="http://schemas.openxmlformats.org/drawingml/2006/main">
              <a:ext uri="{FF2B5EF4-FFF2-40B4-BE49-F238E27FC236}">
                <a16:creationId xmlns:a16="http://schemas.microsoft.com/office/drawing/2014/main" id="{0CEE0B95-98FD-47D9-9BC2-D1405E8F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14725"/>
            <a:ext cx="17335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875A6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Undesirable outputs</a:t>
            </a:r>
          </a:p>
        </p:txBody>
      </p:sp>
      <p:sp>
        <p:nvSpPr>
          <p:cNvPr id="30" name="layer_3">
            <a:extLst xmlns:a="http://schemas.openxmlformats.org/drawingml/2006/main">
              <a:ext uri="{FF2B5EF4-FFF2-40B4-BE49-F238E27FC236}">
                <a16:creationId xmlns:a16="http://schemas.microsoft.com/office/drawing/2014/main" id="{246A37E3-1D38-406E-B2D1-D8ECA1AE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Layer (3)</a:t>
            </a:r>
          </a:p>
        </p:txBody>
      </p:sp>
      <p:sp>
        <p:nvSpPr>
          <p:cNvPr id="31" name="resource_panel">
            <a:extLst xmlns:a="http://schemas.openxmlformats.org/drawingml/2006/main">
              <a:ext uri="{FF2B5EF4-FFF2-40B4-BE49-F238E27FC236}">
                <a16:creationId xmlns:a16="http://schemas.microsoft.com/office/drawing/2014/main" id="{FB521E85-F9BA-49E1-92CD-FB1ACDF1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98145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gradFill xmlns:a="http://schemas.openxmlformats.org/drawingml/2006/main">
            <a:gsLst>
              <a:gs pos="0">
                <a:srgbClr val="FFFDF1"/>
              </a:gs>
              <a:gs pos="100000">
                <a:srgbClr val="FFF1C8"/>
              </a:gs>
            </a:gsLst>
            <a:lin ang="0"/>
          </a:gradFill>
          <a:ln xmlns:a="http://schemas.openxmlformats.org/drawingml/2006/main" w="10478">
            <a:solidFill>
              <a:srgbClr val="E1B23B"/>
            </a:solidFill>
            <a:prstDash val="solid"/>
          </a:ln>
        </p:spPr>
      </p:sp>
      <p:sp>
        <p:nvSpPr>
          <p:cNvPr id="32" name="resource_label">
            <a:extLst xmlns:a="http://schemas.openxmlformats.org/drawingml/2006/main">
              <a:ext uri="{FF2B5EF4-FFF2-40B4-BE49-F238E27FC236}">
                <a16:creationId xmlns:a16="http://schemas.microsoft.com/office/drawing/2014/main" id="{DDF5735A-7551-489B-8E65-41512B7F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57650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Resource factor input layer</a:t>
            </a:r>
          </a:p>
        </p:txBody>
      </p:sp>
      <p:sp>
        <p:nvSpPr>
          <p:cNvPr id="33" name="energy">
            <a:extLst xmlns:a="http://schemas.openxmlformats.org/drawingml/2006/main">
              <a:ext uri="{FF2B5EF4-FFF2-40B4-BE49-F238E27FC236}">
                <a16:creationId xmlns:a16="http://schemas.microsoft.com/office/drawing/2014/main" id="{B98BD778-57A7-484C-92CD-6C2EBDA5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43400"/>
            <a:ext cx="7429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B23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Energy</a:t>
            </a:r>
          </a:p>
        </p:txBody>
      </p:sp>
      <p:sp>
        <p:nvSpPr>
          <p:cNvPr id="34" name="capital_investment">
            <a:extLst xmlns:a="http://schemas.openxmlformats.org/drawingml/2006/main">
              <a:ext uri="{FF2B5EF4-FFF2-40B4-BE49-F238E27FC236}">
                <a16:creationId xmlns:a16="http://schemas.microsoft.com/office/drawing/2014/main" id="{F33AD280-95F8-4BC3-A960-9672CC30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43400"/>
            <a:ext cx="148590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B23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Capital investment</a:t>
            </a:r>
          </a:p>
        </p:txBody>
      </p:sp>
      <p:sp>
        <p:nvSpPr>
          <p:cNvPr id="35" name="services">
            <a:extLst xmlns:a="http://schemas.openxmlformats.org/drawingml/2006/main">
              <a:ext uri="{FF2B5EF4-FFF2-40B4-BE49-F238E27FC236}">
                <a16:creationId xmlns:a16="http://schemas.microsoft.com/office/drawing/2014/main" id="{B1A20804-495C-4E74-92C3-CB3F8B4D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43400"/>
            <a:ext cx="68580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B23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Services</a:t>
            </a:r>
          </a:p>
        </p:txBody>
      </p:sp>
      <p:sp>
        <p:nvSpPr>
          <p:cNvPr id="36" name="layer_4">
            <a:extLst xmlns:a="http://schemas.openxmlformats.org/drawingml/2006/main">
              <a:ext uri="{FF2B5EF4-FFF2-40B4-BE49-F238E27FC236}">
                <a16:creationId xmlns:a16="http://schemas.microsoft.com/office/drawing/2014/main" id="{9B55E64F-48D0-4464-AEAB-CC5C9C09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Layer (4)</a:t>
            </a:r>
          </a:p>
        </p:txBody>
      </p:sp>
      <p:sp>
        <p:nvSpPr>
          <p:cNvPr id="37" name="cost_benefit_heading">
            <a:extLst xmlns:a="http://schemas.openxmlformats.org/drawingml/2006/main">
              <a:ext uri="{FF2B5EF4-FFF2-40B4-BE49-F238E27FC236}">
                <a16:creationId xmlns:a16="http://schemas.microsoft.com/office/drawing/2014/main" id="{DDAF35D3-0BD0-48B3-B690-32AFD28C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Cost-benefit analysis</a:t>
            </a:r>
          </a:p>
        </p:txBody>
      </p:sp>
      <p:sp>
        <p:nvSpPr>
          <p:cNvPr id="38" name="accounting_heading">
            <a:extLst xmlns:a="http://schemas.openxmlformats.org/drawingml/2006/main">
              <a:ext uri="{FF2B5EF4-FFF2-40B4-BE49-F238E27FC236}">
                <a16:creationId xmlns:a16="http://schemas.microsoft.com/office/drawing/2014/main" id="{49387D65-0E63-45DD-825E-32116151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43500"/>
            <a:ext cx="348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Accounting for GHG emission potentials</a:t>
            </a:r>
          </a:p>
        </p:txBody>
      </p:sp>
      <p:sp>
        <p:nvSpPr>
          <p:cNvPr id="39" name="costs">
            <a:extLst xmlns:a="http://schemas.openxmlformats.org/drawingml/2006/main">
              <a:ext uri="{FF2B5EF4-FFF2-40B4-BE49-F238E27FC236}">
                <a16:creationId xmlns:a16="http://schemas.microsoft.com/office/drawing/2014/main" id="{38A5E5F3-BA63-4662-ABCE-29F1BDF7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38825"/>
            <a:ext cx="828675" cy="561975"/>
          </a:xfrm>
          <a:prstGeom xmlns:a="http://schemas.openxmlformats.org/drawingml/2006/main" prst="roundRect">
            <a:avLst>
              <a:gd name="adj" fmla="val 13559"/>
            </a:avLst>
          </a:prstGeom>
          <a:gradFill xmlns:a="http://schemas.openxmlformats.org/drawingml/2006/main">
            <a:gsLst>
              <a:gs pos="0">
                <a:srgbClr val="FFFDF1"/>
              </a:gs>
              <a:gs pos="100000">
                <a:srgbClr val="FFF1C8"/>
              </a:gs>
            </a:gsLst>
            <a:lin ang="0"/>
          </a:gradFill>
          <a:ln xmlns:a="http://schemas.openxmlformats.org/drawingml/2006/main" w="9525">
            <a:solidFill>
              <a:srgbClr val="E1B23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Costs</a:t>
            </a:r>
          </a:p>
        </p:txBody>
      </p:sp>
      <p:sp>
        <p:nvSpPr>
          <p:cNvPr id="40" name="benefits">
            <a:extLst xmlns:a="http://schemas.openxmlformats.org/drawingml/2006/main">
              <a:ext uri="{FF2B5EF4-FFF2-40B4-BE49-F238E27FC236}">
                <a16:creationId xmlns:a16="http://schemas.microsoft.com/office/drawing/2014/main" id="{FCBB4524-DF91-4C11-B55F-3774657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0"/>
            <a:ext cx="828675" cy="571500"/>
          </a:xfrm>
          <a:prstGeom xmlns:a="http://schemas.openxmlformats.org/drawingml/2006/main" prst="roundRect">
            <a:avLst>
              <a:gd name="adj" fmla="val 13333"/>
            </a:avLst>
          </a:prstGeom>
          <a:gradFill xmlns:a="http://schemas.openxmlformats.org/drawingml/2006/main">
            <a:gsLst>
              <a:gs pos="0">
                <a:srgbClr val="FFFDF1"/>
              </a:gs>
              <a:gs pos="100000">
                <a:srgbClr val="FFF1C8"/>
              </a:gs>
            </a:gsLst>
            <a:lin ang="0"/>
          </a:gradFill>
          <a:ln xmlns:a="http://schemas.openxmlformats.org/drawingml/2006/main" w="9525">
            <a:solidFill>
              <a:srgbClr val="E1B23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Benefits</a:t>
            </a:r>
          </a:p>
        </p:txBody>
      </p:sp>
      <p:sp>
        <p:nvSpPr>
          <p:cNvPr id="41" name="parameters_panel">
            <a:extLst xmlns:a="http://schemas.openxmlformats.org/drawingml/2006/main">
              <a:ext uri="{FF2B5EF4-FFF2-40B4-BE49-F238E27FC236}">
                <a16:creationId xmlns:a16="http://schemas.microsoft.com/office/drawing/2014/main" id="{969395C7-56B7-4D32-B603-67E55E09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2352675" cy="2152650"/>
          </a:xfrm>
          <a:prstGeom xmlns:a="http://schemas.openxmlformats.org/drawingml/2006/main" prst="roundRect">
            <a:avLst>
              <a:gd name="adj" fmla="val 9735"/>
            </a:avLst>
          </a:prstGeom>
          <a:gradFill xmlns:a="http://schemas.openxmlformats.org/drawingml/2006/main">
            <a:gsLst>
              <a:gs pos="0">
                <a:srgbClr val="FFFDF4"/>
              </a:gs>
              <a:gs pos="100000">
                <a:srgbClr val="FFF1C9"/>
              </a:gs>
            </a:gsLst>
            <a:lin ang="0"/>
          </a:gradFill>
          <a:ln xmlns:a="http://schemas.openxmlformats.org/drawingml/2006/main" w="9525">
            <a:solidFill>
              <a:srgbClr val="E1B23B"/>
            </a:solidFill>
            <a:prstDash val="solid"/>
          </a:ln>
        </p:spPr>
      </p:sp>
      <p:sp>
        <p:nvSpPr>
          <p:cNvPr id="42" name="parameters_title">
            <a:extLst xmlns:a="http://schemas.openxmlformats.org/drawingml/2006/main">
              <a:ext uri="{FF2B5EF4-FFF2-40B4-BE49-F238E27FC236}">
                <a16:creationId xmlns:a16="http://schemas.microsoft.com/office/drawing/2014/main" id="{5211DE2F-BB60-43E3-A979-D54DA2B8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05475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Main parameters</a:t>
            </a:r>
          </a:p>
        </p:txBody>
      </p:sp>
      <p:sp>
        <p:nvSpPr>
          <p:cNvPr id="43" name="parameters_body">
            <a:extLst xmlns:a="http://schemas.openxmlformats.org/drawingml/2006/main">
              <a:ext uri="{FF2B5EF4-FFF2-40B4-BE49-F238E27FC236}">
                <a16:creationId xmlns:a16="http://schemas.microsoft.com/office/drawing/2014/main" id="{BFC43058-226E-40A5-80B7-860F51D0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981700"/>
            <a:ext cx="22098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Separate collection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Transpotation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Facility construction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Operation and Maintenance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Residential waste disposal fee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Products</a:t>
            </a:r>
          </a:p>
        </p:txBody>
      </p:sp>
      <p:sp>
        <p:nvSpPr>
          <p:cNvPr id="44" name="accounting_panel">
            <a:extLst xmlns:a="http://schemas.openxmlformats.org/drawingml/2006/main">
              <a:ext uri="{FF2B5EF4-FFF2-40B4-BE49-F238E27FC236}">
                <a16:creationId xmlns:a16="http://schemas.microsoft.com/office/drawing/2014/main" id="{A1543B56-F094-412C-83F9-5A27BA5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38800"/>
            <a:ext cx="3495675" cy="2152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DFC"/>
              </a:gs>
              <a:gs pos="100000">
                <a:srgbClr val="EDF7EE"/>
              </a:gs>
            </a:gsLst>
            <a:lin ang="0"/>
          </a:gradFill>
          <a:ln xmlns:a="http://schemas.openxmlformats.org/drawingml/2006/main" w="7620">
            <a:solidFill>
              <a:srgbClr val="D3DED4"/>
            </a:solidFill>
            <a:prstDash val="solid"/>
          </a:ln>
        </p:spPr>
      </p:sp>
      <p:sp>
        <p:nvSpPr>
          <p:cNvPr id="45" name="accounting_bullets">
            <a:extLst xmlns:a="http://schemas.openxmlformats.org/drawingml/2006/main">
              <a:ext uri="{FF2B5EF4-FFF2-40B4-BE49-F238E27FC236}">
                <a16:creationId xmlns:a16="http://schemas.microsoft.com/office/drawing/2014/main" id="{19CB1621-6E22-4138-A69C-945D0924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81675"/>
            <a:ext cx="16859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•  Sanitary landfills</a:t>
            </a:r>
          </a:p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•  Simple landfills</a:t>
            </a:r>
          </a:p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•  Composting</a:t>
            </a:r>
          </a:p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l">
              <a:defRPr sz="13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•  Incineration</a:t>
            </a:r>
          </a:p>
        </p:txBody>
      </p:sp>
      <p:sp>
        <p:nvSpPr>
          <p:cNvPr id="46" name="technology_circle">
            <a:extLst xmlns:a="http://schemas.openxmlformats.org/drawingml/2006/main">
              <a:ext uri="{FF2B5EF4-FFF2-40B4-BE49-F238E27FC236}">
                <a16:creationId xmlns:a16="http://schemas.microsoft.com/office/drawing/2014/main" id="{E16070A3-C217-4DF6-AB8C-398B2D09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876925"/>
            <a:ext cx="1657350" cy="174307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9EF"/>
              </a:gs>
              <a:gs pos="100000">
                <a:srgbClr val="D7EBCD"/>
              </a:gs>
            </a:gsLst>
            <a:lin ang="0"/>
          </a:gradFill>
          <a:ln xmlns:a="http://schemas.openxmlformats.org/drawingml/2006/main" w="9525">
            <a:solidFill>
              <a:srgbClr val="8DBB76"/>
            </a:solidFill>
            <a:prstDash val="solid"/>
          </a:ln>
        </p:spPr>
        <p:txBody>
          <a:bodyPr xmlns:a="http://schemas.openxmlformats.org/drawingml/2006/main" wrap="square" lIns="19050" tIns="38100" rIns="190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Utilization of</a:t>
            </a:r>
          </a:p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different treatments</a:t>
            </a:r>
          </a:p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and technologies</a:t>
            </a:r>
          </a:p>
        </p:txBody>
      </p:sp>
      <p:sp>
        <p:nvSpPr>
          <p:cNvPr id="47" name="scenario_settings">
            <a:extLst xmlns:a="http://schemas.openxmlformats.org/drawingml/2006/main">
              <a:ext uri="{FF2B5EF4-FFF2-40B4-BE49-F238E27FC236}">
                <a16:creationId xmlns:a16="http://schemas.microsoft.com/office/drawing/2014/main" id="{FF2AF1F6-88F9-4DEE-9D56-F4558DF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267700"/>
            <a:ext cx="1847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Scenario settings</a:t>
            </a:r>
          </a:p>
        </p:txBody>
      </p:sp>
      <p:sp>
        <p:nvSpPr>
          <p:cNvPr id="48" name="scenario_s0">
            <a:extLst xmlns:a="http://schemas.openxmlformats.org/drawingml/2006/main">
              <a:ext uri="{FF2B5EF4-FFF2-40B4-BE49-F238E27FC236}">
                <a16:creationId xmlns:a16="http://schemas.microsoft.com/office/drawing/2014/main" id="{FDF4F17C-E0F5-4E60-9068-9520B764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8734425"/>
            <a:ext cx="3762375" cy="381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FDF1F4"/>
              </a:gs>
              <a:gs pos="100000">
                <a:srgbClr val="F7DDE4"/>
              </a:gs>
            </a:gsLst>
            <a:lin ang="0"/>
          </a:gradFill>
          <a:ln xmlns:a="http://schemas.openxmlformats.org/drawingml/2006/main" w="7620">
            <a:solidFill>
              <a:srgbClr val="D8B2BC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S₀:</a:t>
            </a:r>
            <a:r>
              <a:t> Current management system with no changes</a:t>
            </a:r>
          </a:p>
        </p:txBody>
      </p:sp>
      <p:sp>
        <p:nvSpPr>
          <p:cNvPr id="49" name="structure_group">
            <a:extLst xmlns:a="http://schemas.openxmlformats.org/drawingml/2006/main">
              <a:ext uri="{FF2B5EF4-FFF2-40B4-BE49-F238E27FC236}">
                <a16:creationId xmlns:a16="http://schemas.microsoft.com/office/drawing/2014/main" id="{8F798429-E390-48CE-89CD-C97F18E4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15450"/>
            <a:ext cx="3495675" cy="2066925"/>
          </a:xfrm>
          <a:prstGeom xmlns:a="http://schemas.openxmlformats.org/drawingml/2006/main" prst="roundRect">
            <a:avLst>
              <a:gd name="adj" fmla="val 9217"/>
            </a:avLst>
          </a:prstGeom>
          <a:gradFill xmlns:a="http://schemas.openxmlformats.org/drawingml/2006/main">
            <a:gsLst>
              <a:gs pos="0">
                <a:srgbClr val="FDECF0"/>
              </a:gs>
              <a:gs pos="100000">
                <a:srgbClr val="F8D1DA"/>
              </a:gs>
            </a:gsLst>
            <a:lin ang="0"/>
          </a:gradFill>
          <a:ln xmlns:a="http://schemas.openxmlformats.org/drawingml/2006/main" w="9525">
            <a:solidFill>
              <a:srgbClr val="D991A1"/>
            </a:solidFill>
            <a:prstDash val="solid"/>
          </a:ln>
        </p:spPr>
      </p:sp>
      <p:sp>
        <p:nvSpPr>
          <p:cNvPr id="50" name="technology_group">
            <a:extLst xmlns:a="http://schemas.openxmlformats.org/drawingml/2006/main">
              <a:ext uri="{FF2B5EF4-FFF2-40B4-BE49-F238E27FC236}">
                <a16:creationId xmlns:a16="http://schemas.microsoft.com/office/drawing/2014/main" id="{E8FF473A-E947-4324-90B9-962393FE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9315450"/>
            <a:ext cx="4000500" cy="2066925"/>
          </a:xfrm>
          <a:prstGeom xmlns:a="http://schemas.openxmlformats.org/drawingml/2006/main" prst="roundRect">
            <a:avLst>
              <a:gd name="adj" fmla="val 9217"/>
            </a:avLst>
          </a:prstGeom>
          <a:gradFill xmlns:a="http://schemas.openxmlformats.org/drawingml/2006/main">
            <a:gsLst>
              <a:gs pos="0">
                <a:srgbClr val="FDECF0"/>
              </a:gs>
              <a:gs pos="100000">
                <a:srgbClr val="F8D1DA"/>
              </a:gs>
            </a:gsLst>
            <a:lin ang="0"/>
          </a:gradFill>
          <a:ln xmlns:a="http://schemas.openxmlformats.org/drawingml/2006/main" w="9525">
            <a:solidFill>
              <a:srgbClr val="D991A1"/>
            </a:solidFill>
            <a:prstDash val="solid"/>
          </a:ln>
        </p:spPr>
      </p:sp>
      <p:sp>
        <p:nvSpPr>
          <p:cNvPr id="51" name="structure_title">
            <a:extLst xmlns:a="http://schemas.openxmlformats.org/drawingml/2006/main">
              <a:ext uri="{FF2B5EF4-FFF2-40B4-BE49-F238E27FC236}">
                <a16:creationId xmlns:a16="http://schemas.microsoft.com/office/drawing/2014/main" id="{9EB779B6-DFAC-4EBF-A165-05305CF4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940117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Processing structure optimization</a:t>
            </a:r>
          </a:p>
        </p:txBody>
      </p:sp>
      <p:sp>
        <p:nvSpPr>
          <p:cNvPr id="52" name="technology_title">
            <a:extLst xmlns:a="http://schemas.openxmlformats.org/drawingml/2006/main">
              <a:ext uri="{FF2B5EF4-FFF2-40B4-BE49-F238E27FC236}">
                <a16:creationId xmlns:a16="http://schemas.microsoft.com/office/drawing/2014/main" id="{91AC4569-17B5-4C65-85E1-F3D48A6D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9401175"/>
            <a:ext cx="3419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Processing technology optimization</a:t>
            </a:r>
          </a:p>
        </p:txBody>
      </p:sp>
      <p:sp>
        <p:nvSpPr>
          <p:cNvPr id="53" name="sa1">
            <a:extLst xmlns:a="http://schemas.openxmlformats.org/drawingml/2006/main">
              <a:ext uri="{FF2B5EF4-FFF2-40B4-BE49-F238E27FC236}">
                <a16:creationId xmlns:a16="http://schemas.microsoft.com/office/drawing/2014/main" id="{D4FDC048-0DC5-4748-A2AD-F249855B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9725025"/>
            <a:ext cx="828675" cy="1590675"/>
          </a:xfrm>
          <a:prstGeom xmlns:a="http://schemas.openxmlformats.org/drawingml/2006/main" prst="roundRect">
            <a:avLst>
              <a:gd name="adj" fmla="val 1264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4F4F4"/>
              </a:gs>
            </a:gsLst>
            <a:lin ang="0"/>
          </a:gradFill>
          <a:ln xmlns:a="http://schemas.openxmlformats.org/drawingml/2006/main" w="8573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SA₁: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Reduce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R₁ by 1%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and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increase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R₂ by 1%</a:t>
            </a:r>
          </a:p>
        </p:txBody>
      </p:sp>
      <p:sp>
        <p:nvSpPr>
          <p:cNvPr id="54" name="sa2">
            <a:extLst xmlns:a="http://schemas.openxmlformats.org/drawingml/2006/main">
              <a:ext uri="{FF2B5EF4-FFF2-40B4-BE49-F238E27FC236}">
                <a16:creationId xmlns:a16="http://schemas.microsoft.com/office/drawing/2014/main" id="{0AFD48BC-E85F-47EB-B1F2-018F9BA8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725025"/>
            <a:ext cx="828675" cy="1590675"/>
          </a:xfrm>
          <a:prstGeom xmlns:a="http://schemas.openxmlformats.org/drawingml/2006/main" prst="roundRect">
            <a:avLst>
              <a:gd name="adj" fmla="val 1264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4F4F4"/>
              </a:gs>
            </a:gsLst>
            <a:lin ang="0"/>
          </a:gradFill>
          <a:ln xmlns:a="http://schemas.openxmlformats.org/drawingml/2006/main" w="8573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SA₂: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Reduce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R₂ by 1%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and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increase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R₃ by 1%</a:t>
            </a:r>
          </a:p>
        </p:txBody>
      </p:sp>
      <p:sp>
        <p:nvSpPr>
          <p:cNvPr id="55" name="sa3">
            <a:extLst xmlns:a="http://schemas.openxmlformats.org/drawingml/2006/main">
              <a:ext uri="{FF2B5EF4-FFF2-40B4-BE49-F238E27FC236}">
                <a16:creationId xmlns:a16="http://schemas.microsoft.com/office/drawing/2014/main" id="{9B3D7726-8F8F-4484-96B3-6A1391B3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725025"/>
            <a:ext cx="857250" cy="1590675"/>
          </a:xfrm>
          <a:prstGeom xmlns:a="http://schemas.openxmlformats.org/drawingml/2006/main" prst="roundRect">
            <a:avLst>
              <a:gd name="adj" fmla="val 1222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4F4F4"/>
              </a:gs>
            </a:gsLst>
            <a:lin ang="0"/>
          </a:gradFill>
          <a:ln xmlns:a="http://schemas.openxmlformats.org/drawingml/2006/main" w="8573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SA₃: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Reduce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R₃ by 1%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and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increase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R₄ by 1%</a:t>
            </a:r>
          </a:p>
        </p:txBody>
      </p:sp>
      <p:sp>
        <p:nvSpPr>
          <p:cNvPr id="56" name="sa4">
            <a:extLst xmlns:a="http://schemas.openxmlformats.org/drawingml/2006/main">
              <a:ext uri="{FF2B5EF4-FFF2-40B4-BE49-F238E27FC236}">
                <a16:creationId xmlns:a16="http://schemas.microsoft.com/office/drawing/2014/main" id="{958DAD0B-5C5F-4B12-917E-AB37B726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9725025"/>
            <a:ext cx="847725" cy="1590675"/>
          </a:xfrm>
          <a:prstGeom xmlns:a="http://schemas.openxmlformats.org/drawingml/2006/main" prst="roundRect">
            <a:avLst>
              <a:gd name="adj" fmla="val 1236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4F4F4"/>
              </a:gs>
            </a:gsLst>
            <a:lin ang="0"/>
          </a:gradFill>
          <a:ln xmlns:a="http://schemas.openxmlformats.org/drawingml/2006/main" w="8573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SA₄: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Reduce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R₄ by 1%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and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increase</a:t>
            </a:r>
          </a:p>
          <a:p xmlns:a="http://schemas.openxmlformats.org/drawingml/2006/main">
            <a:pPr algn="ctr">
              <a:defRPr sz="114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R_c by 1%</a:t>
            </a:r>
          </a:p>
        </p:txBody>
      </p:sp>
      <p:sp>
        <p:nvSpPr>
          <p:cNvPr id="57" name="sb1">
            <a:extLst xmlns:a="http://schemas.openxmlformats.org/drawingml/2006/main">
              <a:ext uri="{FF2B5EF4-FFF2-40B4-BE49-F238E27FC236}">
                <a16:creationId xmlns:a16="http://schemas.microsoft.com/office/drawing/2014/main" id="{E51E267E-90FD-4A35-9C32-25341842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9725025"/>
            <a:ext cx="895350" cy="1590675"/>
          </a:xfrm>
          <a:prstGeom xmlns:a="http://schemas.openxmlformats.org/drawingml/2006/main" prst="roundRect">
            <a:avLst>
              <a:gd name="adj" fmla="val 1170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4F4F4"/>
              </a:gs>
            </a:gsLst>
            <a:lin ang="0"/>
          </a:gradFill>
          <a:ln xmlns:a="http://schemas.openxmlformats.org/drawingml/2006/main" w="8573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 lIns="9525" tIns="28575" rIns="95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SB₁: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Reduce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R₁ by 1%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and increase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the mechanical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composting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rate by 1%</a:t>
            </a:r>
          </a:p>
        </p:txBody>
      </p:sp>
      <p:sp>
        <p:nvSpPr>
          <p:cNvPr id="58" name="sb2">
            <a:extLst xmlns:a="http://schemas.openxmlformats.org/drawingml/2006/main">
              <a:ext uri="{FF2B5EF4-FFF2-40B4-BE49-F238E27FC236}">
                <a16:creationId xmlns:a16="http://schemas.microsoft.com/office/drawing/2014/main" id="{69C1C530-4BE8-45A5-90A1-873FBBA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725025"/>
            <a:ext cx="895350" cy="1590675"/>
          </a:xfrm>
          <a:prstGeom xmlns:a="http://schemas.openxmlformats.org/drawingml/2006/main" prst="roundRect">
            <a:avLst>
              <a:gd name="adj" fmla="val 1170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4F4F4"/>
              </a:gs>
            </a:gsLst>
            <a:lin ang="0"/>
          </a:gradFill>
          <a:ln xmlns:a="http://schemas.openxmlformats.org/drawingml/2006/main" w="8573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 lIns="9525" tIns="28575" rIns="95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SB₂: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Reduce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R₂ by 1%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and increase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the compost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pretreatment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rate by 1%</a:t>
            </a:r>
          </a:p>
        </p:txBody>
      </p:sp>
      <p:sp>
        <p:nvSpPr>
          <p:cNvPr id="59" name="sb3">
            <a:extLst xmlns:a="http://schemas.openxmlformats.org/drawingml/2006/main">
              <a:ext uri="{FF2B5EF4-FFF2-40B4-BE49-F238E27FC236}">
                <a16:creationId xmlns:a16="http://schemas.microsoft.com/office/drawing/2014/main" id="{04BB9363-C413-4C27-99E0-A3A83CA1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725025"/>
            <a:ext cx="1019175" cy="1590675"/>
          </a:xfrm>
          <a:prstGeom xmlns:a="http://schemas.openxmlformats.org/drawingml/2006/main" prst="roundRect">
            <a:avLst>
              <a:gd name="adj" fmla="val 1028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4F4F4"/>
              </a:gs>
            </a:gsLst>
            <a:lin ang="0"/>
          </a:gradFill>
          <a:ln xmlns:a="http://schemas.openxmlformats.org/drawingml/2006/main" w="8573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 lIns="9525" tIns="28575" rIns="95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SB₃: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Reduce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R₃ by 1% and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increase the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LFG power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generation rate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by 1%</a:t>
            </a:r>
          </a:p>
        </p:txBody>
      </p:sp>
      <p:sp>
        <p:nvSpPr>
          <p:cNvPr id="60" name="sb4">
            <a:extLst xmlns:a="http://schemas.openxmlformats.org/drawingml/2006/main">
              <a:ext uri="{FF2B5EF4-FFF2-40B4-BE49-F238E27FC236}">
                <a16:creationId xmlns:a16="http://schemas.microsoft.com/office/drawing/2014/main" id="{0E1BE143-323D-43D8-8298-00A190A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725025"/>
            <a:ext cx="1123950" cy="1590675"/>
          </a:xfrm>
          <a:prstGeom xmlns:a="http://schemas.openxmlformats.org/drawingml/2006/main" prst="roundRect">
            <a:avLst>
              <a:gd name="adj" fmla="val 932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4F4F4"/>
              </a:gs>
            </a:gsLst>
            <a:lin ang="0"/>
          </a:gradFill>
          <a:ln xmlns:a="http://schemas.openxmlformats.org/drawingml/2006/main" w="8573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 lIns="9525" tIns="28575" rIns="95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SB₄: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Reduce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R₄ by 1% and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increase the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waste-to-energy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incineration rate</a:t>
            </a:r>
          </a:p>
          <a:p xmlns:a="http://schemas.openxmlformats.org/drawingml/2006/main">
            <a:pPr algn="ctr">
              <a:defRPr sz="104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by 1%</a:t>
            </a:r>
          </a:p>
        </p:txBody>
      </p:sp>
      <p:sp>
        <p:nvSpPr>
          <p:cNvPr id="61" name="inventory_heading">
            <a:extLst xmlns:a="http://schemas.openxmlformats.org/drawingml/2006/main">
              <a:ext uri="{FF2B5EF4-FFF2-40B4-BE49-F238E27FC236}">
                <a16:creationId xmlns:a16="http://schemas.microsoft.com/office/drawing/2014/main" id="{42D4C172-D921-4043-8A59-39F22481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5775"/>
            <a:ext cx="2190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Greenhouse gas emission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inventories</a:t>
            </a:r>
          </a:p>
        </p:txBody>
      </p:sp>
      <p:sp>
        <p:nvSpPr>
          <p:cNvPr id="62" name="landfill_inventory">
            <a:extLst xmlns:a="http://schemas.openxmlformats.org/drawingml/2006/main">
              <a:ext uri="{FF2B5EF4-FFF2-40B4-BE49-F238E27FC236}">
                <a16:creationId xmlns:a16="http://schemas.microsoft.com/office/drawing/2014/main" id="{3C3B4978-3437-42ED-97D8-393BD5BB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52550"/>
            <a:ext cx="2305050" cy="3333750"/>
          </a:xfrm>
          <a:prstGeom xmlns:a="http://schemas.openxmlformats.org/drawingml/2006/main" prst="roundRect">
            <a:avLst>
              <a:gd name="adj" fmla="val 9091"/>
            </a:avLst>
          </a:prstGeom>
          <a:gradFill xmlns:a="http://schemas.openxmlformats.org/drawingml/2006/main">
            <a:gsLst>
              <a:gs pos="0">
                <a:srgbClr val="F3ECF6"/>
              </a:gs>
              <a:gs pos="100000">
                <a:srgbClr val="E6DCEC"/>
              </a:gs>
            </a:gsLst>
            <a:lin ang="0"/>
          </a:gradFill>
          <a:ln xmlns:a="http://schemas.openxmlformats.org/drawingml/2006/main" w="10478">
            <a:solidFill>
              <a:srgbClr val="80658E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Sanitary landfill</a:t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Aerobic landfill</a:t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Methane combustion</a:t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Anaerobic landfill after</a:t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compost pretreatment</a:t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LFG power generation</a:t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ctr">
              <a:defRPr sz="137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Simple landfill</a:t>
            </a:r>
          </a:p>
        </p:txBody>
      </p:sp>
      <p:sp>
        <p:nvSpPr>
          <p:cNvPr id="63" name="compost_inventory">
            <a:extLst xmlns:a="http://schemas.openxmlformats.org/drawingml/2006/main">
              <a:ext uri="{FF2B5EF4-FFF2-40B4-BE49-F238E27FC236}">
                <a16:creationId xmlns:a16="http://schemas.microsoft.com/office/drawing/2014/main" id="{C7D00D42-4426-4600-BF35-4F694AB3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10125"/>
            <a:ext cx="2305050" cy="1047750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F3ECF6"/>
              </a:gs>
              <a:gs pos="100000">
                <a:srgbClr val="E6DCEC"/>
              </a:gs>
            </a:gsLst>
            <a:lin ang="0"/>
          </a:gradFill>
          <a:ln xmlns:a="http://schemas.openxmlformats.org/drawingml/2006/main" w="10478">
            <a:solidFill>
              <a:srgbClr val="80658E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Composting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Compost pretreatment</a:t>
            </a:r>
          </a:p>
        </p:txBody>
      </p:sp>
      <p:sp>
        <p:nvSpPr>
          <p:cNvPr id="64" name="incineration_inventory">
            <a:extLst xmlns:a="http://schemas.openxmlformats.org/drawingml/2006/main">
              <a:ext uri="{FF2B5EF4-FFF2-40B4-BE49-F238E27FC236}">
                <a16:creationId xmlns:a16="http://schemas.microsoft.com/office/drawing/2014/main" id="{04E48BD5-21D1-4B5C-9E43-FBCD5333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72175"/>
            <a:ext cx="2305050" cy="1114425"/>
          </a:xfrm>
          <a:prstGeom xmlns:a="http://schemas.openxmlformats.org/drawingml/2006/main" prst="roundRect">
            <a:avLst>
              <a:gd name="adj" fmla="val 18803"/>
            </a:avLst>
          </a:prstGeom>
          <a:gradFill xmlns:a="http://schemas.openxmlformats.org/drawingml/2006/main">
            <a:gsLst>
              <a:gs pos="0">
                <a:srgbClr val="F3ECF6"/>
              </a:gs>
              <a:gs pos="100000">
                <a:srgbClr val="E6DCEC"/>
              </a:gs>
            </a:gsLst>
            <a:lin ang="0"/>
          </a:gradFill>
          <a:ln xmlns:a="http://schemas.openxmlformats.org/drawingml/2006/main" w="10478">
            <a:solidFill>
              <a:srgbClr val="80658E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Incineration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Waste-to-energy incineration</a:t>
            </a:r>
          </a:p>
        </p:txBody>
      </p:sp>
      <p:sp>
        <p:nvSpPr>
          <p:cNvPr id="65" name="cost_inventory_heading">
            <a:extLst xmlns:a="http://schemas.openxmlformats.org/drawingml/2006/main">
              <a:ext uri="{FF2B5EF4-FFF2-40B4-BE49-F238E27FC236}">
                <a16:creationId xmlns:a16="http://schemas.microsoft.com/office/drawing/2014/main" id="{80794A43-F48F-46C5-9DC0-D8E0D87A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448550"/>
            <a:ext cx="1914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Cost-benefit analysis</a:t>
            </a:r>
          </a:p>
          <a:p xmlns:a="http://schemas.openxmlformats.org/drawingml/2006/main">
            <a:pPr algn="ctr">
              <a:defRPr sz="131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inventories</a:t>
            </a:r>
          </a:p>
        </p:txBody>
      </p:sp>
      <p:sp>
        <p:nvSpPr>
          <p:cNvPr id="66" name="final_assessment">
            <a:extLst xmlns:a="http://schemas.openxmlformats.org/drawingml/2006/main">
              <a:ext uri="{FF2B5EF4-FFF2-40B4-BE49-F238E27FC236}">
                <a16:creationId xmlns:a16="http://schemas.microsoft.com/office/drawing/2014/main" id="{DAD93955-3565-4403-8CC1-EC93A887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9220200"/>
            <a:ext cx="2295525" cy="1647825"/>
          </a:xfrm>
          <a:prstGeom xmlns:a="http://schemas.openxmlformats.org/drawingml/2006/main" prst="roundRect">
            <a:avLst>
              <a:gd name="adj" fmla="val 12717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4F4F4"/>
              </a:gs>
            </a:gsLst>
            <a:lin ang="0"/>
          </a:gradFill>
          <a:ln xmlns:a="http://schemas.openxmlformats.org/drawingml/2006/main" w="10478">
            <a:solidFill>
              <a:srgbClr val="929292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Multi-contextual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MSW eco-efficiency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t>assessment</a:t>
            </a:r>
          </a:p>
        </p:txBody>
      </p:sp>
      <p:cxnSp>
        <p:nvCxnSpPr>
          <p:cNvPr id="144" name="e01_ghg_to_treatment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171950" y="1781175"/>
            <a:ext cx="952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45" name="e02_treatment_to_output"/>
          <p:cNvCxnSpPr>
            <a:stCxn xmlns:a="http://schemas.openxmlformats.org/drawingml/2006/main" id="19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181475" y="301942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46" name="e03_output_to_resource"/>
          <p:cNvCxnSpPr>
            <a:stCxn xmlns:a="http://schemas.openxmlformats.org/drawingml/2006/main" id="26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4181475" y="38671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47" name="e04_framework_to_cost_benefit"/>
          <p:cNvCxnSpPr>
            <a:stCxn xmlns:a="http://schemas.openxmlformats.org/drawingml/2006/main" id="11" idx="1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819275" y="2638425"/>
            <a:ext cx="628650" cy="2505075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48" name="e05_framework_to_accounting"/>
          <p:cNvCxnSpPr>
            <a:stCxn xmlns:a="http://schemas.openxmlformats.org/drawingml/2006/main" id="11" idx="3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6353175" y="2638425"/>
            <a:ext cx="723900" cy="2505075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49" name="e09_parameters_to_scenario_settings"/>
          <p:cNvCxnSpPr>
            <a:stCxn xmlns:a="http://schemas.openxmlformats.org/drawingml/2006/main" id="41" idx="2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986088" y="7791450"/>
            <a:ext cx="347663" cy="65246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50" name="e10_accounting_to_scenario_settings"/>
          <p:cNvCxnSpPr>
            <a:stCxn xmlns:a="http://schemas.openxmlformats.org/drawingml/2006/main" id="44" idx="2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5181600" y="7791450"/>
            <a:ext cx="1166813" cy="65246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51" name="e11_s0_to_structure"/>
          <p:cNvCxnSpPr>
            <a:stCxn xmlns:a="http://schemas.openxmlformats.org/drawingml/2006/main" id="48" idx="1"/>
            <a:endCxn xmlns:a="http://schemas.openxmlformats.org/drawingml/2006/main" id="49" idx="0"/>
          </p:cNvCxnSpPr>
          <p:nvPr/>
        </p:nvCxnSpPr>
        <p:spPr>
          <a:xfrm xmlns:a="http://schemas.openxmlformats.org/drawingml/2006/main" flipH="1">
            <a:off x="2166938" y="8924925"/>
            <a:ext cx="300038" cy="390525"/>
          </a:xfrm>
          <a:prstGeom xmlns:a="http://schemas.openxmlformats.org/drawingml/2006/main" prst="bentConnector2">
            <a:avLst/>
          </a:prstGeom>
          <a:ln xmlns:a="http://schemas.openxmlformats.org/drawingml/2006/main" w="13335">
            <a:solidFill>
              <a:srgbClr val="B97584"/>
            </a:solidFill>
            <a:prstDash val="solid"/>
            <a:tailEnd type="triangle" w="sm" len="sm"/>
          </a:ln>
        </p:spPr>
      </p:cxnSp>
      <p:cxnSp>
        <p:nvCxnSpPr>
          <p:cNvPr id="152" name="e12_s0_to_technology"/>
          <p:cNvCxnSpPr>
            <a:stCxn xmlns:a="http://schemas.openxmlformats.org/drawingml/2006/main" id="48" idx="3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5991225" y="8924925"/>
            <a:ext cx="238125" cy="390525"/>
          </a:xfrm>
          <a:prstGeom xmlns:a="http://schemas.openxmlformats.org/drawingml/2006/main" prst="bentConnector2">
            <a:avLst/>
          </a:prstGeom>
          <a:ln xmlns:a="http://schemas.openxmlformats.org/drawingml/2006/main" w="13335">
            <a:solidFill>
              <a:srgbClr val="B97584"/>
            </a:solidFill>
            <a:prstDash val="solid"/>
            <a:tailEnd type="triangle" w="sm" len="sm"/>
          </a:ln>
        </p:spPr>
      </p:cxnSp>
      <p:cxnSp>
        <p:nvCxnSpPr>
          <p:cNvPr id="153" name="e14_inventory_heading_to_landfills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0229850" y="1066800"/>
            <a:ext cx="95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54" name="e15_cost_inventory_to_incineration"/>
          <p:cNvCxnSpPr>
            <a:stCxn xmlns:a="http://schemas.openxmlformats.org/drawingml/2006/main" id="65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10215563" y="7086600"/>
            <a:ext cx="23813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11111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09743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2026-08-09T16:27:22.3020000Z</dcterms:created>
  <dcterms:modified xsi:type="dcterms:W3CDTF">2026-08-09T16:27:22.3020000Z</dcterms:modified>
</coreProperties>
</file>