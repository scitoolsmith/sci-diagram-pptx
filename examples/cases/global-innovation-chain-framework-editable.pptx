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b3ec48976140d9" /><Relationship Type="http://schemas.openxmlformats.org/officeDocument/2006/relationships/extended-properties" Target="/docProps/app.xml" Id="R9dce03124d92454e" /><Relationship Type="http://schemas.openxmlformats.org/officeDocument/2006/relationships/officeDocument" Target="/ppt/presentation.xml" Id="R64c2071dfc6e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509e833b58457c"/>
  </p:sldMasterIdLst>
  <p:notesMasterIdLst>
    <p:notesMasterId xmlns:r="http://schemas.openxmlformats.org/officeDocument/2006/relationships" r:id="Rae69441d1df04f0f"/>
  </p:notesMasterIdLst>
  <p:sldIdLst>
    <p:sldId xmlns:r="http://schemas.openxmlformats.org/officeDocument/2006/relationships" id="256" r:id="Rcdf1f85883cc4380"/>
  </p:sldIdLst>
  <p:sldSz cx="6467475" cy="7610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6819e15cbf4cb1" /><Relationship Type="http://schemas.openxmlformats.org/officeDocument/2006/relationships/slideMaster" Target="/ppt/slideMasters/slideMaster1.xml" Id="R03509e833b58457c" /><Relationship Type="http://schemas.openxmlformats.org/officeDocument/2006/relationships/notesMaster" Target="/ppt/notesMasters/notesMaster1.xml" Id="Rae69441d1df04f0f" /><Relationship Type="http://schemas.openxmlformats.org/officeDocument/2006/relationships/presProps" Target="/ppt/presProps.xml" Id="R3d869af9ca134348" /><Relationship Type="http://schemas.openxmlformats.org/officeDocument/2006/relationships/tableStyles" Target="/ppt/tableStyles.xml" Id="Rf19bf46cb10543be" /><Relationship Type="http://schemas.openxmlformats.org/officeDocument/2006/relationships/slide" Target="/ppt/slides/slide1.xml" Id="Rcdf1f85883cc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2cd3cc2049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547340201421d" /><Relationship Type="http://schemas.openxmlformats.org/officeDocument/2006/relationships/notesMaster" Target="/ppt/notesMasters/notesMaster1.xml" Id="Rc0daa2b6386147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f27a4b4794e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20325fad224ba6" /><Relationship Type="http://schemas.openxmlformats.org/officeDocument/2006/relationships/slideLayout" Target="/ppt/slideLayouts/slideLayout1.xml" Id="Rdb6cf85939c742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cf85939c742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f7cf60ed04409" /><Relationship Type="http://schemas.openxmlformats.org/officeDocument/2006/relationships/notesSlide" Target="/ppt/notesSlides/notesSlide1.xml" Id="Rb91545b227bb4f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section-1-boundary">
            <a:extLst xmlns:a="http://schemas.openxmlformats.org/drawingml/2006/main">
              <a:ext uri="{FF2B5EF4-FFF2-40B4-BE49-F238E27FC236}">
                <a16:creationId xmlns:a16="http://schemas.microsoft.com/office/drawing/2014/main" id="{1C3D880B-7D50-4D07-B2DB-653FE4E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9600"/>
            <a:ext cx="38671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2" name="section-1-trends-boundary">
            <a:extLst xmlns:a="http://schemas.openxmlformats.org/drawingml/2006/main">
              <a:ext uri="{FF2B5EF4-FFF2-40B4-BE49-F238E27FC236}">
                <a16:creationId xmlns:a16="http://schemas.microsoft.com/office/drawing/2014/main" id="{A3E9248C-22DE-4536-AE47-F7FBFEC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95350"/>
            <a:ext cx="990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3" name="section-1-measure-boundary">
            <a:extLst xmlns:a="http://schemas.openxmlformats.org/drawingml/2006/main">
              <a:ext uri="{FF2B5EF4-FFF2-40B4-BE49-F238E27FC236}">
                <a16:creationId xmlns:a16="http://schemas.microsoft.com/office/drawing/2014/main" id="{54B0C826-7577-46B0-AA23-217C6F56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895350"/>
            <a:ext cx="1028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4" name="section-1-compare-boundary">
            <a:extLst xmlns:a="http://schemas.openxmlformats.org/drawingml/2006/main">
              <a:ext uri="{FF2B5EF4-FFF2-40B4-BE49-F238E27FC236}">
                <a16:creationId xmlns:a16="http://schemas.microsoft.com/office/drawing/2014/main" id="{8F6B1DA7-EFFD-4433-89E7-FB249358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895350"/>
            <a:ext cx="10191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5" name="section-2-boundary">
            <a:extLst xmlns:a="http://schemas.openxmlformats.org/drawingml/2006/main">
              <a:ext uri="{FF2B5EF4-FFF2-40B4-BE49-F238E27FC236}">
                <a16:creationId xmlns:a16="http://schemas.microsoft.com/office/drawing/2014/main" id="{0978A609-CA2D-480B-8A59-92A42E46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3867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6" name="section-2-identify-boundary">
            <a:extLst xmlns:a="http://schemas.openxmlformats.org/drawingml/2006/main">
              <a:ext uri="{FF2B5EF4-FFF2-40B4-BE49-F238E27FC236}">
                <a16:creationId xmlns:a16="http://schemas.microsoft.com/office/drawing/2014/main" id="{4BBA5D2E-4E3F-4A01-9D5D-20811687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38400"/>
            <a:ext cx="17716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7" name="section-2-risk-boundary">
            <a:extLst xmlns:a="http://schemas.openxmlformats.org/drawingml/2006/main">
              <a:ext uri="{FF2B5EF4-FFF2-40B4-BE49-F238E27FC236}">
                <a16:creationId xmlns:a16="http://schemas.microsoft.com/office/drawing/2014/main" id="{E8E542A2-9B00-4A73-A367-4E49292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38400"/>
            <a:ext cx="18954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8" name="section-3-and-4-boundary">
            <a:extLst xmlns:a="http://schemas.openxmlformats.org/drawingml/2006/main">
              <a:ext uri="{FF2B5EF4-FFF2-40B4-BE49-F238E27FC236}">
                <a16:creationId xmlns:a16="http://schemas.microsoft.com/office/drawing/2014/main" id="{4036BA3E-973E-431A-A302-D6579F0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3867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9" name="section-3-mechanism-boundary">
            <a:extLst xmlns:a="http://schemas.openxmlformats.org/drawingml/2006/main">
              <a:ext uri="{FF2B5EF4-FFF2-40B4-BE49-F238E27FC236}">
                <a16:creationId xmlns:a16="http://schemas.microsoft.com/office/drawing/2014/main" id="{82924B52-FE8B-4F81-92A7-8BD0E337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76725"/>
            <a:ext cx="37242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10" name="section-4-boundary">
            <a:extLst xmlns:a="http://schemas.openxmlformats.org/drawingml/2006/main">
              <a:ext uri="{FF2B5EF4-FFF2-40B4-BE49-F238E27FC236}">
                <a16:creationId xmlns:a16="http://schemas.microsoft.com/office/drawing/2014/main" id="{CA747218-0463-4E19-8D93-5D98B04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76875"/>
            <a:ext cx="37242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11" name="section-4-elements-boundary">
            <a:extLst xmlns:a="http://schemas.openxmlformats.org/drawingml/2006/main">
              <a:ext uri="{FF2B5EF4-FFF2-40B4-BE49-F238E27FC236}">
                <a16:creationId xmlns:a16="http://schemas.microsoft.com/office/drawing/2014/main" id="{4A5F066A-E7C4-40F4-A763-BF6E5004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81650"/>
            <a:ext cx="104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12" name="section-4-mode-boundary">
            <a:extLst xmlns:a="http://schemas.openxmlformats.org/drawingml/2006/main">
              <a:ext uri="{FF2B5EF4-FFF2-40B4-BE49-F238E27FC236}">
                <a16:creationId xmlns:a16="http://schemas.microsoft.com/office/drawing/2014/main" id="{C7B30FFC-318E-4191-B9AF-313B225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81650"/>
            <a:ext cx="2286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13" name="section-5-boundary">
            <a:extLst xmlns:a="http://schemas.openxmlformats.org/drawingml/2006/main">
              <a:ext uri="{FF2B5EF4-FFF2-40B4-BE49-F238E27FC236}">
                <a16:creationId xmlns:a16="http://schemas.microsoft.com/office/drawing/2014/main" id="{4F8B818C-E9A9-4F6D-BDB1-8D8C5F41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8655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252525"/>
            </a:solidFill>
            <a:prstDash val="dash"/>
          </a:ln>
        </p:spPr>
      </p:sp>
      <p:sp>
        <p:nvSpPr>
          <p:cNvPr id="14" name="left-arrow-header-to-question">
            <a:extLst xmlns:a="http://schemas.openxmlformats.org/drawingml/2006/main">
              <a:ext uri="{FF2B5EF4-FFF2-40B4-BE49-F238E27FC236}">
                <a16:creationId xmlns:a16="http://schemas.microsoft.com/office/drawing/2014/main" id="{F169C148-5B25-44E0-9287-66492EAF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238125" cy="628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15" name="left-arrow-question-to-analysis">
            <a:extLst xmlns:a="http://schemas.openxmlformats.org/drawingml/2006/main">
              <a:ext uri="{FF2B5EF4-FFF2-40B4-BE49-F238E27FC236}">
                <a16:creationId xmlns:a16="http://schemas.microsoft.com/office/drawing/2014/main" id="{763F8053-AD4B-410A-B1AE-E65BBBAC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38125" cy="1028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16" name="left-arrow-analysis-to-solution">
            <a:extLst xmlns:a="http://schemas.openxmlformats.org/drawingml/2006/main">
              <a:ext uri="{FF2B5EF4-FFF2-40B4-BE49-F238E27FC236}">
                <a16:creationId xmlns:a16="http://schemas.microsoft.com/office/drawing/2014/main" id="{A92F7624-B91F-46FA-813D-A00F9228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238125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17" name="left-arrow-solution-to-mechanism">
            <a:extLst xmlns:a="http://schemas.openxmlformats.org/drawingml/2006/main">
              <a:ext uri="{FF2B5EF4-FFF2-40B4-BE49-F238E27FC236}">
                <a16:creationId xmlns:a16="http://schemas.microsoft.com/office/drawing/2014/main" id="{2861788A-48EF-4880-9D7A-94DEAFAC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238125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18" name="left-arrow-mechanism-to-path">
            <a:extLst xmlns:a="http://schemas.openxmlformats.org/drawingml/2006/main">
              <a:ext uri="{FF2B5EF4-FFF2-40B4-BE49-F238E27FC236}">
                <a16:creationId xmlns:a16="http://schemas.microsoft.com/office/drawing/2014/main" id="{9FBD5F1C-5E92-4589-9510-7D0525AF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43475"/>
            <a:ext cx="238125" cy="742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19" name="left-arrow-path-to-policy">
            <a:extLst xmlns:a="http://schemas.openxmlformats.org/drawingml/2006/main">
              <a:ext uri="{FF2B5EF4-FFF2-40B4-BE49-F238E27FC236}">
                <a16:creationId xmlns:a16="http://schemas.microsoft.com/office/drawing/2014/main" id="{3159E078-D936-47ED-951A-549EF269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238125" cy="533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20" name="method-arrow-header-to-method-1">
            <a:extLst xmlns:a="http://schemas.openxmlformats.org/drawingml/2006/main">
              <a:ext uri="{FF2B5EF4-FFF2-40B4-BE49-F238E27FC236}">
                <a16:creationId xmlns:a16="http://schemas.microsoft.com/office/drawing/2014/main" id="{F00E88E1-6495-42A6-A98B-4732847E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0550"/>
            <a:ext cx="24765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21" name="method-arrow-method-1-to-method-2">
            <a:extLst xmlns:a="http://schemas.openxmlformats.org/drawingml/2006/main">
              <a:ext uri="{FF2B5EF4-FFF2-40B4-BE49-F238E27FC236}">
                <a16:creationId xmlns:a16="http://schemas.microsoft.com/office/drawing/2014/main" id="{6016A830-EF64-42C8-9EBA-BFDA50D2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38350"/>
            <a:ext cx="247650" cy="571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22" name="method-arrow-method-2-to-method-3">
            <a:extLst xmlns:a="http://schemas.openxmlformats.org/drawingml/2006/main">
              <a:ext uri="{FF2B5EF4-FFF2-40B4-BE49-F238E27FC236}">
                <a16:creationId xmlns:a16="http://schemas.microsoft.com/office/drawing/2014/main" id="{BA8557DD-462E-406E-9876-6E99463D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90925"/>
            <a:ext cx="247650" cy="1171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23" name="method-arrow-method-3-to-method-4">
            <a:extLst xmlns:a="http://schemas.openxmlformats.org/drawingml/2006/main">
              <a:ext uri="{FF2B5EF4-FFF2-40B4-BE49-F238E27FC236}">
                <a16:creationId xmlns:a16="http://schemas.microsoft.com/office/drawing/2014/main" id="{7B96C488-2310-4F12-8E28-329420BE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715000"/>
            <a:ext cx="247650" cy="895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77C5"/>
          </a:solidFill>
          <a:ln xmlns:a="http://schemas.openxmlformats.org/drawingml/2006/main" w="6668">
            <a:solidFill>
              <a:srgbClr val="3765AC"/>
            </a:solidFill>
            <a:prstDash val="solid"/>
          </a:ln>
        </p:spPr>
      </p:sp>
      <p:sp>
        <p:nvSpPr>
          <p:cNvPr id="24" name="section-1-trend-to-measure">
            <a:extLst xmlns:a="http://schemas.openxmlformats.org/drawingml/2006/main">
              <a:ext uri="{FF2B5EF4-FFF2-40B4-BE49-F238E27FC236}">
                <a16:creationId xmlns:a16="http://schemas.microsoft.com/office/drawing/2014/main" id="{258BE3DA-9165-4867-A0C1-E5685158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895350"/>
            <a:ext cx="27622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7D3E"/>
          </a:solidFill>
          <a:ln xmlns:a="http://schemas.openxmlformats.org/drawingml/2006/main" w="6668">
            <a:solidFill>
              <a:srgbClr val="6C7D3E"/>
            </a:solidFill>
            <a:prstDash val="solid"/>
          </a:ln>
        </p:spPr>
      </p:sp>
      <p:sp>
        <p:nvSpPr>
          <p:cNvPr id="25" name="section-1-measure-to-compare">
            <a:extLst xmlns:a="http://schemas.openxmlformats.org/drawingml/2006/main">
              <a:ext uri="{FF2B5EF4-FFF2-40B4-BE49-F238E27FC236}">
                <a16:creationId xmlns:a16="http://schemas.microsoft.com/office/drawing/2014/main" id="{EC41AFEE-6F8E-49F7-885F-C1C5EB23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895350"/>
            <a:ext cx="27622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7D3E"/>
          </a:solidFill>
          <a:ln xmlns:a="http://schemas.openxmlformats.org/drawingml/2006/main" w="6668">
            <a:solidFill>
              <a:srgbClr val="6C7D3E"/>
            </a:solidFill>
            <a:prstDash val="solid"/>
          </a:ln>
        </p:spPr>
      </p:sp>
      <p:sp>
        <p:nvSpPr>
          <p:cNvPr id="26" name="section-4-elements-to-mode">
            <a:extLst xmlns:a="http://schemas.openxmlformats.org/drawingml/2006/main">
              <a:ext uri="{FF2B5EF4-FFF2-40B4-BE49-F238E27FC236}">
                <a16:creationId xmlns:a16="http://schemas.microsoft.com/office/drawing/2014/main" id="{E63A794A-C322-48EA-820F-88B5645F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00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7A34"/>
          </a:solidFill>
          <a:ln xmlns:a="http://schemas.openxmlformats.org/drawingml/2006/main" w="6668">
            <a:solidFill>
              <a:srgbClr val="C96529"/>
            </a:solidFill>
            <a:prstDash val="solid"/>
          </a:ln>
        </p:spPr>
      </p:sp>
      <p:sp>
        <p:nvSpPr>
          <p:cNvPr id="27" name="section-5-history-to-evaluation">
            <a:extLst xmlns:a="http://schemas.openxmlformats.org/drawingml/2006/main">
              <a:ext uri="{FF2B5EF4-FFF2-40B4-BE49-F238E27FC236}">
                <a16:creationId xmlns:a16="http://schemas.microsoft.com/office/drawing/2014/main" id="{96BF9239-4DD9-4D85-95D6-4C61D7D6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029450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B933"/>
          </a:solidFill>
          <a:ln xmlns:a="http://schemas.openxmlformats.org/drawingml/2006/main" w="6668">
            <a:solidFill>
              <a:srgbClr val="C99C20"/>
            </a:solidFill>
            <a:prstDash val="solid"/>
          </a:ln>
        </p:spPr>
      </p:sp>
      <p:sp>
        <p:nvSpPr>
          <p:cNvPr id="28" name="section-5-evaluation-to-optimization">
            <a:extLst xmlns:a="http://schemas.openxmlformats.org/drawingml/2006/main">
              <a:ext uri="{FF2B5EF4-FFF2-40B4-BE49-F238E27FC236}">
                <a16:creationId xmlns:a16="http://schemas.microsoft.com/office/drawing/2014/main" id="{10E29588-EFDE-4A1C-989D-1E7B5ECF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029450"/>
            <a:ext cx="285750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B933"/>
          </a:solidFill>
          <a:ln xmlns:a="http://schemas.openxmlformats.org/drawingml/2006/main" w="6668">
            <a:solidFill>
              <a:srgbClr val="C99C20"/>
            </a:solidFill>
            <a:prstDash val="solid"/>
          </a:ln>
        </p:spPr>
      </p:sp>
      <p:sp>
        <p:nvSpPr>
          <p:cNvPr id="29" name="left-column-heading">
            <a:extLst xmlns:a="http://schemas.openxmlformats.org/drawingml/2006/main">
              <a:ext uri="{FF2B5EF4-FFF2-40B4-BE49-F238E27FC236}">
                <a16:creationId xmlns:a16="http://schemas.microsoft.com/office/drawing/2014/main" id="{325E6157-A55E-4103-B0F4-93194005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225"/>
            <a:ext cx="952500" cy="2571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DF8"/>
          </a:solidFill>
          <a:ln xmlns:a="http://schemas.openxmlformats.org/drawingml/2006/main" w="9525">
            <a:solidFill>
              <a:srgbClr val="52758E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82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研究框架</a:t>
            </a:r>
          </a:p>
        </p:txBody>
      </p:sp>
      <p:sp>
        <p:nvSpPr>
          <p:cNvPr id="30" name="middle-column-heading">
            <a:extLst xmlns:a="http://schemas.openxmlformats.org/drawingml/2006/main">
              <a:ext uri="{FF2B5EF4-FFF2-40B4-BE49-F238E27FC236}">
                <a16:creationId xmlns:a16="http://schemas.microsoft.com/office/drawing/2014/main" id="{653B5CF1-799D-45BD-BBF1-205584A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6225"/>
            <a:ext cx="952500" cy="2571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DF8"/>
          </a:solidFill>
          <a:ln xmlns:a="http://schemas.openxmlformats.org/drawingml/2006/main" w="9525">
            <a:solidFill>
              <a:srgbClr val="52758E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82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研究内容</a:t>
            </a:r>
          </a:p>
        </p:txBody>
      </p:sp>
      <p:sp>
        <p:nvSpPr>
          <p:cNvPr id="31" name="right-column-heading">
            <a:extLst xmlns:a="http://schemas.openxmlformats.org/drawingml/2006/main">
              <a:ext uri="{FF2B5EF4-FFF2-40B4-BE49-F238E27FC236}">
                <a16:creationId xmlns:a16="http://schemas.microsoft.com/office/drawing/2014/main" id="{C8FE8828-5783-4FFC-8802-DB9FB158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"/>
            <a:ext cx="952500" cy="2571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DF8"/>
          </a:solidFill>
          <a:ln xmlns:a="http://schemas.openxmlformats.org/drawingml/2006/main" w="9525">
            <a:solidFill>
              <a:srgbClr val="52758E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82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研究方法</a:t>
            </a:r>
          </a:p>
        </p:txBody>
      </p:sp>
      <p:sp>
        <p:nvSpPr>
          <p:cNvPr id="32" name="stage-question">
            <a:extLst xmlns:a="http://schemas.openxmlformats.org/drawingml/2006/main">
              <a:ext uri="{FF2B5EF4-FFF2-40B4-BE49-F238E27FC236}">
                <a16:creationId xmlns:a16="http://schemas.microsoft.com/office/drawing/2014/main" id="{115071A2-A280-4496-AE97-E2EBCC9B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47775"/>
            <a:ext cx="952500" cy="3333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8BDE6"/>
          </a:solidFill>
          <a:ln xmlns:a="http://schemas.openxmlformats.org/drawingml/2006/main" w="9525">
            <a:solidFill>
              <a:srgbClr val="4E6F9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提出问题</a:t>
            </a:r>
          </a:p>
        </p:txBody>
      </p:sp>
      <p:sp>
        <p:nvSpPr>
          <p:cNvPr id="33" name="stage-analysis">
            <a:extLst xmlns:a="http://schemas.openxmlformats.org/drawingml/2006/main">
              <a:ext uri="{FF2B5EF4-FFF2-40B4-BE49-F238E27FC236}">
                <a16:creationId xmlns:a16="http://schemas.microsoft.com/office/drawing/2014/main" id="{5C78D39D-D918-4455-A190-A296E8A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695575"/>
            <a:ext cx="952500" cy="3333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D6B58F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分析问题</a:t>
            </a:r>
          </a:p>
        </p:txBody>
      </p:sp>
      <p:sp>
        <p:nvSpPr>
          <p:cNvPr id="34" name="stage-solution">
            <a:extLst xmlns:a="http://schemas.openxmlformats.org/drawingml/2006/main">
              <a:ext uri="{FF2B5EF4-FFF2-40B4-BE49-F238E27FC236}">
                <a16:creationId xmlns:a16="http://schemas.microsoft.com/office/drawing/2014/main" id="{D425D5DA-C365-4821-967A-7B2B0FF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57625"/>
            <a:ext cx="9525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8BDE6"/>
          </a:solidFill>
          <a:ln xmlns:a="http://schemas.openxmlformats.org/drawingml/2006/main" w="9525">
            <a:solidFill>
              <a:srgbClr val="4E6F9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解决问题</a:t>
            </a:r>
          </a:p>
        </p:txBody>
      </p:sp>
      <p:sp>
        <p:nvSpPr>
          <p:cNvPr id="35" name="stage-mechanism">
            <a:extLst xmlns:a="http://schemas.openxmlformats.org/drawingml/2006/main">
              <a:ext uri="{FF2B5EF4-FFF2-40B4-BE49-F238E27FC236}">
                <a16:creationId xmlns:a16="http://schemas.microsoft.com/office/drawing/2014/main" id="{2AD1FA4D-BBDB-49FD-831B-81424069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505325"/>
            <a:ext cx="952500" cy="3333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F3ED"/>
          </a:solidFill>
          <a:ln xmlns:a="http://schemas.openxmlformats.org/drawingml/2006/main" w="9525">
            <a:solidFill>
              <a:srgbClr val="498F8B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5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影响机理研究</a:t>
            </a:r>
          </a:p>
        </p:txBody>
      </p:sp>
      <p:sp>
        <p:nvSpPr>
          <p:cNvPr id="36" name="stage-path">
            <a:extLst xmlns:a="http://schemas.openxmlformats.org/drawingml/2006/main">
              <a:ext uri="{FF2B5EF4-FFF2-40B4-BE49-F238E27FC236}">
                <a16:creationId xmlns:a16="http://schemas.microsoft.com/office/drawing/2014/main" id="{2C466A6E-96F7-47DF-8B21-69F662E5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81675"/>
            <a:ext cx="9525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2F3ED"/>
          </a:solidFill>
          <a:ln xmlns:a="http://schemas.openxmlformats.org/drawingml/2006/main" w="9525">
            <a:solidFill>
              <a:srgbClr val="498F8B"/>
            </a:solidFill>
            <a:prstDash val="solid"/>
          </a:ln>
        </p:spPr>
        <p:txBody>
          <a:bodyPr xmlns:a="http://schemas.openxmlformats.org/drawingml/2006/main" wrap="square" lIns="114300" tIns="9525" rIns="666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</a:t>
            </a:r>
          </a:p>
          <a:p xmlns:a="http://schemas.openxmlformats.org/drawingml/2006/main">
            <a:pPr algn="ctr">
              <a:buNone/>
              <a:def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重构路径</a:t>
            </a:r>
          </a:p>
        </p:txBody>
      </p:sp>
      <p:sp>
        <p:nvSpPr>
          <p:cNvPr id="37" name="stage-policy">
            <a:extLst xmlns:a="http://schemas.openxmlformats.org/drawingml/2006/main">
              <a:ext uri="{FF2B5EF4-FFF2-40B4-BE49-F238E27FC236}">
                <a16:creationId xmlns:a16="http://schemas.microsoft.com/office/drawing/2014/main" id="{CA0AD15F-9E1E-4D7B-9575-6F1509E7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800850"/>
            <a:ext cx="952500" cy="3333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8BDE6"/>
          </a:solidFill>
          <a:ln xmlns:a="http://schemas.openxmlformats.org/drawingml/2006/main" w="9525">
            <a:solidFill>
              <a:srgbClr val="4E6F9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政策建议</a:t>
            </a:r>
          </a:p>
        </p:txBody>
      </p:sp>
      <p:sp>
        <p:nvSpPr>
          <p:cNvPr id="38" name="method-1">
            <a:extLst xmlns:a="http://schemas.openxmlformats.org/drawingml/2006/main">
              <a:ext uri="{FF2B5EF4-FFF2-40B4-BE49-F238E27FC236}">
                <a16:creationId xmlns:a16="http://schemas.microsoft.com/office/drawing/2014/main" id="{23C3A06B-05A7-4982-A616-A1D68C4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152525"/>
            <a:ext cx="895350" cy="847725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9DB7E3"/>
          </a:solidFill>
          <a:ln xmlns:a="http://schemas.openxmlformats.org/drawingml/2006/main" w="9525">
            <a:solidFill>
              <a:srgbClr val="4C6E9F"/>
            </a:solidFill>
            <a:prstDash val="solid"/>
          </a:ln>
        </p:spPr>
        <p:txBody>
          <a:bodyPr xmlns:a="http://schemas.openxmlformats.org/drawingml/2006/main" wrap="square" lIns="28575" tIns="38100" rIns="285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知识图谱</a:t>
            </a:r>
          </a:p>
          <a:p xmlns:a="http://schemas.openxmlformats.org/drawingml/2006/main">
            <a:pPr algn="ctr">
              <a:buNone/>
              <a:def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专利计量</a:t>
            </a:r>
          </a:p>
          <a:p xmlns:a="http://schemas.openxmlformats.org/drawingml/2006/main">
            <a:pPr algn="ctr">
              <a:buNone/>
              <a:def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技术预见</a:t>
            </a:r>
          </a:p>
          <a:p xmlns:a="http://schemas.openxmlformats.org/drawingml/2006/main">
            <a:pPr algn="ctr">
              <a:buNone/>
              <a:def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区块聚类</a:t>
            </a:r>
          </a:p>
          <a:p xmlns:a="http://schemas.openxmlformats.org/drawingml/2006/main">
            <a:pPr algn="ctr">
              <a:buNone/>
              <a:def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1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多维创新指数</a:t>
            </a:r>
          </a:p>
        </p:txBody>
      </p:sp>
      <p:sp>
        <p:nvSpPr>
          <p:cNvPr id="39" name="method-2">
            <a:extLst xmlns:a="http://schemas.openxmlformats.org/drawingml/2006/main">
              <a:ext uri="{FF2B5EF4-FFF2-40B4-BE49-F238E27FC236}">
                <a16:creationId xmlns:a16="http://schemas.microsoft.com/office/drawing/2014/main" id="{21D18913-D9CD-47D7-9791-C52395D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76525"/>
            <a:ext cx="895350" cy="85725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9DB7E3"/>
          </a:solidFill>
          <a:ln xmlns:a="http://schemas.openxmlformats.org/drawingml/2006/main" w="9525">
            <a:solidFill>
              <a:srgbClr val="4C6E9F"/>
            </a:solidFill>
            <a:prstDash val="solid"/>
          </a:ln>
        </p:spPr>
        <p:txBody>
          <a:bodyPr xmlns:a="http://schemas.openxmlformats.org/drawingml/2006/main" wrap="square" lIns="28575" tIns="38100" rIns="285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复杂网络模型</a:t>
            </a:r>
          </a:p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层级分析法</a:t>
            </a:r>
          </a:p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ABM模型</a:t>
            </a:r>
          </a:p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压力测试</a:t>
            </a:r>
          </a:p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Agent仿真模拟</a:t>
            </a:r>
          </a:p>
        </p:txBody>
      </p:sp>
      <p:sp>
        <p:nvSpPr>
          <p:cNvPr id="40" name="method-3">
            <a:extLst xmlns:a="http://schemas.openxmlformats.org/drawingml/2006/main">
              <a:ext uri="{FF2B5EF4-FFF2-40B4-BE49-F238E27FC236}">
                <a16:creationId xmlns:a16="http://schemas.microsoft.com/office/drawing/2014/main" id="{5F784B2D-0B0E-45D8-AAF9-33B38C3D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38700"/>
            <a:ext cx="895350" cy="81915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9DB7E3"/>
          </a:solidFill>
          <a:ln xmlns:a="http://schemas.openxmlformats.org/drawingml/2006/main" w="9525">
            <a:solidFill>
              <a:srgbClr val="4C6E9F"/>
            </a:solidFill>
            <a:prstDash val="solid"/>
          </a:ln>
        </p:spPr>
        <p:txBody>
          <a:bodyPr xmlns:a="http://schemas.openxmlformats.org/drawingml/2006/main" wrap="square" lIns="19050" tIns="38100" rIns="190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多元Logi Probit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Tobi模型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DSGE模型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中心外围模型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案例分析</a:t>
            </a:r>
          </a:p>
        </p:txBody>
      </p:sp>
      <p:sp>
        <p:nvSpPr>
          <p:cNvPr id="41" name="method-4">
            <a:extLst xmlns:a="http://schemas.openxmlformats.org/drawingml/2006/main">
              <a:ext uri="{FF2B5EF4-FFF2-40B4-BE49-F238E27FC236}">
                <a16:creationId xmlns:a16="http://schemas.microsoft.com/office/drawing/2014/main" id="{8D8AFFE2-9CB0-421F-9910-02C588A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667500"/>
            <a:ext cx="895350" cy="6477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9DB7E3"/>
          </a:solidFill>
          <a:ln xmlns:a="http://schemas.openxmlformats.org/drawingml/2006/main" w="9525">
            <a:solidFill>
              <a:srgbClr val="4C6E9F"/>
            </a:solidFill>
            <a:prstDash val="solid"/>
          </a:ln>
        </p:spPr>
        <p:txBody>
          <a:bodyPr xmlns:a="http://schemas.openxmlformats.org/drawingml/2006/main" wrap="square" lIns="19050" tIns="38100" rIns="190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SCP模型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SWOT分析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SPACE矩阵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PMC指数模型</a:t>
            </a:r>
          </a:p>
        </p:txBody>
      </p:sp>
      <p:sp>
        <p:nvSpPr>
          <p:cNvPr id="42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EC3580AF-F997-4E6E-A106-EB6296E6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57225"/>
            <a:ext cx="280987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8F2EE"/>
          </a:solidFill>
          <a:ln xmlns:a="http://schemas.openxmlformats.org/drawingml/2006/main" w="9525">
            <a:solidFill>
              <a:srgbClr val="3A8E8C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8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全球创新趋势、创新力测度与国际比较研究</a:t>
            </a:r>
          </a:p>
        </p:txBody>
      </p:sp>
      <p:sp>
        <p:nvSpPr>
          <p:cNvPr id="43" name="section-1-trend-heading">
            <a:extLst xmlns:a="http://schemas.openxmlformats.org/drawingml/2006/main">
              <a:ext uri="{FF2B5EF4-FFF2-40B4-BE49-F238E27FC236}">
                <a16:creationId xmlns:a16="http://schemas.microsoft.com/office/drawing/2014/main" id="{42FB77CD-FB79-4085-8743-746933BC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42975"/>
            <a:ext cx="8477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3A8"/>
          </a:solidFill>
          <a:ln xmlns:a="http://schemas.openxmlformats.org/drawingml/2006/main" w="9525">
            <a:solidFill>
              <a:srgbClr val="7A9C3E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5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创新趋势</a:t>
            </a:r>
          </a:p>
        </p:txBody>
      </p:sp>
      <p:sp>
        <p:nvSpPr>
          <p:cNvPr id="44" name="trend-frontier">
            <a:extLst xmlns:a="http://schemas.openxmlformats.org/drawingml/2006/main">
              <a:ext uri="{FF2B5EF4-FFF2-40B4-BE49-F238E27FC236}">
                <a16:creationId xmlns:a16="http://schemas.microsoft.com/office/drawing/2014/main" id="{79F559B9-48D5-4BFD-AA15-457B15CC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200150"/>
            <a:ext cx="847725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前沿学科</a:t>
            </a:r>
          </a:p>
        </p:txBody>
      </p:sp>
      <p:sp>
        <p:nvSpPr>
          <p:cNvPr id="45" name="trend-patent">
            <a:extLst xmlns:a="http://schemas.openxmlformats.org/drawingml/2006/main">
              <a:ext uri="{FF2B5EF4-FFF2-40B4-BE49-F238E27FC236}">
                <a16:creationId xmlns:a16="http://schemas.microsoft.com/office/drawing/2014/main" id="{DBE19FBA-34CB-4853-B09E-E04C4589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419225"/>
            <a:ext cx="847725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专利分布</a:t>
            </a:r>
          </a:p>
        </p:txBody>
      </p:sp>
      <p:sp>
        <p:nvSpPr>
          <p:cNvPr id="46" name="trend-people">
            <a:extLst xmlns:a="http://schemas.openxmlformats.org/drawingml/2006/main">
              <a:ext uri="{FF2B5EF4-FFF2-40B4-BE49-F238E27FC236}">
                <a16:creationId xmlns:a16="http://schemas.microsoft.com/office/drawing/2014/main" id="{7B6E02C4-0920-4324-8E1B-27A6268F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638300"/>
            <a:ext cx="847725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人员交流</a:t>
            </a:r>
          </a:p>
        </p:txBody>
      </p:sp>
      <p:sp>
        <p:nvSpPr>
          <p:cNvPr id="47" name="trend-industry">
            <a:extLst xmlns:a="http://schemas.openxmlformats.org/drawingml/2006/main">
              <a:ext uri="{FF2B5EF4-FFF2-40B4-BE49-F238E27FC236}">
                <a16:creationId xmlns:a16="http://schemas.microsoft.com/office/drawing/2014/main" id="{B07E4221-FAAE-450A-A69A-262EFF3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57375"/>
            <a:ext cx="847725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3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产业应用</a:t>
            </a:r>
          </a:p>
        </p:txBody>
      </p:sp>
      <p:sp>
        <p:nvSpPr>
          <p:cNvPr id="48" name="section-1-measure-heading">
            <a:extLst xmlns:a="http://schemas.openxmlformats.org/drawingml/2006/main">
              <a:ext uri="{FF2B5EF4-FFF2-40B4-BE49-F238E27FC236}">
                <a16:creationId xmlns:a16="http://schemas.microsoft.com/office/drawing/2014/main" id="{96B849E5-53B7-4C37-87C6-73141F9F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942975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3A8"/>
          </a:solidFill>
          <a:ln xmlns:a="http://schemas.openxmlformats.org/drawingml/2006/main" w="9525">
            <a:solidFill>
              <a:srgbClr val="7A9C3E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5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创新力测度</a:t>
            </a:r>
          </a:p>
        </p:txBody>
      </p:sp>
      <p:sp>
        <p:nvSpPr>
          <p:cNvPr id="49" name="measure-horizontal">
            <a:extLst xmlns:a="http://schemas.openxmlformats.org/drawingml/2006/main">
              <a:ext uri="{FF2B5EF4-FFF2-40B4-BE49-F238E27FC236}">
                <a16:creationId xmlns:a16="http://schemas.microsoft.com/office/drawing/2014/main" id="{B930D994-6666-4C66-8B42-A9C6BEEF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209675"/>
            <a:ext cx="857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“科学-技术-产业”</a:t>
            </a:r>
          </a:p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横向价值链</a:t>
            </a:r>
          </a:p>
        </p:txBody>
      </p:sp>
      <p:sp>
        <p:nvSpPr>
          <p:cNvPr id="50" name="measure-vertical">
            <a:extLst xmlns:a="http://schemas.openxmlformats.org/drawingml/2006/main">
              <a:ext uri="{FF2B5EF4-FFF2-40B4-BE49-F238E27FC236}">
                <a16:creationId xmlns:a16="http://schemas.microsoft.com/office/drawing/2014/main" id="{5B29ED8E-17C7-4475-AF01-CA8457A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76400"/>
            <a:ext cx="857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“实力-效力”</a:t>
            </a:r>
          </a:p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纵向价值链</a:t>
            </a:r>
          </a:p>
        </p:txBody>
      </p:sp>
      <p:sp>
        <p:nvSpPr>
          <p:cNvPr id="51" name="section-1-compare-heading">
            <a:extLst xmlns:a="http://schemas.openxmlformats.org/drawingml/2006/main">
              <a:ext uri="{FF2B5EF4-FFF2-40B4-BE49-F238E27FC236}">
                <a16:creationId xmlns:a16="http://schemas.microsoft.com/office/drawing/2014/main" id="{9DC728F8-A8AE-406D-AF8E-C748A4FE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942975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3A8"/>
          </a:solidFill>
          <a:ln xmlns:a="http://schemas.openxmlformats.org/drawingml/2006/main" w="9525">
            <a:solidFill>
              <a:srgbClr val="7A9C3E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5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国际比较</a:t>
            </a:r>
          </a:p>
        </p:txBody>
      </p:sp>
      <p:sp>
        <p:nvSpPr>
          <p:cNvPr id="52" name="compare-position">
            <a:extLst xmlns:a="http://schemas.openxmlformats.org/drawingml/2006/main">
              <a:ext uri="{FF2B5EF4-FFF2-40B4-BE49-F238E27FC236}">
                <a16:creationId xmlns:a16="http://schemas.microsoft.com/office/drawing/2014/main" id="{A71A16F0-C18F-4868-93DC-DA8976DF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209675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地位指数</a:t>
            </a:r>
          </a:p>
        </p:txBody>
      </p:sp>
      <p:sp>
        <p:nvSpPr>
          <p:cNvPr id="53" name="compare-participation">
            <a:extLst xmlns:a="http://schemas.openxmlformats.org/drawingml/2006/main">
              <a:ext uri="{FF2B5EF4-FFF2-40B4-BE49-F238E27FC236}">
                <a16:creationId xmlns:a16="http://schemas.microsoft.com/office/drawing/2014/main" id="{4FD5FC20-2BDB-4ABE-98C6-806FDB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85900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参与度指数</a:t>
            </a:r>
          </a:p>
        </p:txBody>
      </p:sp>
      <p:sp>
        <p:nvSpPr>
          <p:cNvPr id="54" name="compare-strength">
            <a:extLst xmlns:a="http://schemas.openxmlformats.org/drawingml/2006/main">
              <a:ext uri="{FF2B5EF4-FFF2-40B4-BE49-F238E27FC236}">
                <a16:creationId xmlns:a16="http://schemas.microsoft.com/office/drawing/2014/main" id="{926C7647-E7FF-48AE-9BCD-51D6B614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71650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0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竞争优势与劣势</a:t>
            </a:r>
          </a:p>
        </p:txBody>
      </p:sp>
      <p:sp>
        <p:nvSpPr>
          <p:cNvPr id="5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843978C-6CAE-4224-876F-B898455E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00275"/>
            <a:ext cx="280987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8F2EE"/>
          </a:solidFill>
          <a:ln xmlns:a="http://schemas.openxmlformats.org/drawingml/2006/main" w="9525">
            <a:solidFill>
              <a:srgbClr val="3A8E8C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8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全球创新产业链的识别、解构与风险防范研究</a:t>
            </a:r>
          </a:p>
        </p:txBody>
      </p:sp>
      <p:sp>
        <p:nvSpPr>
          <p:cNvPr id="56" name="section-2-identify-heading">
            <a:extLst xmlns:a="http://schemas.openxmlformats.org/drawingml/2006/main">
              <a:ext uri="{FF2B5EF4-FFF2-40B4-BE49-F238E27FC236}">
                <a16:creationId xmlns:a16="http://schemas.microsoft.com/office/drawing/2014/main" id="{7743EE91-DA18-4A17-8F2D-71A1C723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86025"/>
            <a:ext cx="165735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7C2FF"/>
          </a:solidFill>
          <a:ln xmlns:a="http://schemas.openxmlformats.org/drawingml/2006/main" w="9525">
            <a:solidFill>
              <a:srgbClr val="526493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7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7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产业链识别与解构</a:t>
            </a:r>
          </a:p>
        </p:txBody>
      </p:sp>
      <p:sp>
        <p:nvSpPr>
          <p:cNvPr id="57" name="identify-key-link">
            <a:extLst xmlns:a="http://schemas.openxmlformats.org/drawingml/2006/main">
              <a:ext uri="{FF2B5EF4-FFF2-40B4-BE49-F238E27FC236}">
                <a16:creationId xmlns:a16="http://schemas.microsoft.com/office/drawing/2014/main" id="{EB217972-8F4A-4555-8FCA-778A87B4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52725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产业链关节环节</a:t>
            </a:r>
          </a:p>
        </p:txBody>
      </p:sp>
      <p:sp>
        <p:nvSpPr>
          <p:cNvPr id="58" name="identify-network">
            <a:extLst xmlns:a="http://schemas.openxmlformats.org/drawingml/2006/main">
              <a:ext uri="{FF2B5EF4-FFF2-40B4-BE49-F238E27FC236}">
                <a16:creationId xmlns:a16="http://schemas.microsoft.com/office/drawing/2014/main" id="{91C13C4C-0B05-4509-9AA0-19D6504B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09900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产业网络结构</a:t>
            </a:r>
          </a:p>
        </p:txBody>
      </p:sp>
      <p:sp>
        <p:nvSpPr>
          <p:cNvPr id="59" name="identify-relation">
            <a:extLst xmlns:a="http://schemas.openxmlformats.org/drawingml/2006/main">
              <a:ext uri="{FF2B5EF4-FFF2-40B4-BE49-F238E27FC236}">
                <a16:creationId xmlns:a16="http://schemas.microsoft.com/office/drawing/2014/main" id="{6C20D251-1C62-4D86-BA0D-AD7746B0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76600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产业关联特征</a:t>
            </a:r>
          </a:p>
        </p:txBody>
      </p:sp>
      <p:sp>
        <p:nvSpPr>
          <p:cNvPr id="60" name="identify-ripple">
            <a:extLst xmlns:a="http://schemas.openxmlformats.org/drawingml/2006/main">
              <a:ext uri="{FF2B5EF4-FFF2-40B4-BE49-F238E27FC236}">
                <a16:creationId xmlns:a16="http://schemas.microsoft.com/office/drawing/2014/main" id="{4A5E32BD-D9D7-421C-B670-910216BF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43300"/>
            <a:ext cx="838200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7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产业链波及影响</a:t>
            </a:r>
          </a:p>
        </p:txBody>
      </p:sp>
      <p:sp>
        <p:nvSpPr>
          <p:cNvPr id="61" name="identify-structure-feature">
            <a:extLst xmlns:a="http://schemas.openxmlformats.org/drawingml/2006/main">
              <a:ext uri="{FF2B5EF4-FFF2-40B4-BE49-F238E27FC236}">
                <a16:creationId xmlns:a16="http://schemas.microsoft.com/office/drawing/2014/main" id="{7CCB7D5B-9032-4A6D-8F10-4538C9B9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24150"/>
            <a:ext cx="2571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业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链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结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构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特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征</a:t>
            </a:r>
          </a:p>
        </p:txBody>
      </p:sp>
      <p:sp>
        <p:nvSpPr>
          <p:cNvPr id="62" name="identify-real-basis">
            <a:extLst xmlns:a="http://schemas.openxmlformats.org/drawingml/2006/main">
              <a:ext uri="{FF2B5EF4-FFF2-40B4-BE49-F238E27FC236}">
                <a16:creationId xmlns:a16="http://schemas.microsoft.com/office/drawing/2014/main" id="{FE06FFE4-67A2-412D-B536-7F088E9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24150"/>
            <a:ext cx="247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8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为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业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链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重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构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提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供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现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实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依</a:t>
            </a:r>
          </a:p>
          <a:p xmlns:a="http://schemas.openxmlformats.org/drawingml/2006/main">
            <a:pPr algn="ctr">
              <a:buNone/>
              <a:def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6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据</a:t>
            </a:r>
          </a:p>
        </p:txBody>
      </p:sp>
      <p:sp>
        <p:nvSpPr>
          <p:cNvPr id="63" name="section-2-risk-heading">
            <a:extLst xmlns:a="http://schemas.openxmlformats.org/drawingml/2006/main">
              <a:ext uri="{FF2B5EF4-FFF2-40B4-BE49-F238E27FC236}">
                <a16:creationId xmlns:a16="http://schemas.microsoft.com/office/drawing/2014/main" id="{6517EBA6-1AA8-4712-B889-52938668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86025"/>
            <a:ext cx="162877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7C2FF"/>
          </a:solidFill>
          <a:ln xmlns:a="http://schemas.openxmlformats.org/drawingml/2006/main" w="9525">
            <a:solidFill>
              <a:srgbClr val="526493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6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产业链断链风险防范与化解</a:t>
            </a:r>
          </a:p>
        </p:txBody>
      </p:sp>
      <p:sp>
        <p:nvSpPr>
          <p:cNvPr id="64" name="risk-upstream-monopoly">
            <a:extLst xmlns:a="http://schemas.openxmlformats.org/drawingml/2006/main">
              <a:ext uri="{FF2B5EF4-FFF2-40B4-BE49-F238E27FC236}">
                <a16:creationId xmlns:a16="http://schemas.microsoft.com/office/drawing/2014/main" id="{CF5ADB47-3BF8-45EE-8C7C-ED714DCB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33675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2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82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上游原料寡头垄断</a:t>
            </a:r>
          </a:p>
        </p:txBody>
      </p:sp>
      <p:sp>
        <p:nvSpPr>
          <p:cNvPr id="65" name="risk-process">
            <a:extLst xmlns:a="http://schemas.openxmlformats.org/drawingml/2006/main">
              <a:ext uri="{FF2B5EF4-FFF2-40B4-BE49-F238E27FC236}">
                <a16:creationId xmlns:a16="http://schemas.microsoft.com/office/drawing/2014/main" id="{D14327EA-4807-4A0D-9023-B37502F0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43225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加工工艺不先进</a:t>
            </a:r>
          </a:p>
        </p:txBody>
      </p:sp>
      <p:sp>
        <p:nvSpPr>
          <p:cNvPr id="66" name="risk-software">
            <a:extLst xmlns:a="http://schemas.openxmlformats.org/drawingml/2006/main">
              <a:ext uri="{FF2B5EF4-FFF2-40B4-BE49-F238E27FC236}">
                <a16:creationId xmlns:a16="http://schemas.microsoft.com/office/drawing/2014/main" id="{E2CFA72F-91D3-4AAA-8ADC-B362EB78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52775"/>
            <a:ext cx="1038225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5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设计软件对外依赖度</a:t>
            </a:r>
          </a:p>
          <a:p xmlns:a="http://schemas.openxmlformats.org/drawingml/2006/main">
            <a:pPr algn="ctr">
              <a:buNone/>
              <a:defRPr sz="653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53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高</a:t>
            </a:r>
          </a:p>
        </p:txBody>
      </p:sp>
      <p:sp>
        <p:nvSpPr>
          <p:cNvPr id="67" name="risk-equipment">
            <a:extLst xmlns:a="http://schemas.openxmlformats.org/drawingml/2006/main">
              <a:ext uri="{FF2B5EF4-FFF2-40B4-BE49-F238E27FC236}">
                <a16:creationId xmlns:a16="http://schemas.microsoft.com/office/drawing/2014/main" id="{F7DD718B-AB15-4108-81EE-CEA4B64B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419475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7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加工设备自给率低</a:t>
            </a:r>
          </a:p>
        </p:txBody>
      </p:sp>
      <p:sp>
        <p:nvSpPr>
          <p:cNvPr id="68" name="risk-mismatch">
            <a:extLst xmlns:a="http://schemas.openxmlformats.org/drawingml/2006/main">
              <a:ext uri="{FF2B5EF4-FFF2-40B4-BE49-F238E27FC236}">
                <a16:creationId xmlns:a16="http://schemas.microsoft.com/office/drawing/2014/main" id="{62D40BFB-0A62-4481-83B5-8200B1B6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29025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7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上下游供需不匹配</a:t>
            </a:r>
          </a:p>
        </p:txBody>
      </p:sp>
      <p:sp>
        <p:nvSpPr>
          <p:cNvPr id="69" name="risk-warning-system">
            <a:extLst xmlns:a="http://schemas.openxmlformats.org/drawingml/2006/main">
              <a:ext uri="{FF2B5EF4-FFF2-40B4-BE49-F238E27FC236}">
                <a16:creationId xmlns:a16="http://schemas.microsoft.com/office/drawing/2014/main" id="{0CF3AE7B-1487-41CB-8B77-3EE9C57E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24150"/>
            <a:ext cx="2571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构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建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风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险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监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测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预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警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体</a:t>
            </a:r>
          </a:p>
          <a:p xmlns:a="http://schemas.openxmlformats.org/drawingml/2006/main">
            <a:pPr algn="ctr">
              <a:buNone/>
              <a:def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系</a:t>
            </a:r>
          </a:p>
        </p:txBody>
      </p:sp>
      <p:sp>
        <p:nvSpPr>
          <p:cNvPr id="70" name="risk-optimal-path">
            <a:extLst xmlns:a="http://schemas.openxmlformats.org/drawingml/2006/main">
              <a:ext uri="{FF2B5EF4-FFF2-40B4-BE49-F238E27FC236}">
                <a16:creationId xmlns:a16="http://schemas.microsoft.com/office/drawing/2014/main" id="{86D265B2-6E8B-4B9B-BA76-9E338099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571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提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出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业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链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重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构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最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优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路</a:t>
            </a:r>
          </a:p>
          <a:p xmlns:a="http://schemas.openxmlformats.org/drawingml/2006/main">
            <a:pPr algn="ctr">
              <a:buNone/>
              <a:def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57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径</a:t>
            </a:r>
          </a:p>
        </p:txBody>
      </p:sp>
      <p:sp>
        <p:nvSpPr>
          <p:cNvPr id="71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47880B12-25BD-4AE6-A763-79A9C552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38600"/>
            <a:ext cx="280987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8F2EE"/>
          </a:solidFill>
          <a:ln xmlns:a="http://schemas.openxmlformats.org/drawingml/2006/main" w="9525">
            <a:solidFill>
              <a:srgbClr val="3A8E8C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8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全球创新产业链重构路径及影响机理研究</a:t>
            </a:r>
          </a:p>
        </p:txBody>
      </p:sp>
      <p:sp>
        <p:nvSpPr>
          <p:cNvPr id="72" name="mechanism-relation">
            <a:extLst xmlns:a="http://schemas.openxmlformats.org/drawingml/2006/main">
              <a:ext uri="{FF2B5EF4-FFF2-40B4-BE49-F238E27FC236}">
                <a16:creationId xmlns:a16="http://schemas.microsoft.com/office/drawing/2014/main" id="{DD15EF9E-706D-46A6-8A7F-AB23FF45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33875"/>
            <a:ext cx="7810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产业关联特征</a:t>
            </a:r>
          </a:p>
        </p:txBody>
      </p:sp>
      <p:sp>
        <p:nvSpPr>
          <p:cNvPr id="73" name="mechanism-dependence">
            <a:extLst xmlns:a="http://schemas.openxmlformats.org/drawingml/2006/main">
              <a:ext uri="{FF2B5EF4-FFF2-40B4-BE49-F238E27FC236}">
                <a16:creationId xmlns:a16="http://schemas.microsoft.com/office/drawing/2014/main" id="{0B797C63-89A5-4B3B-87EE-A9429597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24375"/>
            <a:ext cx="7810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产业链依存度</a:t>
            </a:r>
          </a:p>
        </p:txBody>
      </p:sp>
      <p:sp>
        <p:nvSpPr>
          <p:cNvPr id="74" name="mechanism-innovation">
            <a:extLst xmlns:a="http://schemas.openxmlformats.org/drawingml/2006/main">
              <a:ext uri="{FF2B5EF4-FFF2-40B4-BE49-F238E27FC236}">
                <a16:creationId xmlns:a16="http://schemas.microsoft.com/office/drawing/2014/main" id="{ABD2CAB8-12D5-45E7-B467-E0FA692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14875"/>
            <a:ext cx="7810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技术创新</a:t>
            </a:r>
          </a:p>
        </p:txBody>
      </p:sp>
      <p:sp>
        <p:nvSpPr>
          <p:cNvPr id="75" name="mechanism-policy">
            <a:extLst xmlns:a="http://schemas.openxmlformats.org/drawingml/2006/main">
              <a:ext uri="{FF2B5EF4-FFF2-40B4-BE49-F238E27FC236}">
                <a16:creationId xmlns:a16="http://schemas.microsoft.com/office/drawing/2014/main" id="{6CABBC83-2F36-478E-B30A-B5C04A64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05375"/>
            <a:ext cx="7810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国家政策</a:t>
            </a:r>
          </a:p>
        </p:txBody>
      </p:sp>
      <p:sp>
        <p:nvSpPr>
          <p:cNvPr id="76" name="mechanism-competition">
            <a:extLst xmlns:a="http://schemas.openxmlformats.org/drawingml/2006/main">
              <a:ext uri="{FF2B5EF4-FFF2-40B4-BE49-F238E27FC236}">
                <a16:creationId xmlns:a16="http://schemas.microsoft.com/office/drawing/2014/main" id="{D1307F71-9B26-48E9-B4A2-F86F7EE8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095875"/>
            <a:ext cx="7810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国际竞争与制裁</a:t>
            </a:r>
          </a:p>
        </p:txBody>
      </p:sp>
      <p:sp>
        <p:nvSpPr>
          <p:cNvPr id="77" name="mechanism-influence-factors">
            <a:extLst xmlns:a="http://schemas.openxmlformats.org/drawingml/2006/main">
              <a:ext uri="{FF2B5EF4-FFF2-40B4-BE49-F238E27FC236}">
                <a16:creationId xmlns:a16="http://schemas.microsoft.com/office/drawing/2014/main" id="{BD65D210-C281-4599-9B5B-1A783E63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514850"/>
            <a:ext cx="209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9E7"/>
          </a:solidFill>
          <a:ln xmlns:a="http://schemas.openxmlformats.org/drawingml/2006/main" w="9525">
            <a:solidFill>
              <a:srgbClr val="7F627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影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响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因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素</a:t>
            </a:r>
          </a:p>
        </p:txBody>
      </p:sp>
      <p:sp>
        <p:nvSpPr>
          <p:cNvPr id="78" name="mechanism-chain-core">
            <a:extLst xmlns:a="http://schemas.openxmlformats.org/drawingml/2006/main">
              <a:ext uri="{FF2B5EF4-FFF2-40B4-BE49-F238E27FC236}">
                <a16:creationId xmlns:a16="http://schemas.microsoft.com/office/drawing/2014/main" id="{EE759762-456C-4EE3-894E-8C2893D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572000"/>
            <a:ext cx="581025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C9E7"/>
          </a:solidFill>
          <a:ln xmlns:a="http://schemas.openxmlformats.org/drawingml/2006/main" w="9525">
            <a:solidFill>
              <a:srgbClr val="7F627F"/>
            </a:solidFill>
            <a:prstDash val="solid"/>
          </a:ln>
        </p:spPr>
        <p:txBody>
          <a:bodyPr xmlns:a="http://schemas.openxmlformats.org/drawingml/2006/main" wrap="square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价值链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+供应链</a:t>
            </a:r>
          </a:p>
          <a:p xmlns:a="http://schemas.openxmlformats.org/drawingml/2006/main">
            <a:pPr algn="ctr">
              <a:buNone/>
              <a:def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+空间链</a:t>
            </a:r>
          </a:p>
        </p:txBody>
      </p:sp>
      <p:sp>
        <p:nvSpPr>
          <p:cNvPr id="79" name="mechanism-influence-mechanism">
            <a:extLst xmlns:a="http://schemas.openxmlformats.org/drawingml/2006/main">
              <a:ext uri="{FF2B5EF4-FFF2-40B4-BE49-F238E27FC236}">
                <a16:creationId xmlns:a16="http://schemas.microsoft.com/office/drawing/2014/main" id="{D29C9F6A-2E7A-469C-9B20-E3DA8218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14850"/>
            <a:ext cx="209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9E7"/>
          </a:solidFill>
          <a:ln xmlns:a="http://schemas.openxmlformats.org/drawingml/2006/main" w="9525">
            <a:solidFill>
              <a:srgbClr val="7F627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影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响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机</a:t>
            </a:r>
          </a:p>
          <a:p xmlns:a="http://schemas.openxmlformats.org/drawingml/2006/main">
            <a:pPr algn="ctr">
              <a:buNone/>
              <a:def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1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理</a:t>
            </a:r>
          </a:p>
        </p:txBody>
      </p:sp>
      <p:sp>
        <p:nvSpPr>
          <p:cNvPr id="80" name="mechanism-boundary">
            <a:extLst xmlns:a="http://schemas.openxmlformats.org/drawingml/2006/main">
              <a:ext uri="{FF2B5EF4-FFF2-40B4-BE49-F238E27FC236}">
                <a16:creationId xmlns:a16="http://schemas.microsoft.com/office/drawing/2014/main" id="{CF966E4C-0439-4BD0-8C0B-620B1C31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33875"/>
            <a:ext cx="1028700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分工边界拓展</a:t>
            </a:r>
          </a:p>
        </p:txBody>
      </p:sp>
      <p:sp>
        <p:nvSpPr>
          <p:cNvPr id="81" name="mechanism-cost">
            <a:extLst xmlns:a="http://schemas.openxmlformats.org/drawingml/2006/main">
              <a:ext uri="{FF2B5EF4-FFF2-40B4-BE49-F238E27FC236}">
                <a16:creationId xmlns:a16="http://schemas.microsoft.com/office/drawing/2014/main" id="{78921C6B-17E4-44E2-99CB-7A728F55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72000"/>
            <a:ext cx="1028700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3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研发与交易成本变化</a:t>
            </a:r>
          </a:p>
        </p:txBody>
      </p:sp>
      <p:sp>
        <p:nvSpPr>
          <p:cNvPr id="82" name="mechanism-value-transfer">
            <a:extLst xmlns:a="http://schemas.openxmlformats.org/drawingml/2006/main">
              <a:ext uri="{FF2B5EF4-FFF2-40B4-BE49-F238E27FC236}">
                <a16:creationId xmlns:a16="http://schemas.microsoft.com/office/drawing/2014/main" id="{E31DAE1E-75BC-4EFB-B473-F7C596D1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0125"/>
            <a:ext cx="1028700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价值分配转移</a:t>
            </a:r>
          </a:p>
        </p:txBody>
      </p:sp>
      <p:sp>
        <p:nvSpPr>
          <p:cNvPr id="83" name="mechanism-supply-demand">
            <a:extLst xmlns:a="http://schemas.openxmlformats.org/drawingml/2006/main">
              <a:ext uri="{FF2B5EF4-FFF2-40B4-BE49-F238E27FC236}">
                <a16:creationId xmlns:a16="http://schemas.microsoft.com/office/drawing/2014/main" id="{251080F9-EF10-41A4-86BA-F347A0EE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1028700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E8FC"/>
          </a:solidFill>
          <a:ln xmlns:a="http://schemas.openxmlformats.org/drawingml/2006/main" w="9525">
            <a:solidFill>
              <a:srgbClr val="7185A6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供求关系变化</a:t>
            </a:r>
          </a:p>
        </p:txBody>
      </p:sp>
      <p:sp>
        <p:nvSpPr>
          <p:cNvPr id="84" name="mechanism-outcome">
            <a:extLst xmlns:a="http://schemas.openxmlformats.org/drawingml/2006/main">
              <a:ext uri="{FF2B5EF4-FFF2-40B4-BE49-F238E27FC236}">
                <a16:creationId xmlns:a16="http://schemas.microsoft.com/office/drawing/2014/main" id="{1B46A063-B5A2-435B-9424-5D09C438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43500"/>
            <a:ext cx="1095375" cy="18097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C9E7"/>
          </a:solidFill>
          <a:ln xmlns:a="http://schemas.openxmlformats.org/drawingml/2006/main" w="9525">
            <a:solidFill>
              <a:srgbClr val="7F627F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产业链重构影响机理</a:t>
            </a:r>
          </a:p>
        </p:txBody>
      </p:sp>
      <p:sp>
        <p:nvSpPr>
          <p:cNvPr id="85" name="section-4-elements-heading">
            <a:extLst xmlns:a="http://schemas.openxmlformats.org/drawingml/2006/main">
              <a:ext uri="{FF2B5EF4-FFF2-40B4-BE49-F238E27FC236}">
                <a16:creationId xmlns:a16="http://schemas.microsoft.com/office/drawing/2014/main" id="{74BAB5FB-6B97-4DC4-9D04-C3B70D8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19750"/>
            <a:ext cx="904875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2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82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产业链重构三要素</a:t>
            </a:r>
          </a:p>
        </p:txBody>
      </p:sp>
      <p:sp>
        <p:nvSpPr>
          <p:cNvPr id="86" name="element-value">
            <a:extLst xmlns:a="http://schemas.openxmlformats.org/drawingml/2006/main">
              <a:ext uri="{FF2B5EF4-FFF2-40B4-BE49-F238E27FC236}">
                <a16:creationId xmlns:a16="http://schemas.microsoft.com/office/drawing/2014/main" id="{EAFEE008-B182-4CBC-88B9-651094EF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848350"/>
            <a:ext cx="9048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价值重构</a:t>
            </a:r>
          </a:p>
        </p:txBody>
      </p:sp>
      <p:sp>
        <p:nvSpPr>
          <p:cNvPr id="87" name="element-organization">
            <a:extLst xmlns:a="http://schemas.openxmlformats.org/drawingml/2006/main">
              <a:ext uri="{FF2B5EF4-FFF2-40B4-BE49-F238E27FC236}">
                <a16:creationId xmlns:a16="http://schemas.microsoft.com/office/drawing/2014/main" id="{0054ACE6-BED2-4684-AAFD-5374FBA4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76950"/>
            <a:ext cx="9048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组织重构</a:t>
            </a:r>
          </a:p>
        </p:txBody>
      </p:sp>
      <p:sp>
        <p:nvSpPr>
          <p:cNvPr id="88" name="element-space">
            <a:extLst xmlns:a="http://schemas.openxmlformats.org/drawingml/2006/main">
              <a:ext uri="{FF2B5EF4-FFF2-40B4-BE49-F238E27FC236}">
                <a16:creationId xmlns:a16="http://schemas.microsoft.com/office/drawing/2014/main" id="{75320C16-434D-4870-8379-CC961ED9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305550"/>
            <a:ext cx="9048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9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空间重构</a:t>
            </a:r>
          </a:p>
        </p:txBody>
      </p:sp>
      <p:sp>
        <p:nvSpPr>
          <p:cNvPr id="89" name="section-4-mode-heading">
            <a:extLst xmlns:a="http://schemas.openxmlformats.org/drawingml/2006/main">
              <a:ext uri="{FF2B5EF4-FFF2-40B4-BE49-F238E27FC236}">
                <a16:creationId xmlns:a16="http://schemas.microsoft.com/office/drawing/2014/main" id="{6BBA8FCD-AD4F-4A08-AB9E-2D8606F0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19750"/>
            <a:ext cx="15049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CDAE8D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75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半导体产业链重构模式与路径</a:t>
            </a:r>
          </a:p>
        </p:txBody>
      </p:sp>
      <p:sp>
        <p:nvSpPr>
          <p:cNvPr id="90" name="mode-global-linkage">
            <a:extLst xmlns:a="http://schemas.openxmlformats.org/drawingml/2006/main">
              <a:ext uri="{FF2B5EF4-FFF2-40B4-BE49-F238E27FC236}">
                <a16:creationId xmlns:a16="http://schemas.microsoft.com/office/drawing/2014/main" id="{CAF9DBC5-CC2D-4B76-9DC4-98346D7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48350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全球产业链价值链联动</a:t>
            </a:r>
          </a:p>
        </p:txBody>
      </p:sp>
      <p:sp>
        <p:nvSpPr>
          <p:cNvPr id="91" name="mode-upgrade">
            <a:extLst xmlns:a="http://schemas.openxmlformats.org/drawingml/2006/main">
              <a:ext uri="{FF2B5EF4-FFF2-40B4-BE49-F238E27FC236}">
                <a16:creationId xmlns:a16="http://schemas.microsoft.com/office/drawing/2014/main" id="{6A199D87-6688-4D93-BD49-4785C10D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848350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产业链升级</a:t>
            </a:r>
          </a:p>
        </p:txBody>
      </p:sp>
      <p:sp>
        <p:nvSpPr>
          <p:cNvPr id="92" name="mode-ecosystem">
            <a:extLst xmlns:a="http://schemas.openxmlformats.org/drawingml/2006/main">
              <a:ext uri="{FF2B5EF4-FFF2-40B4-BE49-F238E27FC236}">
                <a16:creationId xmlns:a16="http://schemas.microsoft.com/office/drawing/2014/main" id="{2C7C7C76-D439-423E-8F16-9D29C420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076950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全球产业链生态系统</a:t>
            </a:r>
          </a:p>
        </p:txBody>
      </p:sp>
      <p:sp>
        <p:nvSpPr>
          <p:cNvPr id="93" name="mode-expansion">
            <a:extLst xmlns:a="http://schemas.openxmlformats.org/drawingml/2006/main">
              <a:ext uri="{FF2B5EF4-FFF2-40B4-BE49-F238E27FC236}">
                <a16:creationId xmlns:a16="http://schemas.microsoft.com/office/drawing/2014/main" id="{B2DFFA75-EE77-4916-B590-16CEC602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076950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产业链横纵向拓展</a:t>
            </a:r>
          </a:p>
        </p:txBody>
      </p:sp>
      <p:sp>
        <p:nvSpPr>
          <p:cNvPr id="94" name="mode-domestic">
            <a:extLst xmlns:a="http://schemas.openxmlformats.org/drawingml/2006/main">
              <a:ext uri="{FF2B5EF4-FFF2-40B4-BE49-F238E27FC236}">
                <a16:creationId xmlns:a16="http://schemas.microsoft.com/office/drawing/2014/main" id="{9BCEB652-F04A-4DDC-BD22-075F306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305550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国产化替代</a:t>
            </a:r>
          </a:p>
        </p:txBody>
      </p:sp>
      <p:sp>
        <p:nvSpPr>
          <p:cNvPr id="95" name="mode-regional">
            <a:extLst xmlns:a="http://schemas.openxmlformats.org/drawingml/2006/main">
              <a:ext uri="{FF2B5EF4-FFF2-40B4-BE49-F238E27FC236}">
                <a16:creationId xmlns:a16="http://schemas.microsoft.com/office/drawing/2014/main" id="{DC92102E-A765-4D3E-A62F-7F8E8547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305550"/>
            <a:ext cx="10382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D4"/>
          </a:solidFill>
          <a:ln xmlns:a="http://schemas.openxmlformats.org/drawingml/2006/main" w="9525">
            <a:solidFill>
              <a:srgbClr val="7EA171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38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区域价值链合作</a:t>
            </a:r>
          </a:p>
        </p:txBody>
      </p:sp>
      <p:sp>
        <p:nvSpPr>
          <p:cNvPr id="96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F764BED9-E1A9-4BD8-9024-FB6C2F1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743700"/>
            <a:ext cx="2809875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8F2EE"/>
          </a:solidFill>
          <a:ln xmlns:a="http://schemas.openxmlformats.org/drawingml/2006/main" w="9525">
            <a:solidFill>
              <a:srgbClr val="3A8E8C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78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我国创新产业政策优化与评价研究</a:t>
            </a:r>
          </a:p>
        </p:txBody>
      </p:sp>
      <p:sp>
        <p:nvSpPr>
          <p:cNvPr id="97" name="policy-history">
            <a:extLst xmlns:a="http://schemas.openxmlformats.org/drawingml/2006/main">
              <a:ext uri="{FF2B5EF4-FFF2-40B4-BE49-F238E27FC236}">
                <a16:creationId xmlns:a16="http://schemas.microsoft.com/office/drawing/2014/main" id="{C6D6D7D4-032E-4D38-A153-92BBD4E5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91350"/>
            <a:ext cx="80962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产业政策发展</a:t>
            </a:r>
          </a:p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历程及成效</a:t>
            </a:r>
          </a:p>
        </p:txBody>
      </p:sp>
      <p:sp>
        <p:nvSpPr>
          <p:cNvPr id="98" name="policy-evaluation">
            <a:extLst xmlns:a="http://schemas.openxmlformats.org/drawingml/2006/main">
              <a:ext uri="{FF2B5EF4-FFF2-40B4-BE49-F238E27FC236}">
                <a16:creationId xmlns:a16="http://schemas.microsoft.com/office/drawing/2014/main" id="{C4B71792-1CDE-47DD-8D6E-B3887BAD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991350"/>
            <a:ext cx="92392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产业政策</a:t>
            </a:r>
          </a:p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评价体系</a:t>
            </a:r>
          </a:p>
        </p:txBody>
      </p:sp>
      <p:sp>
        <p:nvSpPr>
          <p:cNvPr id="99" name="policy-optimization">
            <a:extLst xmlns:a="http://schemas.openxmlformats.org/drawingml/2006/main">
              <a:ext uri="{FF2B5EF4-FFF2-40B4-BE49-F238E27FC236}">
                <a16:creationId xmlns:a16="http://schemas.microsoft.com/office/drawing/2014/main" id="{DFB89678-9EA9-4CD8-8495-A84C6A4F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91350"/>
            <a:ext cx="8572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E2C975"/>
            </a:solidFill>
            <a:prstDash val="solid"/>
          </a:ln>
        </p:spPr>
        <p:txBody>
          <a:bodyPr xmlns:a="http://schemas.openxmlformats.org/drawingml/2006/main" wrap="square" lIns="19050" tIns="14288" rIns="19050" bIns="14288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产业政策</a:t>
            </a:r>
          </a:p>
          <a:p xmlns:a="http://schemas.openxmlformats.org/drawingml/2006/main">
            <a:pPr algn="ctr">
              <a:buNone/>
              <a:def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defRPr>
            </a:pPr>
            <a:r>
              <a:rPr sz="660" b="0" i="0">
                <a:solidFill>
                  <a:srgbClr val="28313A"/>
                </a:solidFill>
                <a:latin typeface="Songti SC"/>
                <a:ea typeface="Songti SC"/>
                <a:cs typeface="Songti SC"/>
              </a:rPr>
              <a:t>优化</a:t>
            </a:r>
          </a:p>
        </p:txBody>
      </p:sp>
      <p:cxnSp>
        <p:nvCxnSpPr>
          <p:cNvPr id="344" name=""/>
          <p:cNvCxnSpPr>
            <a:stCxn xmlns:a="http://schemas.openxmlformats.org/drawingml/2006/main" id="57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2276475" y="2852738"/>
            <a:ext cx="247650" cy="385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45" name=""/>
          <p:cNvCxnSpPr>
            <a:stCxn xmlns:a="http://schemas.openxmlformats.org/drawingml/2006/main" id="58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2276475" y="3109913"/>
            <a:ext cx="247650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46" name=""/>
          <p:cNvCxnSpPr>
            <a:stCxn xmlns:a="http://schemas.openxmlformats.org/drawingml/2006/main" id="59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2276475" y="3238500"/>
            <a:ext cx="247650" cy="138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  <a:tailEnd type="arrow" w="sm" len="sm"/>
          </a:ln>
        </p:spPr>
      </p:cxnSp>
      <p:cxnSp>
        <p:nvCxnSpPr>
          <p:cNvPr id="347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2276475" y="3238500"/>
            <a:ext cx="247650" cy="404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48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781300" y="3238500"/>
            <a:ext cx="666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010"/>
            </a:solidFill>
            <a:prstDash val="solid"/>
            <a:tailEnd type="arrow" w="sm" len="sm"/>
          </a:ln>
        </p:spPr>
      </p:cxnSp>
      <p:cxnSp>
        <p:nvCxnSpPr>
          <p:cNvPr id="349" name=""/>
          <p:cNvCxnSpPr>
            <a:stCxn xmlns:a="http://schemas.openxmlformats.org/drawingml/2006/main" id="64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4362450" y="2819400"/>
            <a:ext cx="85725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50" name=""/>
          <p:cNvCxnSpPr>
            <a:stCxn xmlns:a="http://schemas.openxmlformats.org/drawingml/2006/main" id="65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4362450" y="3028950"/>
            <a:ext cx="85725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51" name=""/>
          <p:cNvCxnSpPr>
            <a:stCxn xmlns:a="http://schemas.openxmlformats.org/drawingml/2006/main" id="66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4362450" y="3238500"/>
            <a:ext cx="85725" cy="33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  <a:tailEnd type="arrow" w="sm" len="sm"/>
          </a:ln>
        </p:spPr>
      </p:cxnSp>
      <p:cxnSp>
        <p:nvCxnSpPr>
          <p:cNvPr id="352" name=""/>
          <p:cNvCxnSpPr>
            <a:stCxn xmlns:a="http://schemas.openxmlformats.org/drawingml/2006/main" id="67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4362450" y="3238500"/>
            <a:ext cx="85725" cy="266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53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4362450" y="3238500"/>
            <a:ext cx="85725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54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4705350" y="32385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010"/>
            </a:solidFill>
            <a:prstDash val="solid"/>
            <a:tailEnd type="arrow" w="sm" len="sm"/>
          </a:ln>
        </p:spPr>
      </p:cxnSp>
      <p:cxnSp>
        <p:nvCxnSpPr>
          <p:cNvPr id="355" name=""/>
          <p:cNvCxnSpPr>
            <a:stCxn xmlns:a="http://schemas.openxmlformats.org/drawingml/2006/main" id="72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2219325" y="4419600"/>
            <a:ext cx="228600" cy="366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56" name=""/>
          <p:cNvCxnSpPr>
            <a:stCxn xmlns:a="http://schemas.openxmlformats.org/drawingml/2006/main" id="73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2219325" y="4610100"/>
            <a:ext cx="228600" cy="1762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57" name=""/>
          <p:cNvCxnSpPr>
            <a:stCxn xmlns:a="http://schemas.openxmlformats.org/drawingml/2006/main" id="74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 flipV="1">
            <a:off x="2219325" y="4786313"/>
            <a:ext cx="228600" cy="14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  <a:tailEnd type="arrow" w="sm" len="sm"/>
          </a:ln>
        </p:spPr>
      </p:cxnSp>
      <p:cxnSp>
        <p:nvCxnSpPr>
          <p:cNvPr id="358" name=""/>
          <p:cNvCxnSpPr>
            <a:stCxn xmlns:a="http://schemas.openxmlformats.org/drawingml/2006/main" id="75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 flipV="1">
            <a:off x="2219325" y="4786313"/>
            <a:ext cx="22860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59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 flipV="1">
            <a:off x="2219325" y="4786313"/>
            <a:ext cx="228600" cy="395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6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657475" y="4786313"/>
            <a:ext cx="1905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01010"/>
            </a:solidFill>
            <a:prstDash val="solid"/>
            <a:tailEnd type="arrow" w="sm" len="sm"/>
          </a:ln>
        </p:spPr>
      </p:cxnSp>
      <p:cxnSp>
        <p:nvCxnSpPr>
          <p:cNvPr id="361" name=""/>
          <p:cNvCxnSpPr>
            <a:stCxn xmlns:a="http://schemas.openxmlformats.org/drawingml/2006/main" id="80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3867150" y="4424363"/>
            <a:ext cx="1809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62" name=""/>
          <p:cNvCxnSpPr>
            <a:stCxn xmlns:a="http://schemas.openxmlformats.org/drawingml/2006/main" id="81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3867150" y="4662488"/>
            <a:ext cx="18097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  <a:tailEnd type="arrow" w="sm" len="sm"/>
          </a:ln>
        </p:spPr>
      </p:cxnSp>
      <p:cxnSp>
        <p:nvCxnSpPr>
          <p:cNvPr id="363" name=""/>
          <p:cNvCxnSpPr>
            <a:stCxn xmlns:a="http://schemas.openxmlformats.org/drawingml/2006/main" id="82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 flipV="1">
            <a:off x="3867150" y="4786313"/>
            <a:ext cx="180975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64" name=""/>
          <p:cNvCxnSpPr>
            <a:stCxn xmlns:a="http://schemas.openxmlformats.org/drawingml/2006/main" id="83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 flipV="1">
            <a:off x="3867150" y="4786313"/>
            <a:ext cx="180975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101010"/>
            </a:solidFill>
            <a:prstDash val="solid"/>
          </a:ln>
        </p:spPr>
      </p:cxnSp>
      <p:cxnSp>
        <p:nvCxnSpPr>
          <p:cNvPr id="365" name=""/>
          <p:cNvCxnSpPr>
            <a:stCxn xmlns:a="http://schemas.openxmlformats.org/drawingml/2006/main" id="79" idx="1"/>
            <a:endCxn xmlns:a="http://schemas.openxmlformats.org/drawingml/2006/main" id="78" idx="3"/>
          </p:cNvCxnSpPr>
          <p:nvPr/>
        </p:nvCxnSpPr>
        <p:spPr>
          <a:xfrm xmlns:a="http://schemas.openxmlformats.org/drawingml/2006/main" flipH="1">
            <a:off x="3429000" y="4786313"/>
            <a:ext cx="2286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01010"/>
            </a:solidFill>
            <a:prstDash val="solid"/>
            <a:tailEnd type="arrow" w="sm" len="sm"/>
          </a:ln>
        </p:spPr>
      </p:cxnSp>
      <p:cxnSp>
        <p:nvCxnSpPr>
          <p:cNvPr id="366" name=""/>
          <p:cNvCxnSpPr>
            <a:stCxn xmlns:a="http://schemas.openxmlformats.org/drawingml/2006/main" id="78" idx="2"/>
            <a:endCxn xmlns:a="http://schemas.openxmlformats.org/drawingml/2006/main" id="84" idx="0"/>
          </p:cNvCxnSpPr>
          <p:nvPr/>
        </p:nvCxnSpPr>
        <p:spPr>
          <a:xfrm xmlns:a="http://schemas.openxmlformats.org/drawingml/2006/main">
            <a:off x="3138488" y="5095875"/>
            <a:ext cx="190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01010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244146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2026-08-08T15:23:15.5190000Z</dcterms:created>
  <dcterms:modified xsi:type="dcterms:W3CDTF">2026-08-08T15:23:15.5190000Z</dcterms:modified>
</coreProperties>
</file>