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937f915dc4cdd" /><Relationship Type="http://schemas.openxmlformats.org/officeDocument/2006/relationships/extended-properties" Target="/docProps/app.xml" Id="R775fa1de7d914d02" /><Relationship Type="http://schemas.openxmlformats.org/officeDocument/2006/relationships/officeDocument" Target="/ppt/presentation.xml" Id="Ra6da0e75030844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db25b76b64489"/>
  </p:sldMasterIdLst>
  <p:notesMasterIdLst>
    <p:notesMasterId xmlns:r="http://schemas.openxmlformats.org/officeDocument/2006/relationships" r:id="R4c7ac16ec08a4898"/>
  </p:notesMasterIdLst>
  <p:sldIdLst>
    <p:sldId xmlns:r="http://schemas.openxmlformats.org/officeDocument/2006/relationships" id="256" r:id="R25f1841b5ed04f95"/>
  </p:sldIdLst>
  <p:sldSz cx="14020800" cy="10172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611821240467d" /><Relationship Type="http://schemas.openxmlformats.org/officeDocument/2006/relationships/slideMaster" Target="/ppt/slideMasters/slideMaster1.xml" Id="R0e9db25b76b64489" /><Relationship Type="http://schemas.openxmlformats.org/officeDocument/2006/relationships/notesMaster" Target="/ppt/notesMasters/notesMaster1.xml" Id="R4c7ac16ec08a4898" /><Relationship Type="http://schemas.openxmlformats.org/officeDocument/2006/relationships/presProps" Target="/ppt/presProps.xml" Id="R3c7a99d159454f65" /><Relationship Type="http://schemas.openxmlformats.org/officeDocument/2006/relationships/tableStyles" Target="/ppt/tableStyles.xml" Id="R038c769ea7834d59" /><Relationship Type="http://schemas.openxmlformats.org/officeDocument/2006/relationships/slide" Target="/ppt/slides/slide1.xml" Id="R25f1841b5ed0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7eb84234d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5b62533c54b9a" /><Relationship Type="http://schemas.openxmlformats.org/officeDocument/2006/relationships/notesMaster" Target="/ppt/notesMasters/notesMaster1.xml" Id="R7b07e61e213e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image: source.png (local, delivered beside build.mjs)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7682acf52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a3988bee564e8e" /><Relationship Type="http://schemas.openxmlformats.org/officeDocument/2006/relationships/slideLayout" Target="/ppt/slideLayouts/slideLayout1.xml" Id="R86149f2bfc67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49f2bfc67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72dbf878d4c10" /><Relationship Type="http://schemas.openxmlformats.org/officeDocument/2006/relationships/image" Target="/ppt/media/image.png" Id="R66f0e9d9633240bf" /><Relationship Type="http://schemas.openxmlformats.org/officeDocument/2006/relationships/image" Target="/ppt/media/image.png" Id="Rce1de0bf1a62403e" /><Relationship Type="http://schemas.openxmlformats.org/officeDocument/2006/relationships/image" Target="/ppt/media/image.png" Id="R246732bb77144b3c" /><Relationship Type="http://schemas.openxmlformats.org/officeDocument/2006/relationships/image" Target="/ppt/media/image.png" Id="Re635a71077344744" /><Relationship Type="http://schemas.openxmlformats.org/officeDocument/2006/relationships/image" Target="/ppt/media/image.png" Id="Re0c056a873e741eb" /><Relationship Type="http://schemas.openxmlformats.org/officeDocument/2006/relationships/image" Target="/ppt/media/image.png" Id="R0b8c1dc41cab429c" /><Relationship Type="http://schemas.openxmlformats.org/officeDocument/2006/relationships/image" Target="/ppt/media/image.png" Id="R3967c5a7909341ef" /><Relationship Type="http://schemas.openxmlformats.org/officeDocument/2006/relationships/image" Target="/ppt/media/image.png" Id="R1d836c24dc98438a" /><Relationship Type="http://schemas.openxmlformats.org/officeDocument/2006/relationships/image" Target="/ppt/media/image.png" Id="Rcab302c87dc44972" /><Relationship Type="http://schemas.openxmlformats.org/officeDocument/2006/relationships/image" Target="/ppt/media/image.png" Id="R49428c6d5e2945da" /><Relationship Type="http://schemas.openxmlformats.org/officeDocument/2006/relationships/image" Target="/ppt/media/image.png" Id="R3d0f3e22a1a44b60" /><Relationship Type="http://schemas.openxmlformats.org/officeDocument/2006/relationships/notesSlide" Target="/ppt/notesSlides/notesSlide1.xml" Id="R04b21a9cacdc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source-canvas-frame">
            <a:extLst xmlns:a="http://schemas.openxmlformats.org/drawingml/2006/main">
              <a:ext uri="{FF2B5EF4-FFF2-40B4-BE49-F238E27FC236}">
                <a16:creationId xmlns:a16="http://schemas.microsoft.com/office/drawing/2014/main" id="{66049F20-934D-496D-92F3-C8577E12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" y="4763"/>
            <a:ext cx="14011275" cy="1016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4B4B4"/>
            </a:solidFill>
            <a:prstDash val="solid"/>
          </a:ln>
        </p:spPr>
      </p:sp>
      <p:sp>
        <p:nvSpPr>
          <p:cNvPr id="2" name="separator-left-center">
            <a:extLst xmlns:a="http://schemas.openxmlformats.org/drawingml/2006/main">
              <a:ext uri="{FF2B5EF4-FFF2-40B4-BE49-F238E27FC236}">
                <a16:creationId xmlns:a16="http://schemas.microsoft.com/office/drawing/2014/main" id="{DABF10D8-3A9E-48A1-9259-4D8F44F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"/>
            <a:ext cx="9525" cy="625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A4A4A"/>
            </a:solidFill>
            <a:prstDash val="dash"/>
          </a:ln>
        </p:spPr>
      </p:sp>
      <p:sp>
        <p:nvSpPr>
          <p:cNvPr id="3" name="separator-center-right">
            <a:extLst xmlns:a="http://schemas.openxmlformats.org/drawingml/2006/main">
              <a:ext uri="{FF2B5EF4-FFF2-40B4-BE49-F238E27FC236}">
                <a16:creationId xmlns:a16="http://schemas.microsoft.com/office/drawing/2014/main" id="{E5029253-189A-49B6-A41E-E5916BEB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625"/>
            <a:ext cx="9525" cy="625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A4A4A"/>
            </a:solidFill>
            <a:prstDash val="dash"/>
          </a:ln>
        </p:spPr>
      </p:sp>
      <p:sp>
        <p:nvSpPr>
          <p:cNvPr id="4" name="separator-right-summary">
            <a:extLst xmlns:a="http://schemas.openxmlformats.org/drawingml/2006/main">
              <a:ext uri="{FF2B5EF4-FFF2-40B4-BE49-F238E27FC236}">
                <a16:creationId xmlns:a16="http://schemas.microsoft.com/office/drawing/2014/main" id="{4D90D270-882C-461F-BCE5-2B172B0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7625"/>
            <a:ext cx="9525" cy="625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A4A4A"/>
            </a:solidFill>
            <a:prstDash val="dash"/>
          </a:ln>
        </p:spPr>
      </p:sp>
      <p:sp>
        <p:nvSpPr>
          <p:cNvPr id="5" name="separator-top-bottom">
            <a:extLst xmlns:a="http://schemas.openxmlformats.org/drawingml/2006/main">
              <a:ext uri="{FF2B5EF4-FFF2-40B4-BE49-F238E27FC236}">
                <a16:creationId xmlns:a16="http://schemas.microsoft.com/office/drawing/2014/main" id="{6AD1AED9-707E-45AF-BEF0-52C187C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6305550"/>
            <a:ext cx="13925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A4A4A"/>
            </a:solidFill>
            <a:prstDash val="dash"/>
          </a:ln>
        </p:spPr>
      </p:sp>
      <p:sp>
        <p:nvSpPr>
          <p:cNvPr id="6" name="left_title">
            <a:extLst xmlns:a="http://schemas.openxmlformats.org/drawingml/2006/main">
              <a:ext uri="{FF2B5EF4-FFF2-40B4-BE49-F238E27FC236}">
                <a16:creationId xmlns:a16="http://schemas.microsoft.com/office/drawing/2014/main" id="{E3133CA8-C2EE-49AB-9AF8-62AB24B2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3825"/>
            <a:ext cx="3609975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0E88C0"/>
          </a:solidFill>
          <a:ln xmlns:a="http://schemas.openxmlformats.org/drawingml/2006/main" w="11430">
            <a:solidFill>
              <a:srgbClr val="006D9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 i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 SCS2胞内小分子肽调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控铁死亡及谷胱胺间腺质氧化损伤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的作用研究</a:t>
            </a:r>
          </a:p>
        </p:txBody>
      </p:sp>
      <p:sp>
        <p:nvSpPr>
          <p:cNvPr id="7" name="left_peptide">
            <a:extLst xmlns:a="http://schemas.openxmlformats.org/drawingml/2006/main">
              <a:ext uri="{FF2B5EF4-FFF2-40B4-BE49-F238E27FC236}">
                <a16:creationId xmlns:a16="http://schemas.microsoft.com/office/drawing/2014/main" id="{F03DA9FE-64B0-4A2E-A619-89EEAA42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571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0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50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SCS2小分子肽</a:t>
            </a:r>
          </a:p>
        </p:txBody>
      </p:sp>
      <p:sp>
        <p:nvSpPr>
          <p:cNvPr id="8" name="left_damage_group">
            <a:extLst xmlns:a="http://schemas.openxmlformats.org/drawingml/2006/main">
              <a:ext uri="{FF2B5EF4-FFF2-40B4-BE49-F238E27FC236}">
                <a16:creationId xmlns:a16="http://schemas.microsoft.com/office/drawing/2014/main" id="{C96FC382-8BD6-44C3-A61F-800C91D4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66900"/>
            <a:ext cx="3276600" cy="581025"/>
          </a:xfrm>
          <a:prstGeom xmlns:a="http://schemas.openxmlformats.org/drawingml/2006/main" prst="roundRect">
            <a:avLst>
              <a:gd name="adj" fmla="val 2623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A4A4A"/>
            </a:solidFill>
            <a:prstDash val="dash"/>
          </a:ln>
        </p:spPr>
      </p:sp>
      <p:sp>
        <p:nvSpPr>
          <p:cNvPr id="9" name="left_damage_model">
            <a:extLst xmlns:a="http://schemas.openxmlformats.org/drawingml/2006/main">
              <a:ext uri="{FF2B5EF4-FFF2-40B4-BE49-F238E27FC236}">
                <a16:creationId xmlns:a16="http://schemas.microsoft.com/office/drawing/2014/main" id="{D413F4D0-C88B-43CF-817D-E35BB3F6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33575"/>
            <a:ext cx="1590675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建立脂质稳态损伤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物模型</a:t>
            </a:r>
          </a:p>
        </p:txBody>
      </p:sp>
      <p:sp>
        <p:nvSpPr>
          <p:cNvPr id="10" name="left_min6">
            <a:extLst xmlns:a="http://schemas.openxmlformats.org/drawingml/2006/main">
              <a:ext uri="{FF2B5EF4-FFF2-40B4-BE49-F238E27FC236}">
                <a16:creationId xmlns:a16="http://schemas.microsoft.com/office/drawing/2014/main" id="{B3F4E767-2FE5-4C21-A94E-6A46CC9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43100"/>
            <a:ext cx="1095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min6细胞</a:t>
            </a:r>
          </a:p>
        </p:txBody>
      </p:sp>
      <p:sp>
        <p:nvSpPr>
          <p:cNvPr id="11" name="left_assay_group">
            <a:extLst xmlns:a="http://schemas.openxmlformats.org/drawingml/2006/main">
              <a:ext uri="{FF2B5EF4-FFF2-40B4-BE49-F238E27FC236}">
                <a16:creationId xmlns:a16="http://schemas.microsoft.com/office/drawing/2014/main" id="{B3A1592B-09E5-45F1-9FEE-BCCF0FA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657350" cy="1781175"/>
          </a:xfrm>
          <a:prstGeom xmlns:a="http://schemas.openxmlformats.org/drawingml/2006/main" prst="roundRect">
            <a:avLst>
              <a:gd name="adj" fmla="val 14943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194C86"/>
            </a:solidFill>
            <a:prstDash val="dash"/>
          </a:ln>
        </p:spPr>
      </p:sp>
      <p:sp>
        <p:nvSpPr>
          <p:cNvPr id="12" name="left_rtqpcr">
            <a:extLst xmlns:a="http://schemas.openxmlformats.org/drawingml/2006/main">
              <a:ext uri="{FF2B5EF4-FFF2-40B4-BE49-F238E27FC236}">
                <a16:creationId xmlns:a16="http://schemas.microsoft.com/office/drawing/2014/main" id="{B669BE67-36FE-447D-B8B8-57C830AB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3049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RT-qPCR</a:t>
            </a:r>
          </a:p>
        </p:txBody>
      </p:sp>
      <p:sp>
        <p:nvSpPr>
          <p:cNvPr id="13" name="left_wb">
            <a:extLst xmlns:a="http://schemas.openxmlformats.org/drawingml/2006/main">
              <a:ext uri="{FF2B5EF4-FFF2-40B4-BE49-F238E27FC236}">
                <a16:creationId xmlns:a16="http://schemas.microsoft.com/office/drawing/2014/main" id="{ECE46F10-0322-4BBF-B00E-D70C5F96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13049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WB</a:t>
            </a:r>
          </a:p>
        </p:txBody>
      </p:sp>
      <p:sp>
        <p:nvSpPr>
          <p:cNvPr id="14" name="left_elisa">
            <a:extLst xmlns:a="http://schemas.openxmlformats.org/drawingml/2006/main">
              <a:ext uri="{FF2B5EF4-FFF2-40B4-BE49-F238E27FC236}">
                <a16:creationId xmlns:a16="http://schemas.microsoft.com/office/drawing/2014/main" id="{F7509D2A-69D8-4CDB-A230-813A6E0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3049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ELISA</a:t>
            </a:r>
          </a:p>
        </p:txBody>
      </p:sp>
      <p:sp>
        <p:nvSpPr>
          <p:cNvPr id="15" name="left_iron">
            <a:extLst xmlns:a="http://schemas.openxmlformats.org/drawingml/2006/main">
              <a:ext uri="{FF2B5EF4-FFF2-40B4-BE49-F238E27FC236}">
                <a16:creationId xmlns:a16="http://schemas.microsoft.com/office/drawing/2014/main" id="{49F3CFAC-CD20-44A5-A0B2-698335E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13049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铁离子比色法</a:t>
            </a:r>
          </a:p>
        </p:txBody>
      </p:sp>
      <p:sp>
        <p:nvSpPr>
          <p:cNvPr id="16" name="left_lcms">
            <a:extLst xmlns:a="http://schemas.openxmlformats.org/drawingml/2006/main">
              <a:ext uri="{FF2B5EF4-FFF2-40B4-BE49-F238E27FC236}">
                <a16:creationId xmlns:a16="http://schemas.microsoft.com/office/drawing/2014/main" id="{D71527C3-ECED-4769-A3AC-5D44D496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11049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LC-MS/MS</a:t>
            </a:r>
          </a:p>
        </p:txBody>
      </p:sp>
      <p:sp>
        <p:nvSpPr>
          <p:cNvPr id="17" name="left_effect">
            <a:extLst xmlns:a="http://schemas.openxmlformats.org/drawingml/2006/main">
              <a:ext uri="{FF2B5EF4-FFF2-40B4-BE49-F238E27FC236}">
                <a16:creationId xmlns:a16="http://schemas.microsoft.com/office/drawing/2014/main" id="{B9C58CB7-92E1-479F-9F76-5D6F008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057775"/>
            <a:ext cx="2095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687"/>
          </a:solidFill>
          <a:ln xmlns:a="http://schemas.openxmlformats.org/drawingml/2006/main" w="11430">
            <a:solidFill>
              <a:srgbClr val="D1B92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明确</a:t>
            </a:r>
            <a:r>
              <a:rPr sz="1500" b="1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L.plantarum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SCS2胞内小分子肽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是否具有改善胰岛</a:t>
            </a: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β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细胞氧化损伤作用</a:t>
            </a:r>
          </a:p>
        </p:txBody>
      </p:sp>
      <p:sp>
        <p:nvSpPr>
          <p:cNvPr id="18" name="left_info">
            <a:extLst xmlns:a="http://schemas.openxmlformats.org/drawingml/2006/main">
              <a:ext uri="{FF2B5EF4-FFF2-40B4-BE49-F238E27FC236}">
                <a16:creationId xmlns:a16="http://schemas.microsoft.com/office/drawing/2014/main" id="{6337B7DD-C77B-447F-814A-CCF5FBA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95875"/>
            <a:ext cx="1209675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687"/>
          </a:solidFill>
          <a:ln xmlns:a="http://schemas.openxmlformats.org/drawingml/2006/main" w="11430">
            <a:solidFill>
              <a:srgbClr val="D1B92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获取理论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分子量、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氨基酸序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列等信息</a:t>
            </a:r>
          </a:p>
        </p:txBody>
      </p:sp>
      <p:sp>
        <p:nvSpPr>
          <p:cNvPr id="19" name="center_title">
            <a:extLst xmlns:a="http://schemas.openxmlformats.org/drawingml/2006/main">
              <a:ext uri="{FF2B5EF4-FFF2-40B4-BE49-F238E27FC236}">
                <a16:creationId xmlns:a16="http://schemas.microsoft.com/office/drawing/2014/main" id="{3BEAC29B-BF06-4BCF-B57C-593594A0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3825"/>
            <a:ext cx="3600450" cy="923925"/>
          </a:xfrm>
          <a:prstGeom xmlns:a="http://schemas.openxmlformats.org/drawingml/2006/main" prst="roundRect">
            <a:avLst>
              <a:gd name="adj" fmla="val 18557"/>
            </a:avLst>
          </a:prstGeom>
          <a:solidFill xmlns:a="http://schemas.openxmlformats.org/drawingml/2006/main">
            <a:srgbClr val="0E88C0"/>
          </a:solidFill>
          <a:ln xmlns:a="http://schemas.openxmlformats.org/drawingml/2006/main" w="11430">
            <a:solidFill>
              <a:srgbClr val="006D9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 SCS2胞内小分子肽通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过lncRNA MEG3调控Nrf2抑制胰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岛</a:t>
            </a: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β</a:t>
            </a: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细胞铁死亡的机制研究</a:t>
            </a:r>
          </a:p>
        </p:txBody>
      </p:sp>
      <p:sp>
        <p:nvSpPr>
          <p:cNvPr id="20" name="center_rna">
            <a:extLst xmlns:a="http://schemas.openxmlformats.org/drawingml/2006/main">
              <a:ext uri="{FF2B5EF4-FFF2-40B4-BE49-F238E27FC236}">
                <a16:creationId xmlns:a16="http://schemas.microsoft.com/office/drawing/2014/main" id="{33CF8229-4CBE-4CB5-93C4-4E27F96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228725"/>
            <a:ext cx="18859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RNA pull down实验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RIP实验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双荧光素酶报告实验</a:t>
            </a:r>
          </a:p>
        </p:txBody>
      </p:sp>
      <p:sp>
        <p:nvSpPr>
          <p:cNvPr id="21" name="center_plasmid">
            <a:extLst xmlns:a="http://schemas.openxmlformats.org/drawingml/2006/main">
              <a:ext uri="{FF2B5EF4-FFF2-40B4-BE49-F238E27FC236}">
                <a16:creationId xmlns:a16="http://schemas.microsoft.com/office/drawing/2014/main" id="{92729D61-244F-4831-881D-EDF8D0A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88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lncRNA MEG3 过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表达/表达缺损质粒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建和转染</a:t>
            </a:r>
          </a:p>
        </p:txBody>
      </p:sp>
      <p:sp>
        <p:nvSpPr>
          <p:cNvPr id="22" name="center_relation">
            <a:extLst xmlns:a="http://schemas.openxmlformats.org/drawingml/2006/main">
              <a:ext uri="{FF2B5EF4-FFF2-40B4-BE49-F238E27FC236}">
                <a16:creationId xmlns:a16="http://schemas.microsoft.com/office/drawing/2014/main" id="{D18CEB52-3E52-448E-8889-7388319F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28825"/>
            <a:ext cx="4438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CFF"/>
          </a:solidFill>
          <a:ln xmlns:a="http://schemas.openxmlformats.org/drawingml/2006/main" w="11430">
            <a:solidFill>
              <a:srgbClr val="6797B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明确lncRNA MEG3、 miR-93和Nrf2之间的靶向调控关系</a:t>
            </a:r>
          </a:p>
        </p:txBody>
      </p:sp>
      <p:sp>
        <p:nvSpPr>
          <p:cNvPr id="23" name="center_peptide">
            <a:extLst xmlns:a="http://schemas.openxmlformats.org/drawingml/2006/main">
              <a:ext uri="{FF2B5EF4-FFF2-40B4-BE49-F238E27FC236}">
                <a16:creationId xmlns:a16="http://schemas.microsoft.com/office/drawing/2014/main" id="{78523AE4-6276-4B86-ABEE-E01BC8A6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31337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00" b="0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50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SCS2小分子肽</a:t>
            </a:r>
          </a:p>
        </p:txBody>
      </p:sp>
      <p:sp>
        <p:nvSpPr>
          <p:cNvPr id="24" name="center_min6">
            <a:extLst xmlns:a="http://schemas.openxmlformats.org/drawingml/2006/main">
              <a:ext uri="{FF2B5EF4-FFF2-40B4-BE49-F238E27FC236}">
                <a16:creationId xmlns:a16="http://schemas.microsoft.com/office/drawing/2014/main" id="{BC1811BB-9D9D-422D-B0C9-3AE906A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95650"/>
            <a:ext cx="10858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min6细胞</a:t>
            </a:r>
          </a:p>
        </p:txBody>
      </p:sp>
      <p:sp>
        <p:nvSpPr>
          <p:cNvPr id="25" name="center_meg">
            <a:extLst xmlns:a="http://schemas.openxmlformats.org/drawingml/2006/main">
              <a:ext uri="{FF2B5EF4-FFF2-40B4-BE49-F238E27FC236}">
                <a16:creationId xmlns:a16="http://schemas.microsoft.com/office/drawing/2014/main" id="{9AB56524-57B2-4866-9C8C-EB75812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33825"/>
            <a:ext cx="12763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9E9"/>
          </a:solidFill>
          <a:ln xmlns:a="http://schemas.openxmlformats.org/drawingml/2006/main" w="9525">
            <a:solidFill>
              <a:srgbClr val="D0C5A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沉默/过表达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lncRNA MEG3</a:t>
            </a:r>
          </a:p>
        </p:txBody>
      </p:sp>
      <p:sp>
        <p:nvSpPr>
          <p:cNvPr id="26" name="center_ncoa4">
            <a:extLst xmlns:a="http://schemas.openxmlformats.org/drawingml/2006/main">
              <a:ext uri="{FF2B5EF4-FFF2-40B4-BE49-F238E27FC236}">
                <a16:creationId xmlns:a16="http://schemas.microsoft.com/office/drawing/2014/main" id="{0977FEA5-CBA7-461D-BD9B-6335DC73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33825"/>
            <a:ext cx="12001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9E9"/>
          </a:solidFill>
          <a:ln xmlns:a="http://schemas.openxmlformats.org/drawingml/2006/main" w="9525">
            <a:solidFill>
              <a:srgbClr val="D0C5A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沉默/过表达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NCOA4</a:t>
            </a:r>
          </a:p>
        </p:txBody>
      </p:sp>
      <p:sp>
        <p:nvSpPr>
          <p:cNvPr id="27" name="center_assay_group">
            <a:extLst xmlns:a="http://schemas.openxmlformats.org/drawingml/2006/main">
              <a:ext uri="{FF2B5EF4-FFF2-40B4-BE49-F238E27FC236}">
                <a16:creationId xmlns:a16="http://schemas.microsoft.com/office/drawing/2014/main" id="{80509D8C-6331-4A39-968C-6EE82E54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72000"/>
            <a:ext cx="4143375" cy="638175"/>
          </a:xfrm>
          <a:prstGeom xmlns:a="http://schemas.openxmlformats.org/drawingml/2006/main" prst="roundRect">
            <a:avLst>
              <a:gd name="adj" fmla="val 2388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A4A4A"/>
            </a:solidFill>
            <a:prstDash val="dash"/>
          </a:ln>
        </p:spPr>
      </p:sp>
      <p:sp>
        <p:nvSpPr>
          <p:cNvPr id="28" name="center_elisa">
            <a:extLst xmlns:a="http://schemas.openxmlformats.org/drawingml/2006/main">
              <a:ext uri="{FF2B5EF4-FFF2-40B4-BE49-F238E27FC236}">
                <a16:creationId xmlns:a16="http://schemas.microsoft.com/office/drawing/2014/main" id="{6E758CC3-A5BC-45CE-A736-DD48B6F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971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ELISA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RT-qPCR</a:t>
            </a:r>
          </a:p>
        </p:txBody>
      </p:sp>
      <p:sp>
        <p:nvSpPr>
          <p:cNvPr id="29" name="center_wb">
            <a:extLst xmlns:a="http://schemas.openxmlformats.org/drawingml/2006/main">
              <a:ext uri="{FF2B5EF4-FFF2-40B4-BE49-F238E27FC236}">
                <a16:creationId xmlns:a16="http://schemas.microsoft.com/office/drawing/2014/main" id="{8D4365C7-D3FD-401C-8DC4-4F50BF60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67250"/>
            <a:ext cx="94297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WB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免疫荧光</a:t>
            </a:r>
          </a:p>
        </p:txBody>
      </p:sp>
      <p:sp>
        <p:nvSpPr>
          <p:cNvPr id="30" name="center_iron">
            <a:extLst xmlns:a="http://schemas.openxmlformats.org/drawingml/2006/main">
              <a:ext uri="{FF2B5EF4-FFF2-40B4-BE49-F238E27FC236}">
                <a16:creationId xmlns:a16="http://schemas.microsoft.com/office/drawing/2014/main" id="{A9F1FEFD-1BCD-461D-9935-75361E9C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93345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铁离子比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色法</a:t>
            </a:r>
          </a:p>
        </p:txBody>
      </p:sp>
      <p:sp>
        <p:nvSpPr>
          <p:cNvPr id="31" name="center_conclusion">
            <a:extLst xmlns:a="http://schemas.openxmlformats.org/drawingml/2006/main">
              <a:ext uri="{FF2B5EF4-FFF2-40B4-BE49-F238E27FC236}">
                <a16:creationId xmlns:a16="http://schemas.microsoft.com/office/drawing/2014/main" id="{C356F9B6-BADE-4C9B-A94B-1D00B2E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372100"/>
            <a:ext cx="4352925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F687"/>
          </a:solidFill>
          <a:ln xmlns:a="http://schemas.openxmlformats.org/drawingml/2006/main" w="11430">
            <a:solidFill>
              <a:srgbClr val="D1B92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明确</a:t>
            </a:r>
            <a:r>
              <a:rPr sz="1425" b="1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L.plantarum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SCS2胞内小分子肽是否通过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lncRNA MEG3调控Nrf2抑制胰岛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β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细胞铁死亡</a:t>
            </a:r>
          </a:p>
        </p:txBody>
      </p:sp>
      <p:sp>
        <p:nvSpPr>
          <p:cNvPr id="32" name="right_title">
            <a:extLst xmlns:a="http://schemas.openxmlformats.org/drawingml/2006/main">
              <a:ext uri="{FF2B5EF4-FFF2-40B4-BE49-F238E27FC236}">
                <a16:creationId xmlns:a16="http://schemas.microsoft.com/office/drawing/2014/main" id="{A2C2E10C-FA92-477B-8282-D32C1102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3825"/>
            <a:ext cx="314325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0E88C0"/>
          </a:solidFill>
          <a:ln xmlns:a="http://schemas.openxmlformats.org/drawingml/2006/main" w="11430">
            <a:solidFill>
              <a:srgbClr val="006D9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 SCS2胞内小分子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肽对lncRNA MEG3启动子去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甲基化的作用研究</a:t>
            </a:r>
          </a:p>
        </p:txBody>
      </p:sp>
      <p:sp>
        <p:nvSpPr>
          <p:cNvPr id="33" name="right_peptide1">
            <a:extLst xmlns:a="http://schemas.openxmlformats.org/drawingml/2006/main">
              <a:ext uri="{FF2B5EF4-FFF2-40B4-BE49-F238E27FC236}">
                <a16:creationId xmlns:a16="http://schemas.microsoft.com/office/drawing/2014/main" id="{0CCF59F4-FACD-4B90-B952-04F6343E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314450"/>
            <a:ext cx="16287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0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 plantarum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SCS2小分子肽</a:t>
            </a:r>
          </a:p>
        </p:txBody>
      </p:sp>
      <p:sp>
        <p:nvSpPr>
          <p:cNvPr id="34" name="right_damage_group">
            <a:extLst xmlns:a="http://schemas.openxmlformats.org/drawingml/2006/main">
              <a:ext uri="{FF2B5EF4-FFF2-40B4-BE49-F238E27FC236}">
                <a16:creationId xmlns:a16="http://schemas.microsoft.com/office/drawing/2014/main" id="{11128B64-3E27-4DE5-9A27-3ED216C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3162300" cy="6858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A4A4A"/>
            </a:solidFill>
            <a:prstDash val="dash"/>
          </a:ln>
        </p:spPr>
      </p:sp>
      <p:sp>
        <p:nvSpPr>
          <p:cNvPr id="35" name="right_min6">
            <a:extLst xmlns:a="http://schemas.openxmlformats.org/drawingml/2006/main">
              <a:ext uri="{FF2B5EF4-FFF2-40B4-BE49-F238E27FC236}">
                <a16:creationId xmlns:a16="http://schemas.microsoft.com/office/drawing/2014/main" id="{7B30FF1C-1618-41C4-BEAE-E33154F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52650"/>
            <a:ext cx="1047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min6细胞</a:t>
            </a:r>
          </a:p>
        </p:txBody>
      </p:sp>
      <p:sp>
        <p:nvSpPr>
          <p:cNvPr id="36" name="right_damage_model">
            <a:extLst xmlns:a="http://schemas.openxmlformats.org/drawingml/2006/main">
              <a:ext uri="{FF2B5EF4-FFF2-40B4-BE49-F238E27FC236}">
                <a16:creationId xmlns:a16="http://schemas.microsoft.com/office/drawing/2014/main" id="{D1D38230-1BD6-4223-90FF-3E33C0D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1571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建立胰岛β细胞损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的模型</a:t>
            </a:r>
          </a:p>
        </p:txBody>
      </p:sp>
      <p:sp>
        <p:nvSpPr>
          <p:cNvPr id="37" name="right_peptide2">
            <a:extLst xmlns:a="http://schemas.openxmlformats.org/drawingml/2006/main">
              <a:ext uri="{FF2B5EF4-FFF2-40B4-BE49-F238E27FC236}">
                <a16:creationId xmlns:a16="http://schemas.microsoft.com/office/drawing/2014/main" id="{13EB192E-ED24-43A2-99C4-BF4A5A3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9900"/>
            <a:ext cx="2057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SCS2胞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内小分子肽</a:t>
            </a:r>
          </a:p>
        </p:txBody>
      </p:sp>
      <p:sp>
        <p:nvSpPr>
          <p:cNvPr id="38" name="right_assay_group">
            <a:extLst xmlns:a="http://schemas.openxmlformats.org/drawingml/2006/main">
              <a:ext uri="{FF2B5EF4-FFF2-40B4-BE49-F238E27FC236}">
                <a16:creationId xmlns:a16="http://schemas.microsoft.com/office/drawing/2014/main" id="{453117D6-B929-4A7B-8CA4-12848819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81425"/>
            <a:ext cx="2552700" cy="1085850"/>
          </a:xfrm>
          <a:prstGeom xmlns:a="http://schemas.openxmlformats.org/drawingml/2006/main" prst="roundRect">
            <a:avLst>
              <a:gd name="adj" fmla="val 140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A4A4A"/>
            </a:solidFill>
            <a:prstDash val="dash"/>
          </a:ln>
        </p:spPr>
      </p:sp>
      <p:sp>
        <p:nvSpPr>
          <p:cNvPr id="39" name="right_msp">
            <a:extLst xmlns:a="http://schemas.openxmlformats.org/drawingml/2006/main">
              <a:ext uri="{FF2B5EF4-FFF2-40B4-BE49-F238E27FC236}">
                <a16:creationId xmlns:a16="http://schemas.microsoft.com/office/drawing/2014/main" id="{956028E0-AF0A-4FE8-A82F-32410C5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86200"/>
            <a:ext cx="952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MSP</a:t>
            </a:r>
          </a:p>
        </p:txBody>
      </p:sp>
      <p:sp>
        <p:nvSpPr>
          <p:cNvPr id="40" name="right_chip">
            <a:extLst xmlns:a="http://schemas.openxmlformats.org/drawingml/2006/main">
              <a:ext uri="{FF2B5EF4-FFF2-40B4-BE49-F238E27FC236}">
                <a16:creationId xmlns:a16="http://schemas.microsoft.com/office/drawing/2014/main" id="{B1B858E5-E5A7-4F50-817B-48EDE5E3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886200"/>
            <a:ext cx="9239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ChIP</a:t>
            </a:r>
          </a:p>
        </p:txBody>
      </p:sp>
      <p:sp>
        <p:nvSpPr>
          <p:cNvPr id="41" name="right_elisa">
            <a:extLst xmlns:a="http://schemas.openxmlformats.org/drawingml/2006/main">
              <a:ext uri="{FF2B5EF4-FFF2-40B4-BE49-F238E27FC236}">
                <a16:creationId xmlns:a16="http://schemas.microsoft.com/office/drawing/2014/main" id="{664D7285-CA37-402B-9773-98D7575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57675"/>
            <a:ext cx="9525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ELISA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RT-qPCR</a:t>
            </a:r>
          </a:p>
        </p:txBody>
      </p:sp>
      <p:sp>
        <p:nvSpPr>
          <p:cNvPr id="42" name="right_wb">
            <a:extLst xmlns:a="http://schemas.openxmlformats.org/drawingml/2006/main">
              <a:ext uri="{FF2B5EF4-FFF2-40B4-BE49-F238E27FC236}">
                <a16:creationId xmlns:a16="http://schemas.microsoft.com/office/drawing/2014/main" id="{EDE5134E-8E12-4534-9010-D5B5ECE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57675"/>
            <a:ext cx="9239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WB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免疫荧光</a:t>
            </a:r>
          </a:p>
        </p:txBody>
      </p:sp>
      <p:sp>
        <p:nvSpPr>
          <p:cNvPr id="43" name="right_conclusion">
            <a:extLst xmlns:a="http://schemas.openxmlformats.org/drawingml/2006/main">
              <a:ext uri="{FF2B5EF4-FFF2-40B4-BE49-F238E27FC236}">
                <a16:creationId xmlns:a16="http://schemas.microsoft.com/office/drawing/2014/main" id="{9FB73664-12B9-4E9A-8A9E-C5EA869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0175"/>
            <a:ext cx="31242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FFF687"/>
          </a:solidFill>
          <a:ln xmlns:a="http://schemas.openxmlformats.org/drawingml/2006/main" w="11430">
            <a:solidFill>
              <a:srgbClr val="D1B92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明确</a:t>
            </a:r>
            <a:r>
              <a:rPr sz="1425" b="1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L.plantarum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SCS2胞内小分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子肽是否通过参与lncRNA MEG3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启动子去甲基化调控其表达</a:t>
            </a:r>
          </a:p>
        </p:txBody>
      </p:sp>
      <p:sp>
        <p:nvSpPr>
          <p:cNvPr id="44" name="top_summary">
            <a:extLst xmlns:a="http://schemas.openxmlformats.org/drawingml/2006/main">
              <a:ext uri="{FF2B5EF4-FFF2-40B4-BE49-F238E27FC236}">
                <a16:creationId xmlns:a16="http://schemas.microsoft.com/office/drawing/2014/main" id="{7F004CA9-1E9A-4ED2-B9BB-0DD4B7E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752600"/>
            <a:ext cx="1381125" cy="399097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2FAFC"/>
          </a:solidFill>
          <a:ln xmlns:a="http://schemas.openxmlformats.org/drawingml/2006/main" w="13335">
            <a:solidFill>
              <a:srgbClr val="4E7F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阐明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L.plantarum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SCS2改善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胰岛</a:t>
            </a: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β</a:t>
            </a: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细胞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氧化损伤的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关键物质和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作用机制</a:t>
            </a:r>
          </a:p>
        </p:txBody>
      </p:sp>
      <p:sp>
        <p:nvSpPr>
          <p:cNvPr id="45" name="bottom_title">
            <a:extLst xmlns:a="http://schemas.openxmlformats.org/drawingml/2006/main">
              <a:ext uri="{FF2B5EF4-FFF2-40B4-BE49-F238E27FC236}">
                <a16:creationId xmlns:a16="http://schemas.microsoft.com/office/drawing/2014/main" id="{35862669-3AAE-4177-8A39-A0185FD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410450"/>
            <a:ext cx="2828925" cy="1362075"/>
          </a:xfrm>
          <a:prstGeom xmlns:a="http://schemas.openxmlformats.org/drawingml/2006/main" prst="roundRect">
            <a:avLst>
              <a:gd name="adj" fmla="val 12587"/>
            </a:avLst>
          </a:prstGeom>
          <a:solidFill xmlns:a="http://schemas.openxmlformats.org/drawingml/2006/main">
            <a:srgbClr val="0E88C0"/>
          </a:solidFill>
          <a:ln xmlns:a="http://schemas.openxmlformats.org/drawingml/2006/main" w="11430">
            <a:solidFill>
              <a:srgbClr val="006D99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 i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L. plantarum</a:t>
            </a: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 SCS2胞内小分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子肽改善胰岛</a:t>
            </a: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β</a:t>
            </a: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细胞氧化损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伤对胰防控糖尿病的影响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</a:t>
            </a:r>
          </a:p>
        </p:txBody>
      </p:sp>
      <p:sp>
        <p:nvSpPr>
          <p:cNvPr id="46" name="bottom_model">
            <a:extLst xmlns:a="http://schemas.openxmlformats.org/drawingml/2006/main">
              <a:ext uri="{FF2B5EF4-FFF2-40B4-BE49-F238E27FC236}">
                <a16:creationId xmlns:a16="http://schemas.microsoft.com/office/drawing/2014/main" id="{1D88D382-3386-4AB0-BF5C-A20FB99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7486650"/>
            <a:ext cx="1895475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BBD9F2"/>
          </a:solidFill>
          <a:ln xmlns:a="http://schemas.openxmlformats.org/drawingml/2006/main" w="11430">
            <a:solidFill>
              <a:srgbClr val="6C9FC5"/>
            </a:solidFill>
            <a:prstDash val="solid"/>
          </a:ln>
        </p:spPr>
      </p:sp>
      <p:sp>
        <p:nvSpPr>
          <p:cNvPr id="47" name="bottom_model_label">
            <a:extLst xmlns:a="http://schemas.openxmlformats.org/drawingml/2006/main">
              <a:ext uri="{FF2B5EF4-FFF2-40B4-BE49-F238E27FC236}">
                <a16:creationId xmlns:a16="http://schemas.microsoft.com/office/drawing/2014/main" id="{63B69519-8215-447A-BE2A-EF67393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962900"/>
            <a:ext cx="1628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建立2型糖尿病动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75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物模型</a:t>
            </a:r>
          </a:p>
        </p:txBody>
      </p:sp>
      <p:sp>
        <p:nvSpPr>
          <p:cNvPr id="48" name="bottom_assay_group">
            <a:extLst xmlns:a="http://schemas.openxmlformats.org/drawingml/2006/main">
              <a:ext uri="{FF2B5EF4-FFF2-40B4-BE49-F238E27FC236}">
                <a16:creationId xmlns:a16="http://schemas.microsoft.com/office/drawing/2014/main" id="{96C6D78C-D04F-4A2B-8CF0-059A69CB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57950"/>
            <a:ext cx="2895600" cy="3457575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94C86"/>
            </a:solidFill>
            <a:prstDash val="dash"/>
          </a:ln>
        </p:spPr>
      </p:sp>
      <p:sp>
        <p:nvSpPr>
          <p:cNvPr id="49" name="bottom_msp">
            <a:extLst xmlns:a="http://schemas.openxmlformats.org/drawingml/2006/main">
              <a:ext uri="{FF2B5EF4-FFF2-40B4-BE49-F238E27FC236}">
                <a16:creationId xmlns:a16="http://schemas.microsoft.com/office/drawing/2014/main" id="{C33EFF2B-7B88-43EA-A7D2-6365613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97230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MSP</a:t>
            </a:r>
          </a:p>
        </p:txBody>
      </p:sp>
      <p:sp>
        <p:nvSpPr>
          <p:cNvPr id="50" name="bottom_chip">
            <a:extLst xmlns:a="http://schemas.openxmlformats.org/drawingml/2006/main">
              <a:ext uri="{FF2B5EF4-FFF2-40B4-BE49-F238E27FC236}">
                <a16:creationId xmlns:a16="http://schemas.microsoft.com/office/drawing/2014/main" id="{7EB0FBE1-F101-4E5F-9659-55D660A2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962775"/>
            <a:ext cx="1038225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ChIP</a:t>
            </a:r>
          </a:p>
        </p:txBody>
      </p:sp>
      <p:sp>
        <p:nvSpPr>
          <p:cNvPr id="51" name="bottom_rtqpcr">
            <a:extLst xmlns:a="http://schemas.openxmlformats.org/drawingml/2006/main">
              <a:ext uri="{FF2B5EF4-FFF2-40B4-BE49-F238E27FC236}">
                <a16:creationId xmlns:a16="http://schemas.microsoft.com/office/drawing/2014/main" id="{8C71464E-FDCE-47ED-AA7F-E6C9D670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7820025"/>
            <a:ext cx="10763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RT-qPCR</a:t>
            </a:r>
          </a:p>
        </p:txBody>
      </p:sp>
      <p:sp>
        <p:nvSpPr>
          <p:cNvPr id="52" name="bottom_wb">
            <a:extLst xmlns:a="http://schemas.openxmlformats.org/drawingml/2006/main">
              <a:ext uri="{FF2B5EF4-FFF2-40B4-BE49-F238E27FC236}">
                <a16:creationId xmlns:a16="http://schemas.microsoft.com/office/drawing/2014/main" id="{59E97CE8-E49A-43E4-9B9F-02D66AE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820025"/>
            <a:ext cx="10477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WB</a:t>
            </a:r>
          </a:p>
        </p:txBody>
      </p:sp>
      <p:sp>
        <p:nvSpPr>
          <p:cNvPr id="53" name="bottom_elisa">
            <a:extLst xmlns:a="http://schemas.openxmlformats.org/drawingml/2006/main">
              <a:ext uri="{FF2B5EF4-FFF2-40B4-BE49-F238E27FC236}">
                <a16:creationId xmlns:a16="http://schemas.microsoft.com/office/drawing/2014/main" id="{49FD0216-903F-4623-A4E9-B6A777CB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68680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ELISA</a:t>
            </a:r>
          </a:p>
        </p:txBody>
      </p:sp>
      <p:sp>
        <p:nvSpPr>
          <p:cNvPr id="54" name="bottom_if">
            <a:extLst xmlns:a="http://schemas.openxmlformats.org/drawingml/2006/main">
              <a:ext uri="{FF2B5EF4-FFF2-40B4-BE49-F238E27FC236}">
                <a16:creationId xmlns:a16="http://schemas.microsoft.com/office/drawing/2014/main" id="{024178E0-FC1F-43A6-A4E0-40640273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686800"/>
            <a:ext cx="105727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免疫荧光</a:t>
            </a:r>
          </a:p>
        </p:txBody>
      </p:sp>
      <p:sp>
        <p:nvSpPr>
          <p:cNvPr id="55" name="bottom_iron">
            <a:extLst xmlns:a="http://schemas.openxmlformats.org/drawingml/2006/main">
              <a:ext uri="{FF2B5EF4-FFF2-40B4-BE49-F238E27FC236}">
                <a16:creationId xmlns:a16="http://schemas.microsoft.com/office/drawing/2014/main" id="{008754A0-86D6-4A14-ABA7-3FFB707C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9382125"/>
            <a:ext cx="23241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EE7DA"/>
          </a:solidFill>
          <a:ln xmlns:a="http://schemas.openxmlformats.org/drawingml/2006/main" w="9525">
            <a:solidFill>
              <a:srgbClr val="79AA9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铁离子比色法</a:t>
            </a:r>
          </a:p>
        </p:txBody>
      </p:sp>
      <p:sp>
        <p:nvSpPr>
          <p:cNvPr id="56" name="bottom_result">
            <a:extLst xmlns:a="http://schemas.openxmlformats.org/drawingml/2006/main">
              <a:ext uri="{FF2B5EF4-FFF2-40B4-BE49-F238E27FC236}">
                <a16:creationId xmlns:a16="http://schemas.microsoft.com/office/drawing/2014/main" id="{86A2DBB8-6293-4F99-BA85-0F5A118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381875"/>
            <a:ext cx="3705225" cy="1457325"/>
          </a:xfrm>
          <a:prstGeom xmlns:a="http://schemas.openxmlformats.org/drawingml/2006/main" prst="roundRect">
            <a:avLst>
              <a:gd name="adj" fmla="val 18301"/>
            </a:avLst>
          </a:prstGeom>
          <a:solidFill xmlns:a="http://schemas.openxmlformats.org/drawingml/2006/main">
            <a:srgbClr val="F2FAFC"/>
          </a:solidFill>
          <a:ln xmlns:a="http://schemas.openxmlformats.org/drawingml/2006/main" w="13335">
            <a:solidFill>
              <a:srgbClr val="4E7F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905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明确</a:t>
            </a:r>
            <a:r>
              <a:rPr sz="1425" b="1" i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L.plantarum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 SCS2胞内小分子肽改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善胰岛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β</a:t>
            </a: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细胞氧化损伤对2型糖尿病的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预防作用</a:t>
            </a:r>
          </a:p>
        </p:txBody>
      </p:sp>
      <p:sp>
        <p:nvSpPr>
          <p:cNvPr id="57" name="stage_left_center">
            <a:extLst xmlns:a="http://schemas.openxmlformats.org/drawingml/2006/main">
              <a:ext uri="{FF2B5EF4-FFF2-40B4-BE49-F238E27FC236}">
                <a16:creationId xmlns:a16="http://schemas.microsoft.com/office/drawing/2014/main" id="{7DF71C70-4C1E-4189-BDD5-4BAC8DF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333375" cy="504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stage_center_right">
            <a:extLst xmlns:a="http://schemas.openxmlformats.org/drawingml/2006/main">
              <a:ext uri="{FF2B5EF4-FFF2-40B4-BE49-F238E27FC236}">
                <a16:creationId xmlns:a16="http://schemas.microsoft.com/office/drawing/2014/main" id="{9FFDBB26-446C-4AA1-8678-63B8A8B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19475"/>
            <a:ext cx="333375" cy="504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stage_right_summary">
            <a:extLst xmlns:a="http://schemas.openxmlformats.org/drawingml/2006/main">
              <a:ext uri="{FF2B5EF4-FFF2-40B4-BE49-F238E27FC236}">
                <a16:creationId xmlns:a16="http://schemas.microsoft.com/office/drawing/2014/main" id="{0D0535D4-0B98-4F36-87E2-A299F31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419475"/>
            <a:ext cx="504825" cy="504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15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971675" y="1057275"/>
            <a:ext cx="4763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5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971675" y="16764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5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85975" y="2157413"/>
            <a:ext cx="2476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52525" y="2447925"/>
            <a:ext cx="819150" cy="561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971675" y="2447925"/>
            <a:ext cx="1076325" cy="1266825"/>
          </a:xfrm>
          <a:prstGeom xmlns:a="http://schemas.openxmlformats.org/drawingml/2006/main" prst="bentConnector4">
            <a:avLst>
              <a:gd name="adj1" fmla="val 0"/>
              <a:gd name="adj2" fmla="val 18045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2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152525" y="4791075"/>
            <a:ext cx="95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3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043238" y="4019550"/>
            <a:ext cx="4763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4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5181600" y="1047750"/>
            <a:ext cx="1057275" cy="180975"/>
          </a:xfrm>
          <a:prstGeom xmlns:a="http://schemas.openxmlformats.org/drawingml/2006/main" prst="bentConnector4">
            <a:avLst>
              <a:gd name="adj1" fmla="val 0"/>
              <a:gd name="adj2" fmla="val 36842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5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238875" y="1047750"/>
            <a:ext cx="1085850" cy="171450"/>
          </a:xfrm>
          <a:prstGeom xmlns:a="http://schemas.openxmlformats.org/drawingml/2006/main" prst="bentConnector4">
            <a:avLst>
              <a:gd name="adj1" fmla="val 0"/>
              <a:gd name="adj2" fmla="val 33333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6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181600" y="1924050"/>
            <a:ext cx="10572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6238875" y="1924050"/>
            <a:ext cx="10858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234113" y="2543175"/>
            <a:ext cx="4763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69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234113" y="3152775"/>
            <a:ext cx="4763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4933950" y="3648075"/>
            <a:ext cx="13049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238875" y="3648075"/>
            <a:ext cx="135255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2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933950" y="4400550"/>
            <a:ext cx="1281113" cy="171450"/>
          </a:xfrm>
          <a:prstGeom xmlns:a="http://schemas.openxmlformats.org/drawingml/2006/main" prst="bentConnector4">
            <a:avLst>
              <a:gd name="adj1" fmla="val 0"/>
              <a:gd name="adj2" fmla="val 66667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3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6215063" y="4400550"/>
            <a:ext cx="1376363" cy="171450"/>
          </a:xfrm>
          <a:prstGeom xmlns:a="http://schemas.openxmlformats.org/drawingml/2006/main" prst="bentConnector4">
            <a:avLst>
              <a:gd name="adj1" fmla="val 0"/>
              <a:gd name="adj2" fmla="val 66667"/>
            </a:avLst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4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215063" y="5210175"/>
            <a:ext cx="2857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5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0310813" y="1057275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6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10306050" y="1809750"/>
            <a:ext cx="476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896475" y="23907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8" name=""/>
          <p:cNvCxnSpPr>
            <a:stCxn xmlns:a="http://schemas.openxmlformats.org/drawingml/2006/main" id="34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306050" y="27432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79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0296525" y="3533775"/>
            <a:ext cx="95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cxnSp>
        <p:nvCxnSpPr>
          <p:cNvPr id="180" name=""/>
          <p:cNvCxnSpPr>
            <a:stCxn xmlns:a="http://schemas.openxmlformats.org/drawingml/2006/main" id="38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10296525" y="4867275"/>
            <a:ext cx="2857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9567E"/>
            </a:solidFill>
            <a:prstDash val="solid"/>
            <a:tailEnd type="triangle" w="sm" len="sm"/>
          </a:ln>
        </p:spPr>
      </p:cxnSp>
      <p:sp>
        <p:nvSpPr>
          <p:cNvPr id="84" name="bottom_title_to_model">
            <a:extLst xmlns:a="http://schemas.openxmlformats.org/drawingml/2006/main">
              <a:ext uri="{FF2B5EF4-FFF2-40B4-BE49-F238E27FC236}">
                <a16:creationId xmlns:a16="http://schemas.microsoft.com/office/drawing/2014/main" id="{AA3C7C4E-322B-4A85-B2DC-0B17E75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829550"/>
            <a:ext cx="381000" cy="600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5" name="bottom_model_to_assays">
            <a:extLst xmlns:a="http://schemas.openxmlformats.org/drawingml/2006/main">
              <a:ext uri="{FF2B5EF4-FFF2-40B4-BE49-F238E27FC236}">
                <a16:creationId xmlns:a16="http://schemas.microsoft.com/office/drawing/2014/main" id="{F10AD574-5B65-4814-995E-170DAF4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820025"/>
            <a:ext cx="533400" cy="638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6" name="bottom_assays_to_result">
            <a:extLst xmlns:a="http://schemas.openxmlformats.org/drawingml/2006/main">
              <a:ext uri="{FF2B5EF4-FFF2-40B4-BE49-F238E27FC236}">
                <a16:creationId xmlns:a16="http://schemas.microsoft.com/office/drawing/2014/main" id="{A8C613BB-61FE-4399-BAE5-76CD8A9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753350"/>
            <a:ext cx="561975" cy="771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BD7F6"/>
          </a:solidFill>
          <a:ln xmlns:a="http://schemas.openxmlformats.org/drawingml/2006/main" w="10478">
            <a:solidFill>
              <a:srgbClr val="4D86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0e9d9633240bf"/>
          <a:srcRect xmlns:a="http://schemas.openxmlformats.org/drawingml/2006/main" l="3940" t="25749" r="91372" b="68071"/>
          <a:stretch xmlns:a="http://schemas.openxmlformats.org/drawingml/2006/main"/>
        </p:blipFill>
        <p:spPr>
          <a:xfrm xmlns:a="http://schemas.openxmlformats.org/drawingml/2006/main">
            <a:off x="552450" y="2619375"/>
            <a:ext cx="657225" cy="628650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de0bf1a62403e"/>
          <a:srcRect xmlns:a="http://schemas.openxmlformats.org/drawingml/2006/main" l="22894" t="26592" r="75408" b="64888"/>
          <a:stretch xmlns:a="http://schemas.openxmlformats.org/drawingml/2006/main"/>
        </p:blipFill>
        <p:spPr>
          <a:xfrm xmlns:a="http://schemas.openxmlformats.org/drawingml/2006/main">
            <a:off x="3209925" y="2705100"/>
            <a:ext cx="238125" cy="86677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732bb77144b3c"/>
          <a:srcRect xmlns:a="http://schemas.openxmlformats.org/drawingml/2006/main" l="18342" t="40075" r="74864" b="50468"/>
          <a:stretch xmlns:a="http://schemas.openxmlformats.org/drawingml/2006/main"/>
        </p:blipFill>
        <p:spPr>
          <a:xfrm xmlns:a="http://schemas.openxmlformats.org/drawingml/2006/main">
            <a:off x="2571750" y="4076700"/>
            <a:ext cx="952500" cy="96202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5a71077344744"/>
          <a:srcRect xmlns:a="http://schemas.openxmlformats.org/drawingml/2006/main" l="27514" t="68352" r="60870" b="22566"/>
          <a:stretch xmlns:a="http://schemas.openxmlformats.org/drawingml/2006/main"/>
        </p:blipFill>
        <p:spPr>
          <a:xfrm xmlns:a="http://schemas.openxmlformats.org/drawingml/2006/main">
            <a:off x="3857625" y="6953250"/>
            <a:ext cx="1628775" cy="92392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056a873e741eb"/>
          <a:srcRect xmlns:a="http://schemas.openxmlformats.org/drawingml/2006/main" l="48641" t="65356" r="47486" b="28371"/>
          <a:stretch xmlns:a="http://schemas.openxmlformats.org/drawingml/2006/main"/>
        </p:blipFill>
        <p:spPr>
          <a:xfrm xmlns:a="http://schemas.openxmlformats.org/drawingml/2006/main">
            <a:off x="6819900" y="6648450"/>
            <a:ext cx="542925" cy="63817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c1dc41cab429c"/>
          <a:srcRect xmlns:a="http://schemas.openxmlformats.org/drawingml/2006/main" l="60054" t="65356" r="36005" b="27715"/>
          <a:stretch xmlns:a="http://schemas.openxmlformats.org/drawingml/2006/main"/>
        </p:blipFill>
        <p:spPr>
          <a:xfrm xmlns:a="http://schemas.openxmlformats.org/drawingml/2006/main">
            <a:off x="8420100" y="6648450"/>
            <a:ext cx="552450" cy="704850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7c5a7909341ef"/>
          <a:srcRect xmlns:a="http://schemas.openxmlformats.org/drawingml/2006/main" l="47418" t="72846" r="44361" b="23502"/>
          <a:stretch xmlns:a="http://schemas.openxmlformats.org/drawingml/2006/main"/>
        </p:blipFill>
        <p:spPr>
          <a:xfrm xmlns:a="http://schemas.openxmlformats.org/drawingml/2006/main">
            <a:off x="6648450" y="7410450"/>
            <a:ext cx="1152525" cy="371475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36c24dc98438a"/>
          <a:srcRect xmlns:a="http://schemas.openxmlformats.org/drawingml/2006/main" l="58628" t="72285" r="38451" b="23408"/>
          <a:stretch xmlns:a="http://schemas.openxmlformats.org/drawingml/2006/main"/>
        </p:blipFill>
        <p:spPr>
          <a:xfrm xmlns:a="http://schemas.openxmlformats.org/drawingml/2006/main">
            <a:off x="8220075" y="7353300"/>
            <a:ext cx="409575" cy="438150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302c87dc44972"/>
          <a:srcRect xmlns:a="http://schemas.openxmlformats.org/drawingml/2006/main" l="48845" t="80805" r="45924" b="14513"/>
          <a:stretch xmlns:a="http://schemas.openxmlformats.org/drawingml/2006/main"/>
        </p:blipFill>
        <p:spPr>
          <a:xfrm xmlns:a="http://schemas.openxmlformats.org/drawingml/2006/main">
            <a:off x="6848475" y="8220075"/>
            <a:ext cx="733425" cy="476250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28c6d5e2945da"/>
          <a:srcRect xmlns:a="http://schemas.openxmlformats.org/drawingml/2006/main" l="57405" t="82491" r="36753" b="14607"/>
          <a:stretch xmlns:a="http://schemas.openxmlformats.org/drawingml/2006/main"/>
        </p:blipFill>
        <p:spPr>
          <a:xfrm xmlns:a="http://schemas.openxmlformats.org/drawingml/2006/main">
            <a:off x="8048625" y="8391525"/>
            <a:ext cx="819150" cy="29527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f3e22a1a44b60"/>
          <a:srcRect xmlns:a="http://schemas.openxmlformats.org/drawingml/2006/main" l="53193" t="88577" r="41984" b="7959"/>
          <a:stretch xmlns:a="http://schemas.openxmlformats.org/drawingml/2006/main"/>
        </p:blipFill>
        <p:spPr>
          <a:xfrm xmlns:a="http://schemas.openxmlformats.org/drawingml/2006/main">
            <a:off x="7458075" y="9010650"/>
            <a:ext cx="676275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49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2026-08-09T16:47:10.8890000Z</dcterms:created>
  <dcterms:modified xsi:type="dcterms:W3CDTF">2026-08-09T16:47:10.8890000Z</dcterms:modified>
</coreProperties>
</file>