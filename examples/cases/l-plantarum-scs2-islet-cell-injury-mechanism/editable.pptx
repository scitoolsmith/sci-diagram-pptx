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a5937f915dc4cdd" /><Relationship Type="http://schemas.openxmlformats.org/officeDocument/2006/relationships/extended-properties" Target="/docProps/app.xml" Id="R775fa1de7d914d02" /><Relationship Type="http://schemas.openxmlformats.org/officeDocument/2006/relationships/officeDocument" Target="/ppt/presentation.xml" Id="Ra6da0e750308449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e9db25b76b64489"/>
  </p:sldMasterIdLst>
  <p:notesMasterIdLst>
    <p:notesMasterId xmlns:r="http://schemas.openxmlformats.org/officeDocument/2006/relationships" r:id="R4c7ac16ec08a4898"/>
  </p:notesMasterIdLst>
  <p:sldIdLst>
    <p:sldId xmlns:r="http://schemas.openxmlformats.org/officeDocument/2006/relationships" id="256" r:id="R25f1841b5ed04f95"/>
  </p:sldIdLst>
  <p:sldSz cx="14020800" cy="101727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a9611821240467d" /><Relationship Type="http://schemas.openxmlformats.org/officeDocument/2006/relationships/slideMaster" Target="/ppt/slideMasters/slideMaster1.xml" Id="R0e9db25b76b64489" /><Relationship Type="http://schemas.openxmlformats.org/officeDocument/2006/relationships/notesMaster" Target="/ppt/notesMasters/notesMaster1.xml" Id="R4c7ac16ec08a4898" /><Relationship Type="http://schemas.openxmlformats.org/officeDocument/2006/relationships/presProps" Target="/ppt/presProps.xml" Id="R3c7a99d159454f65" /><Relationship Type="http://schemas.openxmlformats.org/officeDocument/2006/relationships/tableStyles" Target="/ppt/tableStyles.xml" Id="R038c769ea7834d59" /><Relationship Type="http://schemas.openxmlformats.org/officeDocument/2006/relationships/slide" Target="/ppt/slides/slide1.xml" Id="R25f1841b5ed04f9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d87eb84234d462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125b62533c54b9a" /><Relationship Type="http://schemas.openxmlformats.org/officeDocument/2006/relationships/notesMaster" Target="/ppt/notesMasters/notesMaster1.xml" Id="R7b07e61e213e455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 image: source.png (local, delivered beside build.mjs)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17682acf524ef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6a3988bee564e8e" /><Relationship Type="http://schemas.openxmlformats.org/officeDocument/2006/relationships/slideLayout" Target="/ppt/slideLayouts/slideLayout1.xml" Id="R86149f2bfc674fb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6149f2bfc674fb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772dbf878d4c10" /><Relationship Type="http://schemas.openxmlformats.org/officeDocument/2006/relationships/image" Target="/ppt/media/image.png" Id="R66f0e9d9633240bf" /><Relationship Type="http://schemas.openxmlformats.org/officeDocument/2006/relationships/image" Target="/ppt/media/image2.png" Id="Rce1de0bf1a62403e" /><Relationship Type="http://schemas.openxmlformats.org/officeDocument/2006/relationships/image" Target="/ppt/media/image3.png" Id="R246732bb77144b3c" /><Relationship Type="http://schemas.openxmlformats.org/officeDocument/2006/relationships/image" Target="/ppt/media/image4.png" Id="Re635a71077344744" /><Relationship Type="http://schemas.openxmlformats.org/officeDocument/2006/relationships/image" Target="/ppt/media/image5.png" Id="Re0c056a873e741eb" /><Relationship Type="http://schemas.openxmlformats.org/officeDocument/2006/relationships/image" Target="/ppt/media/image6.png" Id="R0b8c1dc41cab429c" /><Relationship Type="http://schemas.openxmlformats.org/officeDocument/2006/relationships/image" Target="/ppt/media/image7.png" Id="R3967c5a7909341ef" /><Relationship Type="http://schemas.openxmlformats.org/officeDocument/2006/relationships/image" Target="/ppt/media/image8.png" Id="R1d836c24dc98438a" /><Relationship Type="http://schemas.openxmlformats.org/officeDocument/2006/relationships/image" Target="/ppt/media/image9.png" Id="Rcab302c87dc44972" /><Relationship Type="http://schemas.openxmlformats.org/officeDocument/2006/relationships/image" Target="/ppt/media/image10.png" Id="R49428c6d5e2945da" /><Relationship Type="http://schemas.openxmlformats.org/officeDocument/2006/relationships/image" Target="/ppt/media/image11.png" Id="R3d0f3e22a1a44b60" /><Relationship Type="http://schemas.openxmlformats.org/officeDocument/2006/relationships/notesSlide" Target="/ppt/notesSlides/notesSlide1.xml" Id="R04b21a9cacdc4c9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source-canvas-frame">
            <a:extLst xmlns:a="http://schemas.openxmlformats.org/drawingml/2006/main">
              <a:ext uri="{FF2B5EF4-FFF2-40B4-BE49-F238E27FC236}">
                <a16:creationId xmlns:a16="http://schemas.microsoft.com/office/drawing/2014/main" id="{66049F20-934D-496D-92F3-C8577E12F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3" y="4763"/>
            <a:ext cx="14011275" cy="10163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B4B4B4"/>
            </a:solidFill>
            <a:prstDash val="solid"/>
          </a:ln>
        </p:spPr>
      </p:sp>
      <p:sp>
        <p:nvSpPr>
          <p:cNvPr id="2" name="separator-left-center">
            <a:extLst xmlns:a="http://schemas.openxmlformats.org/drawingml/2006/main">
              <a:ext uri="{FF2B5EF4-FFF2-40B4-BE49-F238E27FC236}">
                <a16:creationId xmlns:a16="http://schemas.microsoft.com/office/drawing/2014/main" id="{DABF10D8-3A9E-48A1-9259-4D8F44F3B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7625"/>
            <a:ext cx="9525" cy="6257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906">
            <a:solidFill>
              <a:srgbClr val="4A4A4A"/>
            </a:solidFill>
            <a:prstDash val="dash"/>
          </a:ln>
        </p:spPr>
      </p:sp>
      <p:sp>
        <p:nvSpPr>
          <p:cNvPr id="3" name="separator-center-right">
            <a:extLst xmlns:a="http://schemas.openxmlformats.org/drawingml/2006/main">
              <a:ext uri="{FF2B5EF4-FFF2-40B4-BE49-F238E27FC236}">
                <a16:creationId xmlns:a16="http://schemas.microsoft.com/office/drawing/2014/main" id="{E5029253-189A-49B6-A41E-E5916BEB7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47625"/>
            <a:ext cx="9525" cy="6257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906">
            <a:solidFill>
              <a:srgbClr val="4A4A4A"/>
            </a:solidFill>
            <a:prstDash val="dash"/>
          </a:ln>
        </p:spPr>
      </p:sp>
      <p:sp>
        <p:nvSpPr>
          <p:cNvPr id="4" name="separator-right-summary">
            <a:extLst xmlns:a="http://schemas.openxmlformats.org/drawingml/2006/main">
              <a:ext uri="{FF2B5EF4-FFF2-40B4-BE49-F238E27FC236}">
                <a16:creationId xmlns:a16="http://schemas.microsoft.com/office/drawing/2014/main" id="{4D90D270-882C-461F-BCE5-2B172B078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58650" y="47625"/>
            <a:ext cx="9525" cy="6257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906">
            <a:solidFill>
              <a:srgbClr val="4A4A4A"/>
            </a:solidFill>
            <a:prstDash val="dash"/>
          </a:ln>
        </p:spPr>
      </p:sp>
      <p:sp>
        <p:nvSpPr>
          <p:cNvPr id="5" name="separator-top-bottom">
            <a:extLst xmlns:a="http://schemas.openxmlformats.org/drawingml/2006/main">
              <a:ext uri="{FF2B5EF4-FFF2-40B4-BE49-F238E27FC236}">
                <a16:creationId xmlns:a16="http://schemas.microsoft.com/office/drawing/2014/main" id="{6AD1AED9-707E-45AF-BEF0-52C187CE8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" y="6305550"/>
            <a:ext cx="139255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906">
            <a:solidFill>
              <a:srgbClr val="4A4A4A"/>
            </a:solidFill>
            <a:prstDash val="dash"/>
          </a:ln>
        </p:spPr>
      </p:sp>
      <p:sp>
        <p:nvSpPr>
          <p:cNvPr id="6" name="left_title">
            <a:extLst xmlns:a="http://schemas.openxmlformats.org/drawingml/2006/main">
              <a:ext uri="{FF2B5EF4-FFF2-40B4-BE49-F238E27FC236}">
                <a16:creationId xmlns:a16="http://schemas.microsoft.com/office/drawing/2014/main" id="{E3133CA8-C2EE-49AB-9AF8-62AB24B2C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123825"/>
            <a:ext cx="3609975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0E88C0"/>
          </a:solidFill>
          <a:ln xmlns:a="http://schemas.openxmlformats.org/drawingml/2006/main" w="11430">
            <a:solidFill>
              <a:srgbClr val="006D99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buNone/>
              <a:defRPr sz="16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650" b="1" i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L. plantarum</a:t>
            </a:r>
            <a:r>
              <a:rPr sz="165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 SCS2胞内小分子肽调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16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65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控铁死亡及谷胱胺间腺质氧化损伤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16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65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的作用研究</a:t>
            </a:r>
          </a:p>
        </p:txBody>
      </p:sp>
      <p:sp>
        <p:nvSpPr>
          <p:cNvPr id="7" name="left_peptide">
            <a:extLst xmlns:a="http://schemas.openxmlformats.org/drawingml/2006/main">
              <a:ext uri="{FF2B5EF4-FFF2-40B4-BE49-F238E27FC236}">
                <a16:creationId xmlns:a16="http://schemas.microsoft.com/office/drawing/2014/main" id="{F03DA9FE-64B0-4A2E-A619-89EEAA428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2571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BBD9F2"/>
          </a:solidFill>
          <a:ln xmlns:a="http://schemas.openxmlformats.org/drawingml/2006/main" w="11430">
            <a:solidFill>
              <a:srgbClr val="6C9FC5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500" b="0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500" b="0" i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L. plantarum</a:t>
            </a:r>
            <a:r>
              <a:rPr sz="1500" b="0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 SCS2小分子肽</a:t>
            </a:r>
          </a:p>
        </p:txBody>
      </p:sp>
      <p:sp>
        <p:nvSpPr>
          <p:cNvPr id="8" name="left_damage_group">
            <a:extLst xmlns:a="http://schemas.openxmlformats.org/drawingml/2006/main">
              <a:ext uri="{FF2B5EF4-FFF2-40B4-BE49-F238E27FC236}">
                <a16:creationId xmlns:a16="http://schemas.microsoft.com/office/drawing/2014/main" id="{C96FC382-8BD6-44C3-A61F-800C91D40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1866900"/>
            <a:ext cx="3276600" cy="581025"/>
          </a:xfrm>
          <a:prstGeom xmlns:a="http://schemas.openxmlformats.org/drawingml/2006/main" prst="roundRect">
            <a:avLst>
              <a:gd name="adj" fmla="val 2623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4A4A4A"/>
            </a:solidFill>
            <a:prstDash val="dash"/>
          </a:ln>
        </p:spPr>
      </p:sp>
      <p:sp>
        <p:nvSpPr>
          <p:cNvPr id="9" name="left_damage_model">
            <a:extLst xmlns:a="http://schemas.openxmlformats.org/drawingml/2006/main">
              <a:ext uri="{FF2B5EF4-FFF2-40B4-BE49-F238E27FC236}">
                <a16:creationId xmlns:a16="http://schemas.microsoft.com/office/drawing/2014/main" id="{D413F4D0-C88B-43CF-817D-E35BB3F6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33575"/>
            <a:ext cx="1590675" cy="447675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BBD9F2"/>
          </a:solidFill>
          <a:ln xmlns:a="http://schemas.openxmlformats.org/drawingml/2006/main" w="11430">
            <a:solidFill>
              <a:srgbClr val="6C9FC5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350" b="0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350" b="0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建立脂质稳态损伤</a:t>
            </a:r>
          </a:p>
          <a:p xmlns:a="http://schemas.openxmlformats.org/drawingml/2006/main">
            <a:pPr algn="ctr">
              <a:lnSpc>
                <a:spcPct val="96000"/>
              </a:lnSpc>
              <a:buNone/>
              <a:defRPr sz="1350" b="0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350" b="0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物模型</a:t>
            </a:r>
          </a:p>
        </p:txBody>
      </p:sp>
      <p:sp>
        <p:nvSpPr>
          <p:cNvPr id="10" name="left_min6">
            <a:extLst xmlns:a="http://schemas.openxmlformats.org/drawingml/2006/main">
              <a:ext uri="{FF2B5EF4-FFF2-40B4-BE49-F238E27FC236}">
                <a16:creationId xmlns:a16="http://schemas.microsoft.com/office/drawing/2014/main" id="{B3F4E767-2FE5-4C21-A94E-6A46CC992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1943100"/>
            <a:ext cx="1095375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BBD9F2"/>
          </a:solidFill>
          <a:ln xmlns:a="http://schemas.openxmlformats.org/drawingml/2006/main" w="11430">
            <a:solidFill>
              <a:srgbClr val="6C9FC5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425" b="0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425" b="0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min6细胞</a:t>
            </a:r>
          </a:p>
        </p:txBody>
      </p:sp>
      <p:sp>
        <p:nvSpPr>
          <p:cNvPr id="11" name="left_assay_group">
            <a:extLst xmlns:a="http://schemas.openxmlformats.org/drawingml/2006/main">
              <a:ext uri="{FF2B5EF4-FFF2-40B4-BE49-F238E27FC236}">
                <a16:creationId xmlns:a16="http://schemas.microsoft.com/office/drawing/2014/main" id="{B3A1592B-09E5-45F1-9FEE-BCCF0FAE2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009900"/>
            <a:ext cx="1657350" cy="1781175"/>
          </a:xfrm>
          <a:prstGeom xmlns:a="http://schemas.openxmlformats.org/drawingml/2006/main" prst="roundRect">
            <a:avLst>
              <a:gd name="adj" fmla="val 14943"/>
            </a:avLst>
          </a:prstGeom>
          <a:noFill xmlns:a="http://schemas.openxmlformats.org/drawingml/2006/main"/>
          <a:ln xmlns:a="http://schemas.openxmlformats.org/drawingml/2006/main" w="16193">
            <a:solidFill>
              <a:srgbClr val="194C86"/>
            </a:solidFill>
            <a:prstDash val="dash"/>
          </a:ln>
        </p:spPr>
      </p:sp>
      <p:sp>
        <p:nvSpPr>
          <p:cNvPr id="12" name="left_rtqpcr">
            <a:extLst xmlns:a="http://schemas.openxmlformats.org/drawingml/2006/main">
              <a:ext uri="{FF2B5EF4-FFF2-40B4-BE49-F238E27FC236}">
                <a16:creationId xmlns:a16="http://schemas.microsoft.com/office/drawing/2014/main" id="{B669BE67-36FE-447D-B8B8-57C830AB9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62300"/>
            <a:ext cx="1304925" cy="295275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CEE7DA"/>
          </a:solidFill>
          <a:ln xmlns:a="http://schemas.openxmlformats.org/drawingml/2006/main" w="9525">
            <a:solidFill>
              <a:srgbClr val="79AA97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425" b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RT-qPCR</a:t>
            </a:r>
          </a:p>
        </p:txBody>
      </p:sp>
      <p:sp>
        <p:nvSpPr>
          <p:cNvPr id="13" name="left_wb">
            <a:extLst xmlns:a="http://schemas.openxmlformats.org/drawingml/2006/main">
              <a:ext uri="{FF2B5EF4-FFF2-40B4-BE49-F238E27FC236}">
                <a16:creationId xmlns:a16="http://schemas.microsoft.com/office/drawing/2014/main" id="{ECE46F10-0322-4BBF-B00E-D70C5F96C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43300"/>
            <a:ext cx="1304925" cy="295275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CEE7DA"/>
          </a:solidFill>
          <a:ln xmlns:a="http://schemas.openxmlformats.org/drawingml/2006/main" w="9525">
            <a:solidFill>
              <a:srgbClr val="79AA97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425" b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WB</a:t>
            </a:r>
          </a:p>
        </p:txBody>
      </p:sp>
      <p:sp>
        <p:nvSpPr>
          <p:cNvPr id="14" name="left_elisa">
            <a:extLst xmlns:a="http://schemas.openxmlformats.org/drawingml/2006/main">
              <a:ext uri="{FF2B5EF4-FFF2-40B4-BE49-F238E27FC236}">
                <a16:creationId xmlns:a16="http://schemas.microsoft.com/office/drawing/2014/main" id="{F7509D2A-69D8-4CDB-A230-813A6E0E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24300"/>
            <a:ext cx="1304925" cy="285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CEE7DA"/>
          </a:solidFill>
          <a:ln xmlns:a="http://schemas.openxmlformats.org/drawingml/2006/main" w="9525">
            <a:solidFill>
              <a:srgbClr val="79AA97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425" b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ELISA</a:t>
            </a:r>
          </a:p>
        </p:txBody>
      </p:sp>
      <p:sp>
        <p:nvSpPr>
          <p:cNvPr id="15" name="left_iron">
            <a:extLst xmlns:a="http://schemas.openxmlformats.org/drawingml/2006/main">
              <a:ext uri="{FF2B5EF4-FFF2-40B4-BE49-F238E27FC236}">
                <a16:creationId xmlns:a16="http://schemas.microsoft.com/office/drawing/2014/main" id="{49F3CFAC-CD20-44A5-A0B2-698335EFE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95775"/>
            <a:ext cx="1304925" cy="295275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CEE7DA"/>
          </a:solidFill>
          <a:ln xmlns:a="http://schemas.openxmlformats.org/drawingml/2006/main" w="9525">
            <a:solidFill>
              <a:srgbClr val="79AA97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350" b="0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350" b="0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铁离子比色法</a:t>
            </a:r>
          </a:p>
        </p:txBody>
      </p:sp>
      <p:sp>
        <p:nvSpPr>
          <p:cNvPr id="16" name="left_lcms">
            <a:extLst xmlns:a="http://schemas.openxmlformats.org/drawingml/2006/main">
              <a:ext uri="{FF2B5EF4-FFF2-40B4-BE49-F238E27FC236}">
                <a16:creationId xmlns:a16="http://schemas.microsoft.com/office/drawing/2014/main" id="{D71527C3-ECED-4769-A3AC-5D44D4968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714750"/>
            <a:ext cx="110490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CEE7DA"/>
          </a:solidFill>
          <a:ln xmlns:a="http://schemas.openxmlformats.org/drawingml/2006/main" w="9525">
            <a:solidFill>
              <a:srgbClr val="79AA97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350" b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LC-MS/MS</a:t>
            </a:r>
          </a:p>
        </p:txBody>
      </p:sp>
      <p:sp>
        <p:nvSpPr>
          <p:cNvPr id="17" name="left_effect">
            <a:extLst xmlns:a="http://schemas.openxmlformats.org/drawingml/2006/main">
              <a:ext uri="{FF2B5EF4-FFF2-40B4-BE49-F238E27FC236}">
                <a16:creationId xmlns:a16="http://schemas.microsoft.com/office/drawing/2014/main" id="{B9C58CB7-92E1-479F-9F76-5D6F00871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" y="5057775"/>
            <a:ext cx="2095500" cy="1123950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FFF687"/>
          </a:solidFill>
          <a:ln xmlns:a="http://schemas.openxmlformats.org/drawingml/2006/main" w="11430">
            <a:solidFill>
              <a:srgbClr val="D1B929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500" b="1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500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明确</a:t>
            </a:r>
            <a:r>
              <a:rPr sz="1500" b="1" i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L.plantarum</a:t>
            </a:r>
          </a:p>
          <a:p xmlns:a="http://schemas.openxmlformats.org/drawingml/2006/main">
            <a:pPr algn="ctr">
              <a:lnSpc>
                <a:spcPct val="96000"/>
              </a:lnSpc>
              <a:buNone/>
              <a:defRPr sz="1500" b="1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500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SCS2胞内小分子肽</a:t>
            </a:r>
          </a:p>
          <a:p xmlns:a="http://schemas.openxmlformats.org/drawingml/2006/main">
            <a:pPr algn="ctr">
              <a:lnSpc>
                <a:spcPct val="96000"/>
              </a:lnSpc>
              <a:buNone/>
              <a:defRPr sz="1500" b="1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500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是否具有改善胰岛</a:t>
            </a:r>
            <a:r>
              <a:rPr sz="1500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β</a:t>
            </a:r>
          </a:p>
          <a:p xmlns:a="http://schemas.openxmlformats.org/drawingml/2006/main">
            <a:pPr algn="ctr">
              <a:lnSpc>
                <a:spcPct val="96000"/>
              </a:lnSpc>
              <a:buNone/>
              <a:defRPr sz="1500" b="1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500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细胞氧化损伤作用</a:t>
            </a:r>
          </a:p>
        </p:txBody>
      </p:sp>
      <p:sp>
        <p:nvSpPr>
          <p:cNvPr id="18" name="left_info">
            <a:extLst xmlns:a="http://schemas.openxmlformats.org/drawingml/2006/main">
              <a:ext uri="{FF2B5EF4-FFF2-40B4-BE49-F238E27FC236}">
                <a16:creationId xmlns:a16="http://schemas.microsoft.com/office/drawing/2014/main" id="{6337B7DD-C77B-447F-814A-CCF5FBAFE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095875"/>
            <a:ext cx="1209675" cy="1085850"/>
          </a:xfrm>
          <a:prstGeom xmlns:a="http://schemas.openxmlformats.org/drawingml/2006/main" prst="roundRect">
            <a:avLst>
              <a:gd name="adj" fmla="val 14035"/>
            </a:avLst>
          </a:prstGeom>
          <a:solidFill xmlns:a="http://schemas.openxmlformats.org/drawingml/2006/main">
            <a:srgbClr val="FFF687"/>
          </a:solidFill>
          <a:ln xmlns:a="http://schemas.openxmlformats.org/drawingml/2006/main" w="11430">
            <a:solidFill>
              <a:srgbClr val="D1B929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500" b="1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500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获取理论</a:t>
            </a:r>
          </a:p>
          <a:p xmlns:a="http://schemas.openxmlformats.org/drawingml/2006/main">
            <a:pPr algn="ctr">
              <a:lnSpc>
                <a:spcPct val="96000"/>
              </a:lnSpc>
              <a:buNone/>
              <a:defRPr sz="1500" b="1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500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分子量、</a:t>
            </a:r>
          </a:p>
          <a:p xmlns:a="http://schemas.openxmlformats.org/drawingml/2006/main">
            <a:pPr algn="ctr">
              <a:lnSpc>
                <a:spcPct val="96000"/>
              </a:lnSpc>
              <a:buNone/>
              <a:defRPr sz="1500" b="1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500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氨基酸序</a:t>
            </a:r>
          </a:p>
          <a:p xmlns:a="http://schemas.openxmlformats.org/drawingml/2006/main">
            <a:pPr algn="ctr">
              <a:lnSpc>
                <a:spcPct val="96000"/>
              </a:lnSpc>
              <a:buNone/>
              <a:defRPr sz="1500" b="1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500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列等信息</a:t>
            </a:r>
          </a:p>
        </p:txBody>
      </p:sp>
      <p:sp>
        <p:nvSpPr>
          <p:cNvPr id="19" name="center_title">
            <a:extLst xmlns:a="http://schemas.openxmlformats.org/drawingml/2006/main">
              <a:ext uri="{FF2B5EF4-FFF2-40B4-BE49-F238E27FC236}">
                <a16:creationId xmlns:a16="http://schemas.microsoft.com/office/drawing/2014/main" id="{3BEAC29B-BF06-4BCF-B57C-593594A0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23825"/>
            <a:ext cx="3600450" cy="923925"/>
          </a:xfrm>
          <a:prstGeom xmlns:a="http://schemas.openxmlformats.org/drawingml/2006/main" prst="roundRect">
            <a:avLst>
              <a:gd name="adj" fmla="val 18557"/>
            </a:avLst>
          </a:prstGeom>
          <a:solidFill xmlns:a="http://schemas.openxmlformats.org/drawingml/2006/main">
            <a:srgbClr val="0E88C0"/>
          </a:solidFill>
          <a:ln xmlns:a="http://schemas.openxmlformats.org/drawingml/2006/main" w="11430">
            <a:solidFill>
              <a:srgbClr val="006D99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buNone/>
              <a:defRPr sz="1575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575" b="1" i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L. plantarum</a:t>
            </a:r>
            <a:r>
              <a:rPr sz="1575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 SCS2胞内小分子肽通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1575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575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过lncRNA MEG3调控Nrf2抑制胰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1575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575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岛</a:t>
            </a:r>
            <a:r>
              <a:rPr sz="1575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β</a:t>
            </a:r>
            <a:r>
              <a:rPr sz="1575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细胞铁死亡的机制研究</a:t>
            </a:r>
          </a:p>
        </p:txBody>
      </p:sp>
      <p:sp>
        <p:nvSpPr>
          <p:cNvPr id="20" name="center_rna">
            <a:extLst xmlns:a="http://schemas.openxmlformats.org/drawingml/2006/main">
              <a:ext uri="{FF2B5EF4-FFF2-40B4-BE49-F238E27FC236}">
                <a16:creationId xmlns:a16="http://schemas.microsoft.com/office/drawing/2014/main" id="{33CF8229-4CBE-4CB5-93C4-4E27F9684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228725"/>
            <a:ext cx="1885950" cy="695325"/>
          </a:xfrm>
          <a:prstGeom xmlns:a="http://schemas.openxmlformats.org/drawingml/2006/main" prst="roundRect">
            <a:avLst>
              <a:gd name="adj" fmla="val 10959"/>
            </a:avLst>
          </a:prstGeom>
          <a:solidFill xmlns:a="http://schemas.openxmlformats.org/drawingml/2006/main">
            <a:srgbClr val="BBD9F2"/>
          </a:solidFill>
          <a:ln xmlns:a="http://schemas.openxmlformats.org/drawingml/2006/main" w="11430">
            <a:solidFill>
              <a:srgbClr val="6C9FC5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350" b="1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350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RNA pull down实验</a:t>
            </a:r>
          </a:p>
          <a:p xmlns:a="http://schemas.openxmlformats.org/drawingml/2006/main">
            <a:pPr algn="ctr">
              <a:lnSpc>
                <a:spcPct val="96000"/>
              </a:lnSpc>
              <a:buNone/>
              <a:defRPr sz="1350" b="1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350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RIP实验</a:t>
            </a:r>
          </a:p>
          <a:p xmlns:a="http://schemas.openxmlformats.org/drawingml/2006/main">
            <a:pPr algn="ctr">
              <a:lnSpc>
                <a:spcPct val="96000"/>
              </a:lnSpc>
              <a:buNone/>
              <a:defRPr sz="1350" b="1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350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双荧光素酶报告实验</a:t>
            </a:r>
          </a:p>
        </p:txBody>
      </p:sp>
      <p:sp>
        <p:nvSpPr>
          <p:cNvPr id="21" name="center_plasmid">
            <a:extLst xmlns:a="http://schemas.openxmlformats.org/drawingml/2006/main">
              <a:ext uri="{FF2B5EF4-FFF2-40B4-BE49-F238E27FC236}">
                <a16:creationId xmlns:a16="http://schemas.microsoft.com/office/drawing/2014/main" id="{92729D61-244F-4831-881D-EDF8D0A27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219200"/>
            <a:ext cx="18859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BBD9F2"/>
          </a:solidFill>
          <a:ln xmlns:a="http://schemas.openxmlformats.org/drawingml/2006/main" w="11430">
            <a:solidFill>
              <a:srgbClr val="6C9FC5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350" b="1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350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lncRNA MEG3 过</a:t>
            </a:r>
          </a:p>
          <a:p xmlns:a="http://schemas.openxmlformats.org/drawingml/2006/main">
            <a:pPr algn="ctr">
              <a:lnSpc>
                <a:spcPct val="96000"/>
              </a:lnSpc>
              <a:buNone/>
              <a:defRPr sz="1350" b="1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350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表达/表达缺损质粒</a:t>
            </a:r>
          </a:p>
          <a:p xmlns:a="http://schemas.openxmlformats.org/drawingml/2006/main">
            <a:pPr algn="ctr">
              <a:lnSpc>
                <a:spcPct val="96000"/>
              </a:lnSpc>
              <a:buNone/>
              <a:defRPr sz="1350" b="1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350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建和转染</a:t>
            </a:r>
          </a:p>
        </p:txBody>
      </p:sp>
      <p:sp>
        <p:nvSpPr>
          <p:cNvPr id="22" name="center_relation">
            <a:extLst xmlns:a="http://schemas.openxmlformats.org/drawingml/2006/main">
              <a:ext uri="{FF2B5EF4-FFF2-40B4-BE49-F238E27FC236}">
                <a16:creationId xmlns:a16="http://schemas.microsoft.com/office/drawing/2014/main" id="{D18CEB52-3E52-448E-8889-7388319FA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028825"/>
            <a:ext cx="44386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7FCFF"/>
          </a:solidFill>
          <a:ln xmlns:a="http://schemas.openxmlformats.org/drawingml/2006/main" w="11430">
            <a:solidFill>
              <a:srgbClr val="6797B8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350" b="1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350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明确lncRNA MEG3、 miR-93和Nrf2之间的靶向调控关系</a:t>
            </a:r>
          </a:p>
        </p:txBody>
      </p:sp>
      <p:sp>
        <p:nvSpPr>
          <p:cNvPr id="23" name="center_peptide">
            <a:extLst xmlns:a="http://schemas.openxmlformats.org/drawingml/2006/main">
              <a:ext uri="{FF2B5EF4-FFF2-40B4-BE49-F238E27FC236}">
                <a16:creationId xmlns:a16="http://schemas.microsoft.com/office/drawing/2014/main" id="{78523AE4-6276-4B86-ABEE-E01BC8A66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724150"/>
            <a:ext cx="3133725" cy="428625"/>
          </a:xfrm>
          <a:prstGeom xmlns:a="http://schemas.openxmlformats.org/drawingml/2006/main" prst="roundRect">
            <a:avLst>
              <a:gd name="adj" fmla="val 17778"/>
            </a:avLst>
          </a:prstGeom>
          <a:solidFill xmlns:a="http://schemas.openxmlformats.org/drawingml/2006/main">
            <a:srgbClr val="BBD9F2"/>
          </a:solidFill>
          <a:ln xmlns:a="http://schemas.openxmlformats.org/drawingml/2006/main" w="11430">
            <a:solidFill>
              <a:srgbClr val="6C9FC5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500" b="0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500" b="0" i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L. plantarum</a:t>
            </a:r>
            <a:r>
              <a:rPr sz="1500" b="0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 SCS2小分子肽</a:t>
            </a:r>
          </a:p>
        </p:txBody>
      </p:sp>
      <p:sp>
        <p:nvSpPr>
          <p:cNvPr id="24" name="center_min6">
            <a:extLst xmlns:a="http://schemas.openxmlformats.org/drawingml/2006/main">
              <a:ext uri="{FF2B5EF4-FFF2-40B4-BE49-F238E27FC236}">
                <a16:creationId xmlns:a16="http://schemas.microsoft.com/office/drawing/2014/main" id="{BC1811BB-9D9D-422D-B0C9-3AE906A1B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295650"/>
            <a:ext cx="1085850" cy="352425"/>
          </a:xfrm>
          <a:prstGeom xmlns:a="http://schemas.openxmlformats.org/drawingml/2006/main" prst="roundRect">
            <a:avLst>
              <a:gd name="adj" fmla="val 21622"/>
            </a:avLst>
          </a:prstGeom>
          <a:solidFill xmlns:a="http://schemas.openxmlformats.org/drawingml/2006/main">
            <a:srgbClr val="BBD9F2"/>
          </a:solidFill>
          <a:ln xmlns:a="http://schemas.openxmlformats.org/drawingml/2006/main" w="11430">
            <a:solidFill>
              <a:srgbClr val="6C9FC5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425" b="0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425" b="0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min6细胞</a:t>
            </a:r>
          </a:p>
        </p:txBody>
      </p:sp>
      <p:sp>
        <p:nvSpPr>
          <p:cNvPr id="25" name="center_meg">
            <a:extLst xmlns:a="http://schemas.openxmlformats.org/drawingml/2006/main">
              <a:ext uri="{FF2B5EF4-FFF2-40B4-BE49-F238E27FC236}">
                <a16:creationId xmlns:a16="http://schemas.microsoft.com/office/drawing/2014/main" id="{9AB56524-57B2-4866-9C8C-EB75812EE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3933825"/>
            <a:ext cx="1276350" cy="466725"/>
          </a:xfrm>
          <a:prstGeom xmlns:a="http://schemas.openxmlformats.org/drawingml/2006/main" prst="roundRect">
            <a:avLst>
              <a:gd name="adj" fmla="val 16327"/>
            </a:avLst>
          </a:prstGeom>
          <a:solidFill xmlns:a="http://schemas.openxmlformats.org/drawingml/2006/main">
            <a:srgbClr val="FFF9E9"/>
          </a:solidFill>
          <a:ln xmlns:a="http://schemas.openxmlformats.org/drawingml/2006/main" w="9525">
            <a:solidFill>
              <a:srgbClr val="D0C5A6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275" b="1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275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沉默/过表达</a:t>
            </a:r>
          </a:p>
          <a:p xmlns:a="http://schemas.openxmlformats.org/drawingml/2006/main">
            <a:pPr algn="ctr">
              <a:lnSpc>
                <a:spcPct val="96000"/>
              </a:lnSpc>
              <a:buNone/>
              <a:defRPr sz="1275" b="1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275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lncRNA MEG3</a:t>
            </a:r>
          </a:p>
        </p:txBody>
      </p:sp>
      <p:sp>
        <p:nvSpPr>
          <p:cNvPr id="26" name="center_ncoa4">
            <a:extLst xmlns:a="http://schemas.openxmlformats.org/drawingml/2006/main">
              <a:ext uri="{FF2B5EF4-FFF2-40B4-BE49-F238E27FC236}">
                <a16:creationId xmlns:a16="http://schemas.microsoft.com/office/drawing/2014/main" id="{0977FEA5-CBA7-461D-BD9B-6335DC730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933825"/>
            <a:ext cx="1200150" cy="466725"/>
          </a:xfrm>
          <a:prstGeom xmlns:a="http://schemas.openxmlformats.org/drawingml/2006/main" prst="roundRect">
            <a:avLst>
              <a:gd name="adj" fmla="val 16327"/>
            </a:avLst>
          </a:prstGeom>
          <a:solidFill xmlns:a="http://schemas.openxmlformats.org/drawingml/2006/main">
            <a:srgbClr val="FFF9E9"/>
          </a:solidFill>
          <a:ln xmlns:a="http://schemas.openxmlformats.org/drawingml/2006/main" w="9525">
            <a:solidFill>
              <a:srgbClr val="D0C5A6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275" b="1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275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沉默/过表达</a:t>
            </a:r>
          </a:p>
          <a:p xmlns:a="http://schemas.openxmlformats.org/drawingml/2006/main">
            <a:pPr algn="ctr">
              <a:lnSpc>
                <a:spcPct val="96000"/>
              </a:lnSpc>
              <a:buNone/>
              <a:defRPr sz="1275" b="1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275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NCOA4</a:t>
            </a:r>
          </a:p>
        </p:txBody>
      </p:sp>
      <p:sp>
        <p:nvSpPr>
          <p:cNvPr id="27" name="center_assay_group">
            <a:extLst xmlns:a="http://schemas.openxmlformats.org/drawingml/2006/main">
              <a:ext uri="{FF2B5EF4-FFF2-40B4-BE49-F238E27FC236}">
                <a16:creationId xmlns:a16="http://schemas.microsoft.com/office/drawing/2014/main" id="{80509D8C-6331-4A39-968C-6EE82E54F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4572000"/>
            <a:ext cx="4143375" cy="638175"/>
          </a:xfrm>
          <a:prstGeom xmlns:a="http://schemas.openxmlformats.org/drawingml/2006/main" prst="roundRect">
            <a:avLst>
              <a:gd name="adj" fmla="val 23881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4A4A4A"/>
            </a:solidFill>
            <a:prstDash val="dash"/>
          </a:ln>
        </p:spPr>
      </p:sp>
      <p:sp>
        <p:nvSpPr>
          <p:cNvPr id="28" name="center_elisa">
            <a:extLst xmlns:a="http://schemas.openxmlformats.org/drawingml/2006/main">
              <a:ext uri="{FF2B5EF4-FFF2-40B4-BE49-F238E27FC236}">
                <a16:creationId xmlns:a16="http://schemas.microsoft.com/office/drawing/2014/main" id="{6E758CC3-A5BC-45CE-A736-DD48B6FFA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667250"/>
            <a:ext cx="971550" cy="43815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CEE7DA"/>
          </a:solidFill>
          <a:ln xmlns:a="http://schemas.openxmlformats.org/drawingml/2006/main" w="9525">
            <a:solidFill>
              <a:srgbClr val="79AA97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275" b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ELISA</a:t>
            </a:r>
          </a:p>
          <a:p xmlns:a="http://schemas.openxmlformats.org/drawingml/2006/main">
            <a:pPr algn="ctr">
              <a:lnSpc>
                <a:spcPct val="96000"/>
              </a:lnSpc>
              <a:buNone/>
              <a:defRPr sz="1275" b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RT-qPCR</a:t>
            </a:r>
          </a:p>
        </p:txBody>
      </p:sp>
      <p:sp>
        <p:nvSpPr>
          <p:cNvPr id="29" name="center_wb">
            <a:extLst xmlns:a="http://schemas.openxmlformats.org/drawingml/2006/main">
              <a:ext uri="{FF2B5EF4-FFF2-40B4-BE49-F238E27FC236}">
                <a16:creationId xmlns:a16="http://schemas.microsoft.com/office/drawing/2014/main" id="{8D4365C7-D3FD-401C-8DC4-4F50BF606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4667250"/>
            <a:ext cx="942975" cy="43815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CEE7DA"/>
          </a:solidFill>
          <a:ln xmlns:a="http://schemas.openxmlformats.org/drawingml/2006/main" w="9525">
            <a:solidFill>
              <a:srgbClr val="79AA97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275" b="0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275" b="0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WB</a:t>
            </a:r>
          </a:p>
          <a:p xmlns:a="http://schemas.openxmlformats.org/drawingml/2006/main">
            <a:pPr algn="ctr">
              <a:lnSpc>
                <a:spcPct val="96000"/>
              </a:lnSpc>
              <a:buNone/>
              <a:defRPr sz="1275" b="0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275" b="0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免疫荧光</a:t>
            </a:r>
          </a:p>
        </p:txBody>
      </p:sp>
      <p:sp>
        <p:nvSpPr>
          <p:cNvPr id="30" name="center_iron">
            <a:extLst xmlns:a="http://schemas.openxmlformats.org/drawingml/2006/main">
              <a:ext uri="{FF2B5EF4-FFF2-40B4-BE49-F238E27FC236}">
                <a16:creationId xmlns:a16="http://schemas.microsoft.com/office/drawing/2014/main" id="{A9F1FEFD-1BCD-461D-9935-75361E9C2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667250"/>
            <a:ext cx="933450" cy="447675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CEE7DA"/>
          </a:solidFill>
          <a:ln xmlns:a="http://schemas.openxmlformats.org/drawingml/2006/main" w="9525">
            <a:solidFill>
              <a:srgbClr val="79AA97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275" b="0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275" b="0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铁离子比</a:t>
            </a:r>
          </a:p>
          <a:p xmlns:a="http://schemas.openxmlformats.org/drawingml/2006/main">
            <a:pPr algn="ctr">
              <a:lnSpc>
                <a:spcPct val="96000"/>
              </a:lnSpc>
              <a:buNone/>
              <a:defRPr sz="1275" b="0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275" b="0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色法</a:t>
            </a:r>
          </a:p>
        </p:txBody>
      </p:sp>
      <p:sp>
        <p:nvSpPr>
          <p:cNvPr id="31" name="center_conclusion">
            <a:extLst xmlns:a="http://schemas.openxmlformats.org/drawingml/2006/main">
              <a:ext uri="{FF2B5EF4-FFF2-40B4-BE49-F238E27FC236}">
                <a16:creationId xmlns:a16="http://schemas.microsoft.com/office/drawing/2014/main" id="{C356F9B6-BADE-4C9B-A94B-1D00B2E72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5372100"/>
            <a:ext cx="4352925" cy="771525"/>
          </a:xfrm>
          <a:prstGeom xmlns:a="http://schemas.openxmlformats.org/drawingml/2006/main" prst="roundRect">
            <a:avLst>
              <a:gd name="adj" fmla="val 19753"/>
            </a:avLst>
          </a:prstGeom>
          <a:solidFill xmlns:a="http://schemas.openxmlformats.org/drawingml/2006/main">
            <a:srgbClr val="FFF687"/>
          </a:solidFill>
          <a:ln xmlns:a="http://schemas.openxmlformats.org/drawingml/2006/main" w="11430">
            <a:solidFill>
              <a:srgbClr val="D1B929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425" b="1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425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明确</a:t>
            </a:r>
            <a:r>
              <a:rPr sz="1425" b="1" i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L.plantarum</a:t>
            </a:r>
            <a:r>
              <a:rPr sz="1425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 SCS2胞内小分子肽是否通过</a:t>
            </a:r>
          </a:p>
          <a:p xmlns:a="http://schemas.openxmlformats.org/drawingml/2006/main">
            <a:pPr algn="ctr">
              <a:lnSpc>
                <a:spcPct val="96000"/>
              </a:lnSpc>
              <a:buNone/>
              <a:defRPr sz="1425" b="1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425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lncRNA MEG3调控Nrf2抑制胰岛</a:t>
            </a:r>
            <a:r>
              <a:rPr sz="1425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β</a:t>
            </a:r>
            <a:r>
              <a:rPr sz="1425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细胞铁死亡</a:t>
            </a:r>
          </a:p>
        </p:txBody>
      </p:sp>
      <p:sp>
        <p:nvSpPr>
          <p:cNvPr id="32" name="right_title">
            <a:extLst xmlns:a="http://schemas.openxmlformats.org/drawingml/2006/main">
              <a:ext uri="{FF2B5EF4-FFF2-40B4-BE49-F238E27FC236}">
                <a16:creationId xmlns:a16="http://schemas.microsoft.com/office/drawing/2014/main" id="{A2C2E10C-FA92-477B-8282-D32C11021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23825"/>
            <a:ext cx="314325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0E88C0"/>
          </a:solidFill>
          <a:ln xmlns:a="http://schemas.openxmlformats.org/drawingml/2006/main" w="11430">
            <a:solidFill>
              <a:srgbClr val="006D99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buNone/>
              <a:defRPr sz="1575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575" b="1" i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L. plantarum</a:t>
            </a:r>
            <a:r>
              <a:rPr sz="1575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 SCS2胞内小分子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1575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575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肽对lncRNA MEG3启动子去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1575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575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甲基化的作用研究</a:t>
            </a:r>
          </a:p>
        </p:txBody>
      </p:sp>
      <p:sp>
        <p:nvSpPr>
          <p:cNvPr id="33" name="right_peptide1">
            <a:extLst xmlns:a="http://schemas.openxmlformats.org/drawingml/2006/main">
              <a:ext uri="{FF2B5EF4-FFF2-40B4-BE49-F238E27FC236}">
                <a16:creationId xmlns:a16="http://schemas.microsoft.com/office/drawing/2014/main" id="{0CCF59F4-FACD-4B90-B952-04F6343E2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1314450"/>
            <a:ext cx="1628775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BBD9F2"/>
          </a:solidFill>
          <a:ln xmlns:a="http://schemas.openxmlformats.org/drawingml/2006/main" w="11430">
            <a:solidFill>
              <a:srgbClr val="6C9FC5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425" b="0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425" b="0" i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L. plantarum</a:t>
            </a:r>
          </a:p>
          <a:p xmlns:a="http://schemas.openxmlformats.org/drawingml/2006/main">
            <a:pPr algn="ctr">
              <a:lnSpc>
                <a:spcPct val="96000"/>
              </a:lnSpc>
              <a:buNone/>
              <a:defRPr sz="1425" b="0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425" b="0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SCS2小分子肽</a:t>
            </a:r>
          </a:p>
        </p:txBody>
      </p:sp>
      <p:sp>
        <p:nvSpPr>
          <p:cNvPr id="34" name="right_damage_group">
            <a:extLst xmlns:a="http://schemas.openxmlformats.org/drawingml/2006/main">
              <a:ext uri="{FF2B5EF4-FFF2-40B4-BE49-F238E27FC236}">
                <a16:creationId xmlns:a16="http://schemas.microsoft.com/office/drawing/2014/main" id="{11128B64-3E27-4DE5-9A27-3ED216C24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057400"/>
            <a:ext cx="3162300" cy="685800"/>
          </a:xfrm>
          <a:prstGeom xmlns:a="http://schemas.openxmlformats.org/drawingml/2006/main" prst="roundRect">
            <a:avLst>
              <a:gd name="adj" fmla="val 22222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4A4A4A"/>
            </a:solidFill>
            <a:prstDash val="dash"/>
          </a:ln>
        </p:spPr>
      </p:sp>
      <p:sp>
        <p:nvSpPr>
          <p:cNvPr id="35" name="right_min6">
            <a:extLst xmlns:a="http://schemas.openxmlformats.org/drawingml/2006/main">
              <a:ext uri="{FF2B5EF4-FFF2-40B4-BE49-F238E27FC236}">
                <a16:creationId xmlns:a16="http://schemas.microsoft.com/office/drawing/2014/main" id="{7B30FF1C-1618-41C4-BEAE-E33154FCB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152650"/>
            <a:ext cx="10477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BBD9F2"/>
          </a:solidFill>
          <a:ln xmlns:a="http://schemas.openxmlformats.org/drawingml/2006/main" w="11430">
            <a:solidFill>
              <a:srgbClr val="6C9FC5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425" b="0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425" b="0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min6细胞</a:t>
            </a:r>
          </a:p>
        </p:txBody>
      </p:sp>
      <p:sp>
        <p:nvSpPr>
          <p:cNvPr id="36" name="right_damage_model">
            <a:extLst xmlns:a="http://schemas.openxmlformats.org/drawingml/2006/main">
              <a:ext uri="{FF2B5EF4-FFF2-40B4-BE49-F238E27FC236}">
                <a16:creationId xmlns:a16="http://schemas.microsoft.com/office/drawing/2014/main" id="{D1D38230-1BD6-4223-90FF-3E33C0D3E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152650"/>
            <a:ext cx="1571625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BBD9F2"/>
          </a:solidFill>
          <a:ln xmlns:a="http://schemas.openxmlformats.org/drawingml/2006/main" w="11430">
            <a:solidFill>
              <a:srgbClr val="6C9FC5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350" b="0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350" b="0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建立胰岛β细胞损</a:t>
            </a:r>
          </a:p>
          <a:p xmlns:a="http://schemas.openxmlformats.org/drawingml/2006/main">
            <a:pPr algn="ctr">
              <a:lnSpc>
                <a:spcPct val="96000"/>
              </a:lnSpc>
              <a:buNone/>
              <a:defRPr sz="1350" b="0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350" b="0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的模型</a:t>
            </a:r>
          </a:p>
        </p:txBody>
      </p:sp>
      <p:sp>
        <p:nvSpPr>
          <p:cNvPr id="37" name="right_peptide2">
            <a:extLst xmlns:a="http://schemas.openxmlformats.org/drawingml/2006/main">
              <a:ext uri="{FF2B5EF4-FFF2-40B4-BE49-F238E27FC236}">
                <a16:creationId xmlns:a16="http://schemas.microsoft.com/office/drawing/2014/main" id="{13EB192E-ED24-43A2-99C4-BF4A5A337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09900"/>
            <a:ext cx="2057400" cy="523875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BBD9F2"/>
          </a:solidFill>
          <a:ln xmlns:a="http://schemas.openxmlformats.org/drawingml/2006/main" w="11430">
            <a:solidFill>
              <a:srgbClr val="6C9FC5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350" b="0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350" b="0" i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L. plantarum</a:t>
            </a:r>
            <a:r>
              <a:rPr sz="1350" b="0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 SCS2胞</a:t>
            </a:r>
          </a:p>
          <a:p xmlns:a="http://schemas.openxmlformats.org/drawingml/2006/main">
            <a:pPr algn="ctr">
              <a:lnSpc>
                <a:spcPct val="96000"/>
              </a:lnSpc>
              <a:buNone/>
              <a:defRPr sz="1350" b="0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350" b="0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内小分子肽</a:t>
            </a:r>
          </a:p>
        </p:txBody>
      </p:sp>
      <p:sp>
        <p:nvSpPr>
          <p:cNvPr id="38" name="right_assay_group">
            <a:extLst xmlns:a="http://schemas.openxmlformats.org/drawingml/2006/main">
              <a:ext uri="{FF2B5EF4-FFF2-40B4-BE49-F238E27FC236}">
                <a16:creationId xmlns:a16="http://schemas.microsoft.com/office/drawing/2014/main" id="{453117D6-B929-4A7B-8CA4-12848819B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3781425"/>
            <a:ext cx="2552700" cy="1085850"/>
          </a:xfrm>
          <a:prstGeom xmlns:a="http://schemas.openxmlformats.org/drawingml/2006/main" prst="roundRect">
            <a:avLst>
              <a:gd name="adj" fmla="val 14035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4A4A4A"/>
            </a:solidFill>
            <a:prstDash val="dash"/>
          </a:ln>
        </p:spPr>
      </p:sp>
      <p:sp>
        <p:nvSpPr>
          <p:cNvPr id="39" name="right_msp">
            <a:extLst xmlns:a="http://schemas.openxmlformats.org/drawingml/2006/main">
              <a:ext uri="{FF2B5EF4-FFF2-40B4-BE49-F238E27FC236}">
                <a16:creationId xmlns:a16="http://schemas.microsoft.com/office/drawing/2014/main" id="{956028E0-AF0A-4FE8-A82F-32410C5F1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3886200"/>
            <a:ext cx="952500" cy="285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CEE7DA"/>
          </a:solidFill>
          <a:ln xmlns:a="http://schemas.openxmlformats.org/drawingml/2006/main" w="9525">
            <a:solidFill>
              <a:srgbClr val="79AA97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350" b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MSP</a:t>
            </a:r>
          </a:p>
        </p:txBody>
      </p:sp>
      <p:sp>
        <p:nvSpPr>
          <p:cNvPr id="40" name="right_chip">
            <a:extLst xmlns:a="http://schemas.openxmlformats.org/drawingml/2006/main">
              <a:ext uri="{FF2B5EF4-FFF2-40B4-BE49-F238E27FC236}">
                <a16:creationId xmlns:a16="http://schemas.microsoft.com/office/drawing/2014/main" id="{B1B858E5-E5A7-4F50-817B-48EDE5E35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3886200"/>
            <a:ext cx="923925" cy="285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CEE7DA"/>
          </a:solidFill>
          <a:ln xmlns:a="http://schemas.openxmlformats.org/drawingml/2006/main" w="9525">
            <a:solidFill>
              <a:srgbClr val="79AA97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350" b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ChIP</a:t>
            </a:r>
          </a:p>
        </p:txBody>
      </p:sp>
      <p:sp>
        <p:nvSpPr>
          <p:cNvPr id="41" name="right_elisa">
            <a:extLst xmlns:a="http://schemas.openxmlformats.org/drawingml/2006/main">
              <a:ext uri="{FF2B5EF4-FFF2-40B4-BE49-F238E27FC236}">
                <a16:creationId xmlns:a16="http://schemas.microsoft.com/office/drawing/2014/main" id="{664D7285-CA37-402B-9773-98D7575DF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4257675"/>
            <a:ext cx="952500" cy="485775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CEE7DA"/>
          </a:solidFill>
          <a:ln xmlns:a="http://schemas.openxmlformats.org/drawingml/2006/main" w="9525">
            <a:solidFill>
              <a:srgbClr val="79AA97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275" b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ELISA</a:t>
            </a:r>
          </a:p>
          <a:p xmlns:a="http://schemas.openxmlformats.org/drawingml/2006/main">
            <a:pPr algn="ctr">
              <a:lnSpc>
                <a:spcPct val="96000"/>
              </a:lnSpc>
              <a:buNone/>
              <a:defRPr sz="1275" b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RT-qPCR</a:t>
            </a:r>
          </a:p>
        </p:txBody>
      </p:sp>
      <p:sp>
        <p:nvSpPr>
          <p:cNvPr id="42" name="right_wb">
            <a:extLst xmlns:a="http://schemas.openxmlformats.org/drawingml/2006/main">
              <a:ext uri="{FF2B5EF4-FFF2-40B4-BE49-F238E27FC236}">
                <a16:creationId xmlns:a16="http://schemas.microsoft.com/office/drawing/2014/main" id="{EDE5134E-8E12-4534-9010-D5B5ECE70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4257675"/>
            <a:ext cx="923925" cy="485775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CEE7DA"/>
          </a:solidFill>
          <a:ln xmlns:a="http://schemas.openxmlformats.org/drawingml/2006/main" w="9525">
            <a:solidFill>
              <a:srgbClr val="79AA97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275" b="0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275" b="0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WB</a:t>
            </a:r>
          </a:p>
          <a:p xmlns:a="http://schemas.openxmlformats.org/drawingml/2006/main">
            <a:pPr algn="ctr">
              <a:lnSpc>
                <a:spcPct val="96000"/>
              </a:lnSpc>
              <a:buNone/>
              <a:defRPr sz="1275" b="0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275" b="0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免疫荧光</a:t>
            </a:r>
          </a:p>
        </p:txBody>
      </p:sp>
      <p:sp>
        <p:nvSpPr>
          <p:cNvPr id="43" name="right_conclusion">
            <a:extLst xmlns:a="http://schemas.openxmlformats.org/drawingml/2006/main">
              <a:ext uri="{FF2B5EF4-FFF2-40B4-BE49-F238E27FC236}">
                <a16:creationId xmlns:a16="http://schemas.microsoft.com/office/drawing/2014/main" id="{9FB73664-12B9-4E9A-8A9E-C5EA8699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210175"/>
            <a:ext cx="3124200" cy="962025"/>
          </a:xfrm>
          <a:prstGeom xmlns:a="http://schemas.openxmlformats.org/drawingml/2006/main" prst="roundRect">
            <a:avLst>
              <a:gd name="adj" fmla="val 15842"/>
            </a:avLst>
          </a:prstGeom>
          <a:solidFill xmlns:a="http://schemas.openxmlformats.org/drawingml/2006/main">
            <a:srgbClr val="FFF687"/>
          </a:solidFill>
          <a:ln xmlns:a="http://schemas.openxmlformats.org/drawingml/2006/main" w="11430">
            <a:solidFill>
              <a:srgbClr val="D1B929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425" b="1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425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明确</a:t>
            </a:r>
            <a:r>
              <a:rPr sz="1425" b="1" i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L.plantarum</a:t>
            </a:r>
            <a:r>
              <a:rPr sz="1425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 SCS2胞内小分</a:t>
            </a:r>
          </a:p>
          <a:p xmlns:a="http://schemas.openxmlformats.org/drawingml/2006/main">
            <a:pPr algn="ctr">
              <a:lnSpc>
                <a:spcPct val="96000"/>
              </a:lnSpc>
              <a:buNone/>
              <a:defRPr sz="1425" b="1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425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子肽是否通过参与lncRNA MEG3</a:t>
            </a:r>
          </a:p>
          <a:p xmlns:a="http://schemas.openxmlformats.org/drawingml/2006/main">
            <a:pPr algn="ctr">
              <a:lnSpc>
                <a:spcPct val="96000"/>
              </a:lnSpc>
              <a:buNone/>
              <a:defRPr sz="1425" b="1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425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启动子去甲基化调控其表达</a:t>
            </a:r>
          </a:p>
        </p:txBody>
      </p:sp>
      <p:sp>
        <p:nvSpPr>
          <p:cNvPr id="44" name="top_summary">
            <a:extLst xmlns:a="http://schemas.openxmlformats.org/drawingml/2006/main">
              <a:ext uri="{FF2B5EF4-FFF2-40B4-BE49-F238E27FC236}">
                <a16:creationId xmlns:a16="http://schemas.microsoft.com/office/drawing/2014/main" id="{7F004CA9-1E9A-4ED2-B9BB-0DD4B7E0F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25350" y="1752600"/>
            <a:ext cx="1381125" cy="3990975"/>
          </a:xfrm>
          <a:prstGeom xmlns:a="http://schemas.openxmlformats.org/drawingml/2006/main" prst="roundRect">
            <a:avLst>
              <a:gd name="adj" fmla="val 15172"/>
            </a:avLst>
          </a:prstGeom>
          <a:solidFill xmlns:a="http://schemas.openxmlformats.org/drawingml/2006/main">
            <a:srgbClr val="F2FAFC"/>
          </a:solidFill>
          <a:ln xmlns:a="http://schemas.openxmlformats.org/drawingml/2006/main" w="13335">
            <a:solidFill>
              <a:srgbClr val="4E7F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575" b="1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575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阐明</a:t>
            </a:r>
          </a:p>
          <a:p xmlns:a="http://schemas.openxmlformats.org/drawingml/2006/main">
            <a:pPr algn="ctr">
              <a:lnSpc>
                <a:spcPct val="96000"/>
              </a:lnSpc>
              <a:buNone/>
              <a:defRPr sz="1575" b="1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575" b="1" i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L.plantarum</a:t>
            </a:r>
          </a:p>
          <a:p xmlns:a="http://schemas.openxmlformats.org/drawingml/2006/main">
            <a:pPr algn="ctr">
              <a:lnSpc>
                <a:spcPct val="96000"/>
              </a:lnSpc>
              <a:buNone/>
              <a:defRPr sz="1575" b="1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575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SCS2改善</a:t>
            </a:r>
          </a:p>
          <a:p xmlns:a="http://schemas.openxmlformats.org/drawingml/2006/main">
            <a:pPr algn="ctr">
              <a:lnSpc>
                <a:spcPct val="96000"/>
              </a:lnSpc>
              <a:buNone/>
              <a:defRPr sz="1575" b="1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575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胰岛</a:t>
            </a:r>
            <a:r>
              <a:rPr sz="1575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β</a:t>
            </a:r>
            <a:r>
              <a:rPr sz="1575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细胞</a:t>
            </a:r>
          </a:p>
          <a:p xmlns:a="http://schemas.openxmlformats.org/drawingml/2006/main">
            <a:pPr algn="ctr">
              <a:lnSpc>
                <a:spcPct val="96000"/>
              </a:lnSpc>
              <a:buNone/>
              <a:defRPr sz="1575" b="1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575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氧化损伤的</a:t>
            </a:r>
          </a:p>
          <a:p xmlns:a="http://schemas.openxmlformats.org/drawingml/2006/main">
            <a:pPr algn="ctr">
              <a:lnSpc>
                <a:spcPct val="96000"/>
              </a:lnSpc>
              <a:buNone/>
              <a:defRPr sz="1575" b="1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575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关键物质和</a:t>
            </a:r>
          </a:p>
          <a:p xmlns:a="http://schemas.openxmlformats.org/drawingml/2006/main">
            <a:pPr algn="ctr">
              <a:lnSpc>
                <a:spcPct val="96000"/>
              </a:lnSpc>
              <a:buNone/>
              <a:defRPr sz="1575" b="1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575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作用机制</a:t>
            </a:r>
          </a:p>
        </p:txBody>
      </p:sp>
      <p:sp>
        <p:nvSpPr>
          <p:cNvPr id="45" name="bottom_title">
            <a:extLst xmlns:a="http://schemas.openxmlformats.org/drawingml/2006/main">
              <a:ext uri="{FF2B5EF4-FFF2-40B4-BE49-F238E27FC236}">
                <a16:creationId xmlns:a16="http://schemas.microsoft.com/office/drawing/2014/main" id="{35862669-3AAE-4177-8A39-A0185FDDC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" y="7410450"/>
            <a:ext cx="2828925" cy="1362075"/>
          </a:xfrm>
          <a:prstGeom xmlns:a="http://schemas.openxmlformats.org/drawingml/2006/main" prst="roundRect">
            <a:avLst>
              <a:gd name="adj" fmla="val 12587"/>
            </a:avLst>
          </a:prstGeom>
          <a:solidFill xmlns:a="http://schemas.openxmlformats.org/drawingml/2006/main">
            <a:srgbClr val="0E88C0"/>
          </a:solidFill>
          <a:ln xmlns:a="http://schemas.openxmlformats.org/drawingml/2006/main" w="11430">
            <a:solidFill>
              <a:srgbClr val="006D99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buNone/>
              <a:defRPr sz="16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650" b="1" i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L. plantarum</a:t>
            </a:r>
            <a:r>
              <a:rPr sz="165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 SCS2胞内小分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16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65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子肽改善胰岛</a:t>
            </a:r>
            <a:r>
              <a:rPr sz="165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β</a:t>
            </a:r>
            <a:r>
              <a:rPr sz="165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细胞氧化损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16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65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伤对胰防控糖尿病的影响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16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65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研究</a:t>
            </a:r>
          </a:p>
        </p:txBody>
      </p:sp>
      <p:sp>
        <p:nvSpPr>
          <p:cNvPr id="46" name="bottom_model">
            <a:extLst xmlns:a="http://schemas.openxmlformats.org/drawingml/2006/main">
              <a:ext uri="{FF2B5EF4-FFF2-40B4-BE49-F238E27FC236}">
                <a16:creationId xmlns:a16="http://schemas.microsoft.com/office/drawing/2014/main" id="{1D88D382-3386-4AB0-BF5C-A20FB99A2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7486650"/>
            <a:ext cx="1895475" cy="1371600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BBD9F2"/>
          </a:solidFill>
          <a:ln xmlns:a="http://schemas.openxmlformats.org/drawingml/2006/main" w="11430">
            <a:solidFill>
              <a:srgbClr val="6C9FC5"/>
            </a:solidFill>
            <a:prstDash val="solid"/>
          </a:ln>
        </p:spPr>
      </p:sp>
      <p:sp>
        <p:nvSpPr>
          <p:cNvPr id="47" name="bottom_model_label">
            <a:extLst xmlns:a="http://schemas.openxmlformats.org/drawingml/2006/main">
              <a:ext uri="{FF2B5EF4-FFF2-40B4-BE49-F238E27FC236}">
                <a16:creationId xmlns:a16="http://schemas.microsoft.com/office/drawing/2014/main" id="{63B69519-8215-447A-BE2A-EF67393C5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7962900"/>
            <a:ext cx="1628775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575" b="0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575" b="0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建立2型糖尿病动</a:t>
            </a:r>
          </a:p>
          <a:p xmlns:a="http://schemas.openxmlformats.org/drawingml/2006/main">
            <a:pPr algn="ctr">
              <a:lnSpc>
                <a:spcPct val="96000"/>
              </a:lnSpc>
              <a:buNone/>
              <a:defRPr sz="1575" b="0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575" b="0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物模型</a:t>
            </a:r>
          </a:p>
        </p:txBody>
      </p:sp>
      <p:sp>
        <p:nvSpPr>
          <p:cNvPr id="48" name="bottom_assay_group">
            <a:extLst xmlns:a="http://schemas.openxmlformats.org/drawingml/2006/main">
              <a:ext uri="{FF2B5EF4-FFF2-40B4-BE49-F238E27FC236}">
                <a16:creationId xmlns:a16="http://schemas.microsoft.com/office/drawing/2014/main" id="{96C6D78C-D04F-4A2B-8CF0-059A69CBB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6457950"/>
            <a:ext cx="2895600" cy="3457575"/>
          </a:xfrm>
          <a:prstGeom xmlns:a="http://schemas.openxmlformats.org/drawingml/2006/main" prst="roundRect">
            <a:avLst>
              <a:gd name="adj" fmla="val 15789"/>
            </a:avLst>
          </a:prstGeom>
          <a:noFill xmlns:a="http://schemas.openxmlformats.org/drawingml/2006/main"/>
          <a:ln xmlns:a="http://schemas.openxmlformats.org/drawingml/2006/main" w="23813">
            <a:solidFill>
              <a:srgbClr val="194C86"/>
            </a:solidFill>
            <a:prstDash val="dash"/>
          </a:ln>
        </p:spPr>
      </p:sp>
      <p:sp>
        <p:nvSpPr>
          <p:cNvPr id="49" name="bottom_msp">
            <a:extLst xmlns:a="http://schemas.openxmlformats.org/drawingml/2006/main">
              <a:ext uri="{FF2B5EF4-FFF2-40B4-BE49-F238E27FC236}">
                <a16:creationId xmlns:a16="http://schemas.microsoft.com/office/drawing/2014/main" id="{C33EFF2B-7B88-43EA-A7D2-636561345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6972300"/>
            <a:ext cx="106680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CEE7DA"/>
          </a:solidFill>
          <a:ln xmlns:a="http://schemas.openxmlformats.org/drawingml/2006/main" w="9525">
            <a:solidFill>
              <a:srgbClr val="79AA97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425" b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MSP</a:t>
            </a:r>
          </a:p>
        </p:txBody>
      </p:sp>
      <p:sp>
        <p:nvSpPr>
          <p:cNvPr id="50" name="bottom_chip">
            <a:extLst xmlns:a="http://schemas.openxmlformats.org/drawingml/2006/main">
              <a:ext uri="{FF2B5EF4-FFF2-40B4-BE49-F238E27FC236}">
                <a16:creationId xmlns:a16="http://schemas.microsoft.com/office/drawing/2014/main" id="{7EB0FBE1-F101-4E5F-9659-55D660A27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6962775"/>
            <a:ext cx="1038225" cy="314325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EE7DA"/>
          </a:solidFill>
          <a:ln xmlns:a="http://schemas.openxmlformats.org/drawingml/2006/main" w="9525">
            <a:solidFill>
              <a:srgbClr val="79AA97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425" b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ChIP</a:t>
            </a:r>
          </a:p>
        </p:txBody>
      </p:sp>
      <p:sp>
        <p:nvSpPr>
          <p:cNvPr id="51" name="bottom_rtqpcr">
            <a:extLst xmlns:a="http://schemas.openxmlformats.org/drawingml/2006/main">
              <a:ext uri="{FF2B5EF4-FFF2-40B4-BE49-F238E27FC236}">
                <a16:creationId xmlns:a16="http://schemas.microsoft.com/office/drawing/2014/main" id="{8C71464E-FDCE-47ED-AA7F-E6C9D670C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7820025"/>
            <a:ext cx="1076325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CEE7DA"/>
          </a:solidFill>
          <a:ln xmlns:a="http://schemas.openxmlformats.org/drawingml/2006/main" w="9525">
            <a:solidFill>
              <a:srgbClr val="79AA97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350" b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RT-qPCR</a:t>
            </a:r>
          </a:p>
        </p:txBody>
      </p:sp>
      <p:sp>
        <p:nvSpPr>
          <p:cNvPr id="52" name="bottom_wb">
            <a:extLst xmlns:a="http://schemas.openxmlformats.org/drawingml/2006/main">
              <a:ext uri="{FF2B5EF4-FFF2-40B4-BE49-F238E27FC236}">
                <a16:creationId xmlns:a16="http://schemas.microsoft.com/office/drawing/2014/main" id="{59E97CE8-E49A-43E4-9B9F-02D66AEE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7820025"/>
            <a:ext cx="10477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CEE7DA"/>
          </a:solidFill>
          <a:ln xmlns:a="http://schemas.openxmlformats.org/drawingml/2006/main" w="9525">
            <a:solidFill>
              <a:srgbClr val="79AA97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425" b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WB</a:t>
            </a:r>
          </a:p>
        </p:txBody>
      </p:sp>
      <p:sp>
        <p:nvSpPr>
          <p:cNvPr id="53" name="bottom_elisa">
            <a:extLst xmlns:a="http://schemas.openxmlformats.org/drawingml/2006/main">
              <a:ext uri="{FF2B5EF4-FFF2-40B4-BE49-F238E27FC236}">
                <a16:creationId xmlns:a16="http://schemas.microsoft.com/office/drawing/2014/main" id="{49FD0216-903F-4623-A4E9-B6A777CBE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8686800"/>
            <a:ext cx="106680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CEE7DA"/>
          </a:solidFill>
          <a:ln xmlns:a="http://schemas.openxmlformats.org/drawingml/2006/main" w="9525">
            <a:solidFill>
              <a:srgbClr val="79AA97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425" b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ELISA</a:t>
            </a:r>
          </a:p>
        </p:txBody>
      </p:sp>
      <p:sp>
        <p:nvSpPr>
          <p:cNvPr id="54" name="bottom_if">
            <a:extLst xmlns:a="http://schemas.openxmlformats.org/drawingml/2006/main">
              <a:ext uri="{FF2B5EF4-FFF2-40B4-BE49-F238E27FC236}">
                <a16:creationId xmlns:a16="http://schemas.microsoft.com/office/drawing/2014/main" id="{024178E0-FC1F-43A6-A4E0-406402737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8686800"/>
            <a:ext cx="1057275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CEE7DA"/>
          </a:solidFill>
          <a:ln xmlns:a="http://schemas.openxmlformats.org/drawingml/2006/main" w="9525">
            <a:solidFill>
              <a:srgbClr val="79AA97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350" b="0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350" b="0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免疫荧光</a:t>
            </a:r>
          </a:p>
        </p:txBody>
      </p:sp>
      <p:sp>
        <p:nvSpPr>
          <p:cNvPr id="55" name="bottom_iron">
            <a:extLst xmlns:a="http://schemas.openxmlformats.org/drawingml/2006/main">
              <a:ext uri="{FF2B5EF4-FFF2-40B4-BE49-F238E27FC236}">
                <a16:creationId xmlns:a16="http://schemas.microsoft.com/office/drawing/2014/main" id="{008754A0-86D6-4A14-ABA7-3FFB707C8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9382125"/>
            <a:ext cx="232410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CEE7DA"/>
          </a:solidFill>
          <a:ln xmlns:a="http://schemas.openxmlformats.org/drawingml/2006/main" w="9525">
            <a:solidFill>
              <a:srgbClr val="79AA97"/>
            </a:solidFill>
            <a:prstDash val="solid"/>
          </a:ln>
        </p:spPr>
        <p:txBody>
          <a:bodyPr xmlns:a="http://schemas.openxmlformats.org/drawingml/2006/main" wrap="square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350" b="0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350" b="0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铁离子比色法</a:t>
            </a:r>
          </a:p>
        </p:txBody>
      </p:sp>
      <p:sp>
        <p:nvSpPr>
          <p:cNvPr id="56" name="bottom_result">
            <a:extLst xmlns:a="http://schemas.openxmlformats.org/drawingml/2006/main">
              <a:ext uri="{FF2B5EF4-FFF2-40B4-BE49-F238E27FC236}">
                <a16:creationId xmlns:a16="http://schemas.microsoft.com/office/drawing/2014/main" id="{86A2DBB8-6293-4F99-BA85-0F5A1187E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381875"/>
            <a:ext cx="3705225" cy="1457325"/>
          </a:xfrm>
          <a:prstGeom xmlns:a="http://schemas.openxmlformats.org/drawingml/2006/main" prst="roundRect">
            <a:avLst>
              <a:gd name="adj" fmla="val 18301"/>
            </a:avLst>
          </a:prstGeom>
          <a:solidFill xmlns:a="http://schemas.openxmlformats.org/drawingml/2006/main">
            <a:srgbClr val="F2FAFC"/>
          </a:solidFill>
          <a:ln xmlns:a="http://schemas.openxmlformats.org/drawingml/2006/main" w="13335">
            <a:solidFill>
              <a:srgbClr val="4E7F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190500" tIns="66675" rIns="114300" bIns="6667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1425" b="1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425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明确</a:t>
            </a:r>
            <a:r>
              <a:rPr sz="1425" b="1" i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L.plantarum</a:t>
            </a:r>
            <a:r>
              <a:rPr sz="1425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 SCS2胞内小分子肽改</a:t>
            </a:r>
          </a:p>
          <a:p xmlns:a="http://schemas.openxmlformats.org/drawingml/2006/main">
            <a:pPr algn="l">
              <a:lnSpc>
                <a:spcPct val="96000"/>
              </a:lnSpc>
              <a:buNone/>
              <a:defRPr sz="1425" b="1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425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善胰岛</a:t>
            </a:r>
            <a:r>
              <a:rPr sz="1425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β</a:t>
            </a:r>
            <a:r>
              <a:rPr sz="1425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细胞氧化损伤对2型糖尿病的</a:t>
            </a:r>
          </a:p>
          <a:p xmlns:a="http://schemas.openxmlformats.org/drawingml/2006/main">
            <a:pPr algn="l">
              <a:lnSpc>
                <a:spcPct val="96000"/>
              </a:lnSpc>
              <a:buNone/>
              <a:defRPr sz="1425" b="1">
                <a:solidFill>
                  <a:srgbClr val="111111"/>
                </a:solidFill>
                <a:latin typeface="Songti SC"/>
                <a:ea typeface="Songti SC"/>
                <a:cs typeface="Songti SC"/>
              </a:defRPr>
            </a:pPr>
            <a:r>
              <a:rPr sz="1425" b="1">
                <a:solidFill>
                  <a:srgbClr val="111111"/>
                </a:solidFill>
                <a:latin typeface="Songti SC"/>
                <a:ea typeface="Songti SC"/>
                <a:cs typeface="Songti SC"/>
              </a:rPr>
              <a:t>预防作用</a:t>
            </a:r>
          </a:p>
        </p:txBody>
      </p:sp>
      <p:sp>
        <p:nvSpPr>
          <p:cNvPr id="57" name="stage_left_center">
            <a:extLst xmlns:a="http://schemas.openxmlformats.org/drawingml/2006/main">
              <a:ext uri="{FF2B5EF4-FFF2-40B4-BE49-F238E27FC236}">
                <a16:creationId xmlns:a16="http://schemas.microsoft.com/office/drawing/2014/main" id="{7DF71C70-4C1E-4189-BDD5-4BAC8DF11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419475"/>
            <a:ext cx="333375" cy="5048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BD7F6"/>
          </a:solidFill>
          <a:ln xmlns:a="http://schemas.openxmlformats.org/drawingml/2006/main" w="10478">
            <a:solidFill>
              <a:srgbClr val="4D86A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8" name="stage_center_right">
            <a:extLst xmlns:a="http://schemas.openxmlformats.org/drawingml/2006/main">
              <a:ext uri="{FF2B5EF4-FFF2-40B4-BE49-F238E27FC236}">
                <a16:creationId xmlns:a16="http://schemas.microsoft.com/office/drawing/2014/main" id="{9FFDBB26-446C-4AA1-8678-63B8A8B08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419475"/>
            <a:ext cx="333375" cy="5048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BD7F6"/>
          </a:solidFill>
          <a:ln xmlns:a="http://schemas.openxmlformats.org/drawingml/2006/main" w="10478">
            <a:solidFill>
              <a:srgbClr val="4D86A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9" name="stage_right_summary">
            <a:extLst xmlns:a="http://schemas.openxmlformats.org/drawingml/2006/main">
              <a:ext uri="{FF2B5EF4-FFF2-40B4-BE49-F238E27FC236}">
                <a16:creationId xmlns:a16="http://schemas.microsoft.com/office/drawing/2014/main" id="{0D0535D4-0B98-4F36-87E2-A299F31D2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82425" y="3419475"/>
            <a:ext cx="504825" cy="5048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BD7F6"/>
          </a:solidFill>
          <a:ln xmlns:a="http://schemas.openxmlformats.org/drawingml/2006/main" w="10478">
            <a:solidFill>
              <a:srgbClr val="4D86A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cxnSp>
        <p:nvCxnSpPr>
          <p:cNvPr id="157" name=""/>
          <p:cNvCxnSpPr>
            <a:stCxn xmlns:a="http://schemas.openxmlformats.org/drawingml/2006/main" id="6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 flipH="1">
            <a:off x="1971675" y="1057275"/>
            <a:ext cx="4763" cy="200025"/>
          </a:xfrm>
          <a:prstGeom xmlns:a="http://schemas.openxmlformats.org/drawingml/2006/main" prst="straightConnector1">
            <a:avLst/>
          </a:prstGeom>
          <a:ln xmlns:a="http://schemas.openxmlformats.org/drawingml/2006/main" w="11906">
            <a:solidFill>
              <a:srgbClr val="19567E"/>
            </a:solidFill>
            <a:prstDash val="solid"/>
            <a:tailEnd type="triangle" w="sm" len="sm"/>
          </a:ln>
        </p:spPr>
      </p:cxnSp>
      <p:cxnSp>
        <p:nvCxnSpPr>
          <p:cNvPr id="158" name=""/>
          <p:cNvCxnSpPr>
            <a:stCxn xmlns:a="http://schemas.openxmlformats.org/drawingml/2006/main" id="7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1971675" y="1676400"/>
            <a:ext cx="0" cy="190500"/>
          </a:xfrm>
          <a:prstGeom xmlns:a="http://schemas.openxmlformats.org/drawingml/2006/main" prst="straightConnector1">
            <a:avLst/>
          </a:prstGeom>
          <a:ln xmlns:a="http://schemas.openxmlformats.org/drawingml/2006/main" w="11906">
            <a:solidFill>
              <a:srgbClr val="19567E"/>
            </a:solidFill>
            <a:prstDash val="solid"/>
            <a:tailEnd type="triangle" w="sm" len="sm"/>
          </a:ln>
        </p:spPr>
      </p:cxnSp>
      <p:cxnSp>
        <p:nvCxnSpPr>
          <p:cNvPr id="159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085975" y="2157413"/>
            <a:ext cx="247650" cy="4763"/>
          </a:xfrm>
          <a:prstGeom xmlns:a="http://schemas.openxmlformats.org/drawingml/2006/main" prst="straightConnector1">
            <a:avLst/>
          </a:prstGeom>
          <a:ln xmlns:a="http://schemas.openxmlformats.org/drawingml/2006/main" w="11906">
            <a:solidFill>
              <a:srgbClr val="19567E"/>
            </a:solidFill>
            <a:prstDash val="solid"/>
            <a:tailEnd type="triangle" w="sm" len="sm"/>
          </a:ln>
        </p:spPr>
      </p:cxnSp>
      <p:cxnSp>
        <p:nvCxnSpPr>
          <p:cNvPr id="160" name=""/>
          <p:cNvCxnSpPr>
            <a:stCxn xmlns:a="http://schemas.openxmlformats.org/drawingml/2006/main" id="8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 flipH="1">
            <a:off x="1152525" y="2447925"/>
            <a:ext cx="819150" cy="5619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1906">
            <a:solidFill>
              <a:srgbClr val="19567E"/>
            </a:solidFill>
            <a:prstDash val="solid"/>
            <a:tailEnd type="triangle" w="sm" len="sm"/>
          </a:ln>
        </p:spPr>
      </p:cxnSp>
      <p:cxnSp>
        <p:nvCxnSpPr>
          <p:cNvPr id="161" name=""/>
          <p:cNvCxnSpPr>
            <a:stCxn xmlns:a="http://schemas.openxmlformats.org/drawingml/2006/main" id="8" idx="2"/>
            <a:endCxn xmlns:a="http://schemas.openxmlformats.org/drawingml/2006/main" id="16" idx="0"/>
          </p:cNvCxnSpPr>
          <p:nvPr/>
        </p:nvCxnSpPr>
        <p:spPr>
          <a:xfrm xmlns:a="http://schemas.openxmlformats.org/drawingml/2006/main">
            <a:off x="1971675" y="2447925"/>
            <a:ext cx="1076325" cy="1266825"/>
          </a:xfrm>
          <a:prstGeom xmlns:a="http://schemas.openxmlformats.org/drawingml/2006/main" prst="bentConnector4">
            <a:avLst>
              <a:gd name="adj1" fmla="val 0"/>
              <a:gd name="adj2" fmla="val 18045"/>
            </a:avLst>
          </a:prstGeom>
          <a:ln xmlns:a="http://schemas.openxmlformats.org/drawingml/2006/main" w="11906">
            <a:solidFill>
              <a:srgbClr val="19567E"/>
            </a:solidFill>
            <a:prstDash val="solid"/>
            <a:tailEnd type="triangle" w="sm" len="sm"/>
          </a:ln>
        </p:spPr>
      </p:cxnSp>
      <p:cxnSp>
        <p:nvCxnSpPr>
          <p:cNvPr id="162" name=""/>
          <p:cNvCxnSpPr>
            <a:stCxn xmlns:a="http://schemas.openxmlformats.org/drawingml/2006/main" id="11" idx="2"/>
            <a:endCxn xmlns:a="http://schemas.openxmlformats.org/drawingml/2006/main" id="17" idx="0"/>
          </p:cNvCxnSpPr>
          <p:nvPr/>
        </p:nvCxnSpPr>
        <p:spPr>
          <a:xfrm xmlns:a="http://schemas.openxmlformats.org/drawingml/2006/main">
            <a:off x="1152525" y="4791075"/>
            <a:ext cx="9525" cy="266700"/>
          </a:xfrm>
          <a:prstGeom xmlns:a="http://schemas.openxmlformats.org/drawingml/2006/main" prst="straightConnector1">
            <a:avLst/>
          </a:prstGeom>
          <a:ln xmlns:a="http://schemas.openxmlformats.org/drawingml/2006/main" w="11906">
            <a:solidFill>
              <a:srgbClr val="19567E"/>
            </a:solidFill>
            <a:prstDash val="solid"/>
            <a:tailEnd type="triangle" w="sm" len="sm"/>
          </a:ln>
        </p:spPr>
      </p:cxnSp>
      <p:cxnSp>
        <p:nvCxnSpPr>
          <p:cNvPr id="163" name=""/>
          <p:cNvCxnSpPr>
            <a:stCxn xmlns:a="http://schemas.openxmlformats.org/drawingml/2006/main" id="16" idx="2"/>
            <a:endCxn xmlns:a="http://schemas.openxmlformats.org/drawingml/2006/main" id="18" idx="0"/>
          </p:cNvCxnSpPr>
          <p:nvPr/>
        </p:nvCxnSpPr>
        <p:spPr>
          <a:xfrm xmlns:a="http://schemas.openxmlformats.org/drawingml/2006/main" flipH="1">
            <a:off x="3043238" y="4019550"/>
            <a:ext cx="4763" cy="1076325"/>
          </a:xfrm>
          <a:prstGeom xmlns:a="http://schemas.openxmlformats.org/drawingml/2006/main" prst="straightConnector1">
            <a:avLst/>
          </a:prstGeom>
          <a:ln xmlns:a="http://schemas.openxmlformats.org/drawingml/2006/main" w="11906">
            <a:solidFill>
              <a:srgbClr val="19567E"/>
            </a:solidFill>
            <a:prstDash val="solid"/>
            <a:tailEnd type="triangle" w="sm" len="sm"/>
          </a:ln>
        </p:spPr>
      </p:cxnSp>
      <p:cxnSp>
        <p:nvCxnSpPr>
          <p:cNvPr id="164" name=""/>
          <p:cNvCxnSpPr>
            <a:stCxn xmlns:a="http://schemas.openxmlformats.org/drawingml/2006/main" id="19" idx="2"/>
            <a:endCxn xmlns:a="http://schemas.openxmlformats.org/drawingml/2006/main" id="20" idx="0"/>
          </p:cNvCxnSpPr>
          <p:nvPr/>
        </p:nvCxnSpPr>
        <p:spPr>
          <a:xfrm xmlns:a="http://schemas.openxmlformats.org/drawingml/2006/main" flipH="1">
            <a:off x="5181600" y="1047750"/>
            <a:ext cx="1057275" cy="180975"/>
          </a:xfrm>
          <a:prstGeom xmlns:a="http://schemas.openxmlformats.org/drawingml/2006/main" prst="bentConnector4">
            <a:avLst>
              <a:gd name="adj1" fmla="val 0"/>
              <a:gd name="adj2" fmla="val 36842"/>
            </a:avLst>
          </a:prstGeom>
          <a:ln xmlns:a="http://schemas.openxmlformats.org/drawingml/2006/main" w="11906">
            <a:solidFill>
              <a:srgbClr val="19567E"/>
            </a:solidFill>
            <a:prstDash val="solid"/>
            <a:tailEnd type="triangle" w="sm" len="sm"/>
          </a:ln>
        </p:spPr>
      </p:cxnSp>
      <p:cxnSp>
        <p:nvCxnSpPr>
          <p:cNvPr id="165" name=""/>
          <p:cNvCxnSpPr>
            <a:stCxn xmlns:a="http://schemas.openxmlformats.org/drawingml/2006/main" id="19" idx="2"/>
            <a:endCxn xmlns:a="http://schemas.openxmlformats.org/drawingml/2006/main" id="21" idx="0"/>
          </p:cNvCxnSpPr>
          <p:nvPr/>
        </p:nvCxnSpPr>
        <p:spPr>
          <a:xfrm xmlns:a="http://schemas.openxmlformats.org/drawingml/2006/main">
            <a:off x="6238875" y="1047750"/>
            <a:ext cx="1085850" cy="171450"/>
          </a:xfrm>
          <a:prstGeom xmlns:a="http://schemas.openxmlformats.org/drawingml/2006/main" prst="bentConnector4">
            <a:avLst>
              <a:gd name="adj1" fmla="val 0"/>
              <a:gd name="adj2" fmla="val 33333"/>
            </a:avLst>
          </a:prstGeom>
          <a:ln xmlns:a="http://schemas.openxmlformats.org/drawingml/2006/main" w="11906">
            <a:solidFill>
              <a:srgbClr val="19567E"/>
            </a:solidFill>
            <a:prstDash val="solid"/>
            <a:tailEnd type="triangle" w="sm" len="sm"/>
          </a:ln>
        </p:spPr>
      </p:cxnSp>
      <p:cxnSp>
        <p:nvCxnSpPr>
          <p:cNvPr id="166" name=""/>
          <p:cNvCxnSpPr>
            <a:stCxn xmlns:a="http://schemas.openxmlformats.org/drawingml/2006/main" id="20" idx="2"/>
            <a:endCxn xmlns:a="http://schemas.openxmlformats.org/drawingml/2006/main" id="22" idx="0"/>
          </p:cNvCxnSpPr>
          <p:nvPr/>
        </p:nvCxnSpPr>
        <p:spPr>
          <a:xfrm xmlns:a="http://schemas.openxmlformats.org/drawingml/2006/main">
            <a:off x="5181600" y="1924050"/>
            <a:ext cx="1057275" cy="104775"/>
          </a:xfrm>
          <a:prstGeom xmlns:a="http://schemas.openxmlformats.org/drawingml/2006/main" prst="straightConnector1">
            <a:avLst/>
          </a:prstGeom>
          <a:ln xmlns:a="http://schemas.openxmlformats.org/drawingml/2006/main" w="11906">
            <a:solidFill>
              <a:srgbClr val="19567E"/>
            </a:solidFill>
            <a:prstDash val="solid"/>
            <a:tailEnd type="triangle" w="sm" len="sm"/>
          </a:ln>
        </p:spPr>
      </p:cxnSp>
      <p:cxnSp>
        <p:nvCxnSpPr>
          <p:cNvPr id="167" name=""/>
          <p:cNvCxnSpPr>
            <a:stCxn xmlns:a="http://schemas.openxmlformats.org/drawingml/2006/main" id="21" idx="2"/>
            <a:endCxn xmlns:a="http://schemas.openxmlformats.org/drawingml/2006/main" id="22" idx="0"/>
          </p:cNvCxnSpPr>
          <p:nvPr/>
        </p:nvCxnSpPr>
        <p:spPr>
          <a:xfrm xmlns:a="http://schemas.openxmlformats.org/drawingml/2006/main" flipH="1">
            <a:off x="6238875" y="1924050"/>
            <a:ext cx="1085850" cy="104775"/>
          </a:xfrm>
          <a:prstGeom xmlns:a="http://schemas.openxmlformats.org/drawingml/2006/main" prst="straightConnector1">
            <a:avLst/>
          </a:prstGeom>
          <a:ln xmlns:a="http://schemas.openxmlformats.org/drawingml/2006/main" w="11906">
            <a:solidFill>
              <a:srgbClr val="19567E"/>
            </a:solidFill>
            <a:prstDash val="solid"/>
            <a:tailEnd type="triangle" w="sm" len="sm"/>
          </a:ln>
        </p:spPr>
      </p:cxnSp>
      <p:cxnSp>
        <p:nvCxnSpPr>
          <p:cNvPr id="168" name=""/>
          <p:cNvCxnSpPr>
            <a:stCxn xmlns:a="http://schemas.openxmlformats.org/drawingml/2006/main" id="22" idx="2"/>
            <a:endCxn xmlns:a="http://schemas.openxmlformats.org/drawingml/2006/main" id="23" idx="0"/>
          </p:cNvCxnSpPr>
          <p:nvPr/>
        </p:nvCxnSpPr>
        <p:spPr>
          <a:xfrm xmlns:a="http://schemas.openxmlformats.org/drawingml/2006/main" flipH="1">
            <a:off x="6234113" y="2543175"/>
            <a:ext cx="4763" cy="180975"/>
          </a:xfrm>
          <a:prstGeom xmlns:a="http://schemas.openxmlformats.org/drawingml/2006/main" prst="straightConnector1">
            <a:avLst/>
          </a:prstGeom>
          <a:ln xmlns:a="http://schemas.openxmlformats.org/drawingml/2006/main" w="11906">
            <a:solidFill>
              <a:srgbClr val="19567E"/>
            </a:solidFill>
            <a:prstDash val="solid"/>
            <a:tailEnd type="triangle" w="sm" len="sm"/>
          </a:ln>
        </p:spPr>
      </p:cxnSp>
      <p:cxnSp>
        <p:nvCxnSpPr>
          <p:cNvPr id="169" name=""/>
          <p:cNvCxnSpPr>
            <a:stCxn xmlns:a="http://schemas.openxmlformats.org/drawingml/2006/main" id="23" idx="2"/>
            <a:endCxn xmlns:a="http://schemas.openxmlformats.org/drawingml/2006/main" id="24" idx="0"/>
          </p:cNvCxnSpPr>
          <p:nvPr/>
        </p:nvCxnSpPr>
        <p:spPr>
          <a:xfrm xmlns:a="http://schemas.openxmlformats.org/drawingml/2006/main">
            <a:off x="6234113" y="3152775"/>
            <a:ext cx="4763" cy="142875"/>
          </a:xfrm>
          <a:prstGeom xmlns:a="http://schemas.openxmlformats.org/drawingml/2006/main" prst="straightConnector1">
            <a:avLst/>
          </a:prstGeom>
          <a:ln xmlns:a="http://schemas.openxmlformats.org/drawingml/2006/main" w="11906">
            <a:solidFill>
              <a:srgbClr val="19567E"/>
            </a:solidFill>
            <a:prstDash val="solid"/>
            <a:tailEnd type="triangle" w="sm" len="sm"/>
          </a:ln>
        </p:spPr>
      </p:cxnSp>
      <p:cxnSp>
        <p:nvCxnSpPr>
          <p:cNvPr id="170" name=""/>
          <p:cNvCxnSpPr>
            <a:stCxn xmlns:a="http://schemas.openxmlformats.org/drawingml/2006/main" id="24" idx="2"/>
            <a:endCxn xmlns:a="http://schemas.openxmlformats.org/drawingml/2006/main" id="25" idx="0"/>
          </p:cNvCxnSpPr>
          <p:nvPr/>
        </p:nvCxnSpPr>
        <p:spPr>
          <a:xfrm xmlns:a="http://schemas.openxmlformats.org/drawingml/2006/main" flipH="1">
            <a:off x="4933950" y="3648075"/>
            <a:ext cx="1304925" cy="2857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1906">
            <a:solidFill>
              <a:srgbClr val="19567E"/>
            </a:solidFill>
            <a:prstDash val="solid"/>
            <a:tailEnd type="triangle" w="sm" len="sm"/>
          </a:ln>
        </p:spPr>
      </p:cxnSp>
      <p:cxnSp>
        <p:nvCxnSpPr>
          <p:cNvPr id="171" name=""/>
          <p:cNvCxnSpPr>
            <a:stCxn xmlns:a="http://schemas.openxmlformats.org/drawingml/2006/main" id="24" idx="2"/>
            <a:endCxn xmlns:a="http://schemas.openxmlformats.org/drawingml/2006/main" id="26" idx="0"/>
          </p:cNvCxnSpPr>
          <p:nvPr/>
        </p:nvCxnSpPr>
        <p:spPr>
          <a:xfrm xmlns:a="http://schemas.openxmlformats.org/drawingml/2006/main">
            <a:off x="6238875" y="3648075"/>
            <a:ext cx="1352550" cy="2857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1906">
            <a:solidFill>
              <a:srgbClr val="19567E"/>
            </a:solidFill>
            <a:prstDash val="solid"/>
            <a:tailEnd type="triangle" w="sm" len="sm"/>
          </a:ln>
        </p:spPr>
      </p:cxnSp>
      <p:cxnSp>
        <p:nvCxnSpPr>
          <p:cNvPr id="172" name=""/>
          <p:cNvCxnSpPr>
            <a:stCxn xmlns:a="http://schemas.openxmlformats.org/drawingml/2006/main" id="25" idx="2"/>
            <a:endCxn xmlns:a="http://schemas.openxmlformats.org/drawingml/2006/main" id="27" idx="0"/>
          </p:cNvCxnSpPr>
          <p:nvPr/>
        </p:nvCxnSpPr>
        <p:spPr>
          <a:xfrm xmlns:a="http://schemas.openxmlformats.org/drawingml/2006/main">
            <a:off x="4933950" y="4400550"/>
            <a:ext cx="1281113" cy="171450"/>
          </a:xfrm>
          <a:prstGeom xmlns:a="http://schemas.openxmlformats.org/drawingml/2006/main" prst="bentConnector4">
            <a:avLst>
              <a:gd name="adj1" fmla="val 0"/>
              <a:gd name="adj2" fmla="val 66667"/>
            </a:avLst>
          </a:prstGeom>
          <a:ln xmlns:a="http://schemas.openxmlformats.org/drawingml/2006/main" w="11906">
            <a:solidFill>
              <a:srgbClr val="19567E"/>
            </a:solidFill>
            <a:prstDash val="solid"/>
            <a:tailEnd type="triangle" w="sm" len="sm"/>
          </a:ln>
        </p:spPr>
      </p:cxnSp>
      <p:cxnSp>
        <p:nvCxnSpPr>
          <p:cNvPr id="173" name=""/>
          <p:cNvCxnSpPr>
            <a:stCxn xmlns:a="http://schemas.openxmlformats.org/drawingml/2006/main" id="26" idx="2"/>
            <a:endCxn xmlns:a="http://schemas.openxmlformats.org/drawingml/2006/main" id="27" idx="0"/>
          </p:cNvCxnSpPr>
          <p:nvPr/>
        </p:nvCxnSpPr>
        <p:spPr>
          <a:xfrm xmlns:a="http://schemas.openxmlformats.org/drawingml/2006/main" flipH="1">
            <a:off x="6215063" y="4400550"/>
            <a:ext cx="1376363" cy="171450"/>
          </a:xfrm>
          <a:prstGeom xmlns:a="http://schemas.openxmlformats.org/drawingml/2006/main" prst="bentConnector4">
            <a:avLst>
              <a:gd name="adj1" fmla="val 0"/>
              <a:gd name="adj2" fmla="val 66667"/>
            </a:avLst>
          </a:prstGeom>
          <a:ln xmlns:a="http://schemas.openxmlformats.org/drawingml/2006/main" w="11906">
            <a:solidFill>
              <a:srgbClr val="19567E"/>
            </a:solidFill>
            <a:prstDash val="solid"/>
            <a:tailEnd type="triangle" w="sm" len="sm"/>
          </a:ln>
        </p:spPr>
      </p:cxnSp>
      <p:cxnSp>
        <p:nvCxnSpPr>
          <p:cNvPr id="174" name=""/>
          <p:cNvCxnSpPr>
            <a:stCxn xmlns:a="http://schemas.openxmlformats.org/drawingml/2006/main" id="27" idx="2"/>
            <a:endCxn xmlns:a="http://schemas.openxmlformats.org/drawingml/2006/main" id="31" idx="0"/>
          </p:cNvCxnSpPr>
          <p:nvPr/>
        </p:nvCxnSpPr>
        <p:spPr>
          <a:xfrm xmlns:a="http://schemas.openxmlformats.org/drawingml/2006/main">
            <a:off x="6215063" y="5210175"/>
            <a:ext cx="28575" cy="161925"/>
          </a:xfrm>
          <a:prstGeom xmlns:a="http://schemas.openxmlformats.org/drawingml/2006/main" prst="straightConnector1">
            <a:avLst/>
          </a:prstGeom>
          <a:ln xmlns:a="http://schemas.openxmlformats.org/drawingml/2006/main" w="11906">
            <a:solidFill>
              <a:srgbClr val="19567E"/>
            </a:solidFill>
            <a:prstDash val="solid"/>
            <a:tailEnd type="triangle" w="sm" len="sm"/>
          </a:ln>
        </p:spPr>
      </p:cxnSp>
      <p:cxnSp>
        <p:nvCxnSpPr>
          <p:cNvPr id="175" name=""/>
          <p:cNvCxnSpPr>
            <a:stCxn xmlns:a="http://schemas.openxmlformats.org/drawingml/2006/main" id="32" idx="2"/>
            <a:endCxn xmlns:a="http://schemas.openxmlformats.org/drawingml/2006/main" id="33" idx="0"/>
          </p:cNvCxnSpPr>
          <p:nvPr/>
        </p:nvCxnSpPr>
        <p:spPr>
          <a:xfrm xmlns:a="http://schemas.openxmlformats.org/drawingml/2006/main" flipH="1">
            <a:off x="10310813" y="1057275"/>
            <a:ext cx="4763" cy="257175"/>
          </a:xfrm>
          <a:prstGeom xmlns:a="http://schemas.openxmlformats.org/drawingml/2006/main" prst="straightConnector1">
            <a:avLst/>
          </a:prstGeom>
          <a:ln xmlns:a="http://schemas.openxmlformats.org/drawingml/2006/main" w="11906">
            <a:solidFill>
              <a:srgbClr val="19567E"/>
            </a:solidFill>
            <a:prstDash val="solid"/>
            <a:tailEnd type="triangle" w="sm" len="sm"/>
          </a:ln>
        </p:spPr>
      </p:cxnSp>
      <p:cxnSp>
        <p:nvCxnSpPr>
          <p:cNvPr id="176" name=""/>
          <p:cNvCxnSpPr>
            <a:stCxn xmlns:a="http://schemas.openxmlformats.org/drawingml/2006/main" id="33" idx="2"/>
            <a:endCxn xmlns:a="http://schemas.openxmlformats.org/drawingml/2006/main" id="34" idx="0"/>
          </p:cNvCxnSpPr>
          <p:nvPr/>
        </p:nvCxnSpPr>
        <p:spPr>
          <a:xfrm xmlns:a="http://schemas.openxmlformats.org/drawingml/2006/main" flipH="1">
            <a:off x="10306050" y="1809750"/>
            <a:ext cx="4763" cy="247650"/>
          </a:xfrm>
          <a:prstGeom xmlns:a="http://schemas.openxmlformats.org/drawingml/2006/main" prst="straightConnector1">
            <a:avLst/>
          </a:prstGeom>
          <a:ln xmlns:a="http://schemas.openxmlformats.org/drawingml/2006/main" w="11906">
            <a:solidFill>
              <a:srgbClr val="19567E"/>
            </a:solidFill>
            <a:prstDash val="solid"/>
            <a:tailEnd type="triangle" w="sm" len="sm"/>
          </a:ln>
        </p:spPr>
      </p:cxnSp>
      <p:cxnSp>
        <p:nvCxnSpPr>
          <p:cNvPr id="177" name=""/>
          <p:cNvCxnSpPr>
            <a:stCxn xmlns:a="http://schemas.openxmlformats.org/drawingml/2006/main" id="35" idx="3"/>
            <a:endCxn xmlns:a="http://schemas.openxmlformats.org/drawingml/2006/main" id="36" idx="1"/>
          </p:cNvCxnSpPr>
          <p:nvPr/>
        </p:nvCxnSpPr>
        <p:spPr>
          <a:xfrm xmlns:a="http://schemas.openxmlformats.org/drawingml/2006/main">
            <a:off x="9896475" y="2390775"/>
            <a:ext cx="295275" cy="0"/>
          </a:xfrm>
          <a:prstGeom xmlns:a="http://schemas.openxmlformats.org/drawingml/2006/main" prst="straightConnector1">
            <a:avLst/>
          </a:prstGeom>
          <a:ln xmlns:a="http://schemas.openxmlformats.org/drawingml/2006/main" w="11906">
            <a:solidFill>
              <a:srgbClr val="19567E"/>
            </a:solidFill>
            <a:prstDash val="solid"/>
            <a:tailEnd type="triangle" w="sm" len="sm"/>
          </a:ln>
        </p:spPr>
      </p:cxnSp>
      <p:cxnSp>
        <p:nvCxnSpPr>
          <p:cNvPr id="178" name=""/>
          <p:cNvCxnSpPr>
            <a:stCxn xmlns:a="http://schemas.openxmlformats.org/drawingml/2006/main" id="34" idx="2"/>
            <a:endCxn xmlns:a="http://schemas.openxmlformats.org/drawingml/2006/main" id="37" idx="0"/>
          </p:cNvCxnSpPr>
          <p:nvPr/>
        </p:nvCxnSpPr>
        <p:spPr>
          <a:xfrm xmlns:a="http://schemas.openxmlformats.org/drawingml/2006/main">
            <a:off x="10306050" y="2743200"/>
            <a:ext cx="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11906">
            <a:solidFill>
              <a:srgbClr val="19567E"/>
            </a:solidFill>
            <a:prstDash val="solid"/>
            <a:tailEnd type="triangle" w="sm" len="sm"/>
          </a:ln>
        </p:spPr>
      </p:cxnSp>
      <p:cxnSp>
        <p:nvCxnSpPr>
          <p:cNvPr id="179" name=""/>
          <p:cNvCxnSpPr>
            <a:stCxn xmlns:a="http://schemas.openxmlformats.org/drawingml/2006/main" id="37" idx="2"/>
            <a:endCxn xmlns:a="http://schemas.openxmlformats.org/drawingml/2006/main" id="38" idx="0"/>
          </p:cNvCxnSpPr>
          <p:nvPr/>
        </p:nvCxnSpPr>
        <p:spPr>
          <a:xfrm xmlns:a="http://schemas.openxmlformats.org/drawingml/2006/main" flipH="1">
            <a:off x="10296525" y="3533775"/>
            <a:ext cx="9525" cy="247650"/>
          </a:xfrm>
          <a:prstGeom xmlns:a="http://schemas.openxmlformats.org/drawingml/2006/main" prst="straightConnector1">
            <a:avLst/>
          </a:prstGeom>
          <a:ln xmlns:a="http://schemas.openxmlformats.org/drawingml/2006/main" w="11906">
            <a:solidFill>
              <a:srgbClr val="19567E"/>
            </a:solidFill>
            <a:prstDash val="solid"/>
            <a:tailEnd type="triangle" w="sm" len="sm"/>
          </a:ln>
        </p:spPr>
      </p:cxnSp>
      <p:cxnSp>
        <p:nvCxnSpPr>
          <p:cNvPr id="180" name=""/>
          <p:cNvCxnSpPr>
            <a:stCxn xmlns:a="http://schemas.openxmlformats.org/drawingml/2006/main" id="38" idx="2"/>
            <a:endCxn xmlns:a="http://schemas.openxmlformats.org/drawingml/2006/main" id="43" idx="0"/>
          </p:cNvCxnSpPr>
          <p:nvPr/>
        </p:nvCxnSpPr>
        <p:spPr>
          <a:xfrm xmlns:a="http://schemas.openxmlformats.org/drawingml/2006/main">
            <a:off x="10296525" y="4867275"/>
            <a:ext cx="28575" cy="342900"/>
          </a:xfrm>
          <a:prstGeom xmlns:a="http://schemas.openxmlformats.org/drawingml/2006/main" prst="straightConnector1">
            <a:avLst/>
          </a:prstGeom>
          <a:ln xmlns:a="http://schemas.openxmlformats.org/drawingml/2006/main" w="11906">
            <a:solidFill>
              <a:srgbClr val="19567E"/>
            </a:solidFill>
            <a:prstDash val="solid"/>
            <a:tailEnd type="triangle" w="sm" len="sm"/>
          </a:ln>
        </p:spPr>
      </p:cxnSp>
      <p:sp>
        <p:nvSpPr>
          <p:cNvPr id="84" name="bottom_title_to_model">
            <a:extLst xmlns:a="http://schemas.openxmlformats.org/drawingml/2006/main">
              <a:ext uri="{FF2B5EF4-FFF2-40B4-BE49-F238E27FC236}">
                <a16:creationId xmlns:a16="http://schemas.microsoft.com/office/drawing/2014/main" id="{AA3C7C4E-322B-4A85-B2DC-0B17E75DA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7829550"/>
            <a:ext cx="381000" cy="600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BD7F6"/>
          </a:solidFill>
          <a:ln xmlns:a="http://schemas.openxmlformats.org/drawingml/2006/main" w="10478">
            <a:solidFill>
              <a:srgbClr val="4D86A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5" name="bottom_model_to_assays">
            <a:extLst xmlns:a="http://schemas.openxmlformats.org/drawingml/2006/main">
              <a:ext uri="{FF2B5EF4-FFF2-40B4-BE49-F238E27FC236}">
                <a16:creationId xmlns:a16="http://schemas.microsoft.com/office/drawing/2014/main" id="{F10AD574-5B65-4814-995E-170DAF42B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7820025"/>
            <a:ext cx="533400" cy="6381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BD7F6"/>
          </a:solidFill>
          <a:ln xmlns:a="http://schemas.openxmlformats.org/drawingml/2006/main" w="10478">
            <a:solidFill>
              <a:srgbClr val="4D86A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6" name="bottom_assays_to_result">
            <a:extLst xmlns:a="http://schemas.openxmlformats.org/drawingml/2006/main">
              <a:ext uri="{FF2B5EF4-FFF2-40B4-BE49-F238E27FC236}">
                <a16:creationId xmlns:a16="http://schemas.microsoft.com/office/drawing/2014/main" id="{A8C613BB-61FE-4399-BAE5-76CD8A959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7753350"/>
            <a:ext cx="561975" cy="7715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BD7F6"/>
          </a:solidFill>
          <a:ln xmlns:a="http://schemas.openxmlformats.org/drawingml/2006/main" w="10478">
            <a:solidFill>
              <a:srgbClr val="4D86A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18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f0e9d9633240bf"/>
          <a:srcRect xmlns:a="http://schemas.openxmlformats.org/drawingml/2006/main" l="3940" t="25749" r="91372" b="68071"/>
          <a:stretch xmlns:a="http://schemas.openxmlformats.org/drawingml/2006/main"/>
        </p:blipFill>
        <p:spPr>
          <a:xfrm xmlns:a="http://schemas.openxmlformats.org/drawingml/2006/main">
            <a:off x="552450" y="2619375"/>
            <a:ext cx="657225" cy="628650"/>
          </a:xfrm>
          <a:prstGeom xmlns:a="http://schemas.openxmlformats.org/drawingml/2006/main" prst="rect">
            <a:avLst/>
          </a:prstGeom>
        </p:spPr>
      </p:pic>
      <p:pic>
        <p:nvPicPr>
          <p:cNvPr id="18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1de0bf1a62403e"/>
          <a:srcRect xmlns:a="http://schemas.openxmlformats.org/drawingml/2006/main" l="22894" t="26592" r="75408" b="64888"/>
          <a:stretch xmlns:a="http://schemas.openxmlformats.org/drawingml/2006/main"/>
        </p:blipFill>
        <p:spPr>
          <a:xfrm xmlns:a="http://schemas.openxmlformats.org/drawingml/2006/main">
            <a:off x="3209925" y="2705100"/>
            <a:ext cx="238125" cy="866775"/>
          </a:xfrm>
          <a:prstGeom xmlns:a="http://schemas.openxmlformats.org/drawingml/2006/main" prst="rect">
            <a:avLst/>
          </a:prstGeom>
        </p:spPr>
      </p:pic>
      <p:pic>
        <p:nvPicPr>
          <p:cNvPr id="1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6732bb77144b3c"/>
          <a:srcRect xmlns:a="http://schemas.openxmlformats.org/drawingml/2006/main" l="18342" t="40075" r="74864" b="50468"/>
          <a:stretch xmlns:a="http://schemas.openxmlformats.org/drawingml/2006/main"/>
        </p:blipFill>
        <p:spPr>
          <a:xfrm xmlns:a="http://schemas.openxmlformats.org/drawingml/2006/main">
            <a:off x="2571750" y="4076700"/>
            <a:ext cx="952500" cy="962025"/>
          </a:xfrm>
          <a:prstGeom xmlns:a="http://schemas.openxmlformats.org/drawingml/2006/main" prst="rect">
            <a:avLst/>
          </a:prstGeom>
        </p:spPr>
      </p:pic>
      <p:pic>
        <p:nvPicPr>
          <p:cNvPr id="18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35a71077344744"/>
          <a:srcRect xmlns:a="http://schemas.openxmlformats.org/drawingml/2006/main" l="27514" t="68352" r="60870" b="22566"/>
          <a:stretch xmlns:a="http://schemas.openxmlformats.org/drawingml/2006/main"/>
        </p:blipFill>
        <p:spPr>
          <a:xfrm xmlns:a="http://schemas.openxmlformats.org/drawingml/2006/main">
            <a:off x="3857625" y="6953250"/>
            <a:ext cx="1628775" cy="923925"/>
          </a:xfrm>
          <a:prstGeom xmlns:a="http://schemas.openxmlformats.org/drawingml/2006/main" prst="rect">
            <a:avLst/>
          </a:prstGeom>
        </p:spPr>
      </p:pic>
      <p:pic>
        <p:nvPicPr>
          <p:cNvPr id="18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c056a873e741eb"/>
          <a:srcRect xmlns:a="http://schemas.openxmlformats.org/drawingml/2006/main" l="48641" t="65356" r="47486" b="28371"/>
          <a:stretch xmlns:a="http://schemas.openxmlformats.org/drawingml/2006/main"/>
        </p:blipFill>
        <p:spPr>
          <a:xfrm xmlns:a="http://schemas.openxmlformats.org/drawingml/2006/main">
            <a:off x="6819900" y="6648450"/>
            <a:ext cx="542925" cy="638175"/>
          </a:xfrm>
          <a:prstGeom xmlns:a="http://schemas.openxmlformats.org/drawingml/2006/main" prst="rect">
            <a:avLst/>
          </a:prstGeom>
        </p:spPr>
      </p:pic>
      <p:pic>
        <p:nvPicPr>
          <p:cNvPr id="18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8c1dc41cab429c"/>
          <a:srcRect xmlns:a="http://schemas.openxmlformats.org/drawingml/2006/main" l="60054" t="65356" r="36005" b="27715"/>
          <a:stretch xmlns:a="http://schemas.openxmlformats.org/drawingml/2006/main"/>
        </p:blipFill>
        <p:spPr>
          <a:xfrm xmlns:a="http://schemas.openxmlformats.org/drawingml/2006/main">
            <a:off x="8420100" y="6648450"/>
            <a:ext cx="552450" cy="704850"/>
          </a:xfrm>
          <a:prstGeom xmlns:a="http://schemas.openxmlformats.org/drawingml/2006/main" prst="rect">
            <a:avLst/>
          </a:prstGeom>
        </p:spPr>
      </p:pic>
      <p:pic>
        <p:nvPicPr>
          <p:cNvPr id="19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67c5a7909341ef"/>
          <a:srcRect xmlns:a="http://schemas.openxmlformats.org/drawingml/2006/main" l="47418" t="72846" r="44361" b="23502"/>
          <a:stretch xmlns:a="http://schemas.openxmlformats.org/drawingml/2006/main"/>
        </p:blipFill>
        <p:spPr>
          <a:xfrm xmlns:a="http://schemas.openxmlformats.org/drawingml/2006/main">
            <a:off x="6648450" y="7410450"/>
            <a:ext cx="1152525" cy="371475"/>
          </a:xfrm>
          <a:prstGeom xmlns:a="http://schemas.openxmlformats.org/drawingml/2006/main" prst="rect">
            <a:avLst/>
          </a:prstGeom>
        </p:spPr>
      </p:pic>
      <p:pic>
        <p:nvPicPr>
          <p:cNvPr id="19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836c24dc98438a"/>
          <a:srcRect xmlns:a="http://schemas.openxmlformats.org/drawingml/2006/main" l="58628" t="72285" r="38451" b="23408"/>
          <a:stretch xmlns:a="http://schemas.openxmlformats.org/drawingml/2006/main"/>
        </p:blipFill>
        <p:spPr>
          <a:xfrm xmlns:a="http://schemas.openxmlformats.org/drawingml/2006/main">
            <a:off x="8220075" y="7353300"/>
            <a:ext cx="409575" cy="438150"/>
          </a:xfrm>
          <a:prstGeom xmlns:a="http://schemas.openxmlformats.org/drawingml/2006/main" prst="rect">
            <a:avLst/>
          </a:prstGeom>
        </p:spPr>
      </p:pic>
      <p:pic>
        <p:nvPicPr>
          <p:cNvPr id="19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b302c87dc44972"/>
          <a:srcRect xmlns:a="http://schemas.openxmlformats.org/drawingml/2006/main" l="48845" t="80805" r="45924" b="14513"/>
          <a:stretch xmlns:a="http://schemas.openxmlformats.org/drawingml/2006/main"/>
        </p:blipFill>
        <p:spPr>
          <a:xfrm xmlns:a="http://schemas.openxmlformats.org/drawingml/2006/main">
            <a:off x="6848475" y="8220075"/>
            <a:ext cx="733425" cy="476250"/>
          </a:xfrm>
          <a:prstGeom xmlns:a="http://schemas.openxmlformats.org/drawingml/2006/main" prst="rect">
            <a:avLst/>
          </a:prstGeom>
        </p:spPr>
      </p:pic>
      <p:pic>
        <p:nvPicPr>
          <p:cNvPr id="19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428c6d5e2945da"/>
          <a:srcRect xmlns:a="http://schemas.openxmlformats.org/drawingml/2006/main" l="57405" t="82491" r="36753" b="14607"/>
          <a:stretch xmlns:a="http://schemas.openxmlformats.org/drawingml/2006/main"/>
        </p:blipFill>
        <p:spPr>
          <a:xfrm xmlns:a="http://schemas.openxmlformats.org/drawingml/2006/main">
            <a:off x="8048625" y="8391525"/>
            <a:ext cx="819150" cy="295275"/>
          </a:xfrm>
          <a:prstGeom xmlns:a="http://schemas.openxmlformats.org/drawingml/2006/main" prst="rect">
            <a:avLst/>
          </a:prstGeom>
        </p:spPr>
      </p:pic>
      <p:pic>
        <p:nvPicPr>
          <p:cNvPr id="19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0f3e22a1a44b60"/>
          <a:srcRect xmlns:a="http://schemas.openxmlformats.org/drawingml/2006/main" l="53193" t="88577" r="41984" b="7959"/>
          <a:stretch xmlns:a="http://schemas.openxmlformats.org/drawingml/2006/main"/>
        </p:blipFill>
        <p:spPr>
          <a:xfrm xmlns:a="http://schemas.openxmlformats.org/drawingml/2006/main">
            <a:off x="7458075" y="9010650"/>
            <a:ext cx="676275" cy="3524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64963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2026-08-09T16:47:10.8890000Z</dcterms:created>
  <dcterms:modified xsi:type="dcterms:W3CDTF">2026-08-09T16:47:10.8890000Z</dcterms:modified>
</coreProperties>
</file>