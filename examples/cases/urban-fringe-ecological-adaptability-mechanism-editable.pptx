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f90af829434025" /><Relationship Type="http://schemas.openxmlformats.org/officeDocument/2006/relationships/extended-properties" Target="/docProps/app.xml" Id="R44f2c526fc8a49c1" /><Relationship Type="http://schemas.openxmlformats.org/officeDocument/2006/relationships/officeDocument" Target="/ppt/presentation.xml" Id="R410190bdadd64d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b6bcec6fd44307"/>
  </p:sldMasterIdLst>
  <p:notesMasterIdLst>
    <p:notesMasterId xmlns:r="http://schemas.openxmlformats.org/officeDocument/2006/relationships" r:id="R0615e4a686544dae"/>
  </p:notesMasterIdLst>
  <p:sldIdLst>
    <p:sldId xmlns:r="http://schemas.openxmlformats.org/officeDocument/2006/relationships" id="256" r:id="R4441a1ce587648f5"/>
  </p:sldIdLst>
  <p:sldSz cx="8134350" cy="102012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732a4f68a64748" /><Relationship Type="http://schemas.openxmlformats.org/officeDocument/2006/relationships/slideMaster" Target="/ppt/slideMasters/slideMaster1.xml" Id="Rfeb6bcec6fd44307" /><Relationship Type="http://schemas.openxmlformats.org/officeDocument/2006/relationships/notesMaster" Target="/ppt/notesMasters/notesMaster1.xml" Id="R0615e4a686544dae" /><Relationship Type="http://schemas.openxmlformats.org/officeDocument/2006/relationships/presProps" Target="/ppt/presProps.xml" Id="Rba17015093ea48f6" /><Relationship Type="http://schemas.openxmlformats.org/officeDocument/2006/relationships/viewProps" Target="/ppt/viewProps.xml" Id="Rcdb9bc5b38f94fd5" /><Relationship Type="http://schemas.openxmlformats.org/officeDocument/2006/relationships/tableStyles" Target="/ppt/tableStyles.xml" Id="R13fba9458dbf4b81" /><Relationship Type="http://schemas.openxmlformats.org/officeDocument/2006/relationships/slide" Target="/ppt/slides/slide1.xml" Id="R4441a1ce587648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ff48e120db47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75e5a5268342b0" /><Relationship Type="http://schemas.openxmlformats.org/officeDocument/2006/relationships/notesMaster" Target="/ppt/notesMasters/notesMaster1.xml" Id="R7af1c5c5282748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7447a8ee8646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7c00a93171458e" /><Relationship Type="http://schemas.openxmlformats.org/officeDocument/2006/relationships/slideLayout" Target="/ppt/slideLayouts/slideLayout1.xml" Id="R936ae7cbd57041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6ae7cbd57041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ae51ad60f3450f" /><Relationship Type="http://schemas.openxmlformats.org/officeDocument/2006/relationships/notesSlide" Target="/ppt/notesSlides/notesSlide1.xml" Id="R7de82f197e1d4b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0" name="section-problem">
            <a:extLst xmlns:a="http://schemas.openxmlformats.org/drawingml/2006/main">
              <a:ext uri="{FF2B5EF4-FFF2-40B4-BE49-F238E27FC236}">
                <a16:creationId xmlns:a16="http://schemas.microsoft.com/office/drawing/2014/main" id="{A1B3FB0A-729C-4093-A6A6-A9E7ECBD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285750"/>
            <a:ext cx="31432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B9B9B"/>
            </a:solidFill>
            <a:prstDash val="dash"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提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出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问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题</a:t>
            </a:r>
          </a:p>
        </p:txBody>
      </p:sp>
      <p:sp>
        <p:nvSpPr>
          <p:cNvPr id="2" name="problem-outer">
            <a:extLst xmlns:a="http://schemas.openxmlformats.org/drawingml/2006/main">
              <a:ext uri="{FF2B5EF4-FFF2-40B4-BE49-F238E27FC236}">
                <a16:creationId xmlns:a16="http://schemas.microsoft.com/office/drawing/2014/main" id="{D56778CE-2C13-4AC4-9C92-265AA12D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85750"/>
            <a:ext cx="71532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32323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op-theme-1">
            <a:extLst xmlns:a="http://schemas.openxmlformats.org/drawingml/2006/main">
              <a:ext uri="{FF2B5EF4-FFF2-40B4-BE49-F238E27FC236}">
                <a16:creationId xmlns:a16="http://schemas.microsoft.com/office/drawing/2014/main" id="{F7F286B6-494F-4782-8B0C-3F815547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9B9B9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op-theme-title-1">
            <a:extLst xmlns:a="http://schemas.openxmlformats.org/drawingml/2006/main">
              <a:ext uri="{FF2B5EF4-FFF2-40B4-BE49-F238E27FC236}">
                <a16:creationId xmlns:a16="http://schemas.microsoft.com/office/drawing/2014/main" id="{38D41F6D-8A07-440D-BC6E-7BEA56EA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163" b="1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城市发展转型</a:t>
            </a:r>
          </a:p>
        </p:txBody>
      </p:sp>
      <p:sp>
        <p:nvSpPr>
          <p:cNvPr id="5" name="top-theme-left-1">
            <a:extLst xmlns:a="http://schemas.openxmlformats.org/drawingml/2006/main">
              <a:ext uri="{FF2B5EF4-FFF2-40B4-BE49-F238E27FC236}">
                <a16:creationId xmlns:a16="http://schemas.microsoft.com/office/drawing/2014/main" id="{D510316D-6C41-4333-A2EE-F0F5B900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8175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65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65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规模扩张</a:t>
            </a:r>
          </a:p>
        </p:txBody>
      </p:sp>
      <p:sp>
        <p:nvSpPr>
          <p:cNvPr id="6" name="top-theme-right-1">
            <a:extLst xmlns:a="http://schemas.openxmlformats.org/drawingml/2006/main">
              <a:ext uri="{FF2B5EF4-FFF2-40B4-BE49-F238E27FC236}">
                <a16:creationId xmlns:a16="http://schemas.microsoft.com/office/drawing/2014/main" id="{1B4F0C19-F763-417E-9C5B-CB916A2F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63817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65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65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规模扩张</a:t>
            </a:r>
          </a:p>
        </p:txBody>
      </p:sp>
      <p:cxnSp>
        <p:nvCxnSpPr>
          <p:cNvPr id="364" name="直线箭头连接符 185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466850" y="771525"/>
            <a:ext cx="104775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666666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8" name="top-theme-2">
            <a:extLst xmlns:a="http://schemas.openxmlformats.org/drawingml/2006/main">
              <a:ext uri="{FF2B5EF4-FFF2-40B4-BE49-F238E27FC236}">
                <a16:creationId xmlns:a16="http://schemas.microsoft.com/office/drawing/2014/main" id="{0E02BF36-3157-48FC-88B7-6F66F68A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1950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9B9B9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op-theme-title-2">
            <a:extLst xmlns:a="http://schemas.openxmlformats.org/drawingml/2006/main">
              <a:ext uri="{FF2B5EF4-FFF2-40B4-BE49-F238E27FC236}">
                <a16:creationId xmlns:a16="http://schemas.microsoft.com/office/drawing/2014/main" id="{C97280C2-5C55-4C3C-B05F-10D4F29B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8100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163" b="1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生态文明建设</a:t>
            </a:r>
          </a:p>
        </p:txBody>
      </p:sp>
      <p:sp>
        <p:nvSpPr>
          <p:cNvPr id="10" name="top-theme-left-2">
            <a:extLst xmlns:a="http://schemas.openxmlformats.org/drawingml/2006/main">
              <a:ext uri="{FF2B5EF4-FFF2-40B4-BE49-F238E27FC236}">
                <a16:creationId xmlns:a16="http://schemas.microsoft.com/office/drawing/2014/main" id="{AF1E2188-F110-4B2F-9606-47CF2A7C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638175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65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65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增长主义</a:t>
            </a:r>
          </a:p>
        </p:txBody>
      </p:sp>
      <p:sp>
        <p:nvSpPr>
          <p:cNvPr id="11" name="top-theme-right-2">
            <a:extLst xmlns:a="http://schemas.openxmlformats.org/drawingml/2006/main">
              <a:ext uri="{FF2B5EF4-FFF2-40B4-BE49-F238E27FC236}">
                <a16:creationId xmlns:a16="http://schemas.microsoft.com/office/drawing/2014/main" id="{99B786CD-C1DC-4924-8E2D-D7F4532A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63817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65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65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底线思维</a:t>
            </a:r>
          </a:p>
        </p:txBody>
      </p:sp>
      <p:cxnSp>
        <p:nvCxnSpPr>
          <p:cNvPr id="369" name="直线箭头连接符 190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219450" y="771525"/>
            <a:ext cx="104775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666666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13" name="top-theme-3">
            <a:extLst xmlns:a="http://schemas.openxmlformats.org/drawingml/2006/main">
              <a:ext uri="{FF2B5EF4-FFF2-40B4-BE49-F238E27FC236}">
                <a16:creationId xmlns:a16="http://schemas.microsoft.com/office/drawing/2014/main" id="{AD4969A5-AF20-4C1D-8C47-A7F6414C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1950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9B9B9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op-theme-title-3">
            <a:extLst xmlns:a="http://schemas.openxmlformats.org/drawingml/2006/main">
              <a:ext uri="{FF2B5EF4-FFF2-40B4-BE49-F238E27FC236}">
                <a16:creationId xmlns:a16="http://schemas.microsoft.com/office/drawing/2014/main" id="{4F7EFB98-0DFD-4BD8-BD03-F203462A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8100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163" b="1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地域结构分异</a:t>
            </a:r>
          </a:p>
        </p:txBody>
      </p:sp>
      <p:sp>
        <p:nvSpPr>
          <p:cNvPr id="15" name="top-theme-left-3">
            <a:extLst xmlns:a="http://schemas.openxmlformats.org/drawingml/2006/main">
              <a:ext uri="{FF2B5EF4-FFF2-40B4-BE49-F238E27FC236}">
                <a16:creationId xmlns:a16="http://schemas.microsoft.com/office/drawing/2014/main" id="{E8961559-D41D-4A0C-8BF4-9918F827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38175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65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65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增长主义</a:t>
            </a:r>
          </a:p>
        </p:txBody>
      </p:sp>
      <p:sp>
        <p:nvSpPr>
          <p:cNvPr id="16" name="top-theme-right-3">
            <a:extLst xmlns:a="http://schemas.openxmlformats.org/drawingml/2006/main">
              <a:ext uri="{FF2B5EF4-FFF2-40B4-BE49-F238E27FC236}">
                <a16:creationId xmlns:a16="http://schemas.microsoft.com/office/drawing/2014/main" id="{FE662600-8FED-41EC-8223-9DB72AFA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63817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65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65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底线思维</a:t>
            </a:r>
          </a:p>
        </p:txBody>
      </p:sp>
      <p:cxnSp>
        <p:nvCxnSpPr>
          <p:cNvPr id="374" name="直线箭头连接符 195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010150" y="771525"/>
            <a:ext cx="104775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666666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18" name="top-theme-4">
            <a:extLst xmlns:a="http://schemas.openxmlformats.org/drawingml/2006/main">
              <a:ext uri="{FF2B5EF4-FFF2-40B4-BE49-F238E27FC236}">
                <a16:creationId xmlns:a16="http://schemas.microsoft.com/office/drawing/2014/main" id="{0C22922D-5847-4FD1-A83D-F05F5255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1950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9B9B9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op-theme-title-4">
            <a:extLst xmlns:a="http://schemas.openxmlformats.org/drawingml/2006/main">
              <a:ext uri="{FF2B5EF4-FFF2-40B4-BE49-F238E27FC236}">
                <a16:creationId xmlns:a16="http://schemas.microsoft.com/office/drawing/2014/main" id="{5219A950-80A0-4D63-8D5C-FE174A10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100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163" b="1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思维范式更迭</a:t>
            </a:r>
          </a:p>
        </p:txBody>
      </p:sp>
      <p:sp>
        <p:nvSpPr>
          <p:cNvPr id="20" name="top-theme-left-4">
            <a:extLst xmlns:a="http://schemas.openxmlformats.org/drawingml/2006/main">
              <a:ext uri="{FF2B5EF4-FFF2-40B4-BE49-F238E27FC236}">
                <a16:creationId xmlns:a16="http://schemas.microsoft.com/office/drawing/2014/main" id="{38D46464-F745-443B-ACAC-ED669C27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638175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65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65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机械理性</a:t>
            </a:r>
          </a:p>
        </p:txBody>
      </p:sp>
      <p:sp>
        <p:nvSpPr>
          <p:cNvPr id="21" name="top-theme-right-4">
            <a:extLst xmlns:a="http://schemas.openxmlformats.org/drawingml/2006/main">
              <a:ext uri="{FF2B5EF4-FFF2-40B4-BE49-F238E27FC236}">
                <a16:creationId xmlns:a16="http://schemas.microsoft.com/office/drawing/2014/main" id="{06559FD0-2D8F-42CE-869C-01B61B8C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63817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65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65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生态理性</a:t>
            </a:r>
          </a:p>
        </p:txBody>
      </p:sp>
      <p:cxnSp>
        <p:nvCxnSpPr>
          <p:cNvPr id="379" name="直线箭头连接符 200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6781800" y="771525"/>
            <a:ext cx="104775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666666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23" name="top-divider">
            <a:extLst xmlns:a="http://schemas.openxmlformats.org/drawingml/2006/main">
              <a:ext uri="{FF2B5EF4-FFF2-40B4-BE49-F238E27FC236}">
                <a16:creationId xmlns:a16="http://schemas.microsoft.com/office/drawing/2014/main" id="{79D88AD7-89A0-4A24-9DC7-D4F5FB4E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0125"/>
            <a:ext cx="7038975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B9B9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heory-result">
            <a:extLst xmlns:a="http://schemas.openxmlformats.org/drawingml/2006/main">
              <a:ext uri="{FF2B5EF4-FFF2-40B4-BE49-F238E27FC236}">
                <a16:creationId xmlns:a16="http://schemas.microsoft.com/office/drawing/2014/main" id="{6EDC4004-A44F-42B0-91DF-E4EBFF33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143000"/>
            <a:ext cx="15621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35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35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现有理论成果</a:t>
            </a:r>
          </a:p>
          <a:p xmlns:a="http://schemas.openxmlformats.org/drawingml/2006/main">
            <a:pPr algn="ctr">
              <a:buNone/>
              <a:defRPr sz="1035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35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城市边缘区的空间特征</a:t>
            </a:r>
          </a:p>
          <a:p xmlns:a="http://schemas.openxmlformats.org/drawingml/2006/main">
            <a:pPr algn="ctr">
              <a:buNone/>
              <a:defRPr sz="1035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35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与演变规律</a:t>
            </a:r>
          </a:p>
        </p:txBody>
      </p:sp>
      <p:sp>
        <p:nvSpPr>
          <p:cNvPr id="25" name="core-objective">
            <a:extLst xmlns:a="http://schemas.openxmlformats.org/drawingml/2006/main">
              <a:ext uri="{FF2B5EF4-FFF2-40B4-BE49-F238E27FC236}">
                <a16:creationId xmlns:a16="http://schemas.microsoft.com/office/drawing/2014/main" id="{D2ED3F1B-3E17-4F2E-AE0A-C151FF98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143000"/>
            <a:ext cx="27717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15240">
            <a:solidFill>
              <a:srgbClr val="32323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core-objective-title">
            <a:extLst xmlns:a="http://schemas.openxmlformats.org/drawingml/2006/main">
              <a:ext uri="{FF2B5EF4-FFF2-40B4-BE49-F238E27FC236}">
                <a16:creationId xmlns:a16="http://schemas.microsoft.com/office/drawing/2014/main" id="{64B4365C-B098-41A7-813D-8A7C3774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171575"/>
            <a:ext cx="2695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13" b="1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313" b="1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核心研究目标</a:t>
            </a:r>
          </a:p>
        </p:txBody>
      </p:sp>
      <p:sp>
        <p:nvSpPr>
          <p:cNvPr id="27" name="theory-goal">
            <a:extLst xmlns:a="http://schemas.openxmlformats.org/drawingml/2006/main">
              <a:ext uri="{FF2B5EF4-FFF2-40B4-BE49-F238E27FC236}">
                <a16:creationId xmlns:a16="http://schemas.microsoft.com/office/drawing/2014/main" id="{7573FD74-DACF-4553-907B-A47AB377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476375"/>
            <a:ext cx="685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20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20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理论目标</a:t>
            </a:r>
          </a:p>
        </p:txBody>
      </p:sp>
      <p:sp>
        <p:nvSpPr>
          <p:cNvPr id="28" name="tech-goal">
            <a:extLst xmlns:a="http://schemas.openxmlformats.org/drawingml/2006/main">
              <a:ext uri="{FF2B5EF4-FFF2-40B4-BE49-F238E27FC236}">
                <a16:creationId xmlns:a16="http://schemas.microsoft.com/office/drawing/2014/main" id="{F90D3C25-8909-4B59-8877-76D4FE1C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476375"/>
            <a:ext cx="685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20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20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技术目标</a:t>
            </a:r>
          </a:p>
        </p:txBody>
      </p:sp>
      <p:sp>
        <p:nvSpPr>
          <p:cNvPr id="29" name="practice-goal">
            <a:extLst xmlns:a="http://schemas.openxmlformats.org/drawingml/2006/main">
              <a:ext uri="{FF2B5EF4-FFF2-40B4-BE49-F238E27FC236}">
                <a16:creationId xmlns:a16="http://schemas.microsoft.com/office/drawing/2014/main" id="{DCFDAA0C-F4D1-4A91-8ECB-EF291296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476375"/>
            <a:ext cx="685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20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20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实践目标</a:t>
            </a:r>
          </a:p>
        </p:txBody>
      </p:sp>
      <p:sp>
        <p:nvSpPr>
          <p:cNvPr id="30" name="plus-goal-1">
            <a:extLst xmlns:a="http://schemas.openxmlformats.org/drawingml/2006/main">
              <a:ext uri="{FF2B5EF4-FFF2-40B4-BE49-F238E27FC236}">
                <a16:creationId xmlns:a16="http://schemas.microsoft.com/office/drawing/2014/main" id="{0948BE43-8810-4F7D-9845-3F33C8F4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447800"/>
            <a:ext cx="209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950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+</a:t>
            </a:r>
          </a:p>
        </p:txBody>
      </p:sp>
      <p:sp>
        <p:nvSpPr>
          <p:cNvPr id="31" name="plus-goal-2">
            <a:extLst xmlns:a="http://schemas.openxmlformats.org/drawingml/2006/main">
              <a:ext uri="{FF2B5EF4-FFF2-40B4-BE49-F238E27FC236}">
                <a16:creationId xmlns:a16="http://schemas.microsoft.com/office/drawing/2014/main" id="{285BA7EA-013A-40A6-ADA8-47C7D841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447800"/>
            <a:ext cx="209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950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+</a:t>
            </a:r>
          </a:p>
        </p:txBody>
      </p:sp>
      <p:sp>
        <p:nvSpPr>
          <p:cNvPr id="32" name="practice-result">
            <a:extLst xmlns:a="http://schemas.openxmlformats.org/drawingml/2006/main">
              <a:ext uri="{FF2B5EF4-FFF2-40B4-BE49-F238E27FC236}">
                <a16:creationId xmlns:a16="http://schemas.microsoft.com/office/drawing/2014/main" id="{1FC0182A-897D-47EA-9F63-75D2ACD9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143000"/>
            <a:ext cx="15621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35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35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现有实践成果</a:t>
            </a:r>
          </a:p>
          <a:p xmlns:a="http://schemas.openxmlformats.org/drawingml/2006/main">
            <a:pPr algn="ctr">
              <a:buNone/>
              <a:defRPr sz="1035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35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城市边缘区的生态管控</a:t>
            </a:r>
          </a:p>
          <a:p xmlns:a="http://schemas.openxmlformats.org/drawingml/2006/main">
            <a:pPr algn="ctr">
              <a:buNone/>
              <a:defRPr sz="1035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35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与规划案例</a:t>
            </a:r>
          </a:p>
        </p:txBody>
      </p:sp>
      <p:sp>
        <p:nvSpPr>
          <p:cNvPr id="33" name="theory-to-core">
            <a:extLst xmlns:a="http://schemas.openxmlformats.org/drawingml/2006/main">
              <a:ext uri="{FF2B5EF4-FFF2-40B4-BE49-F238E27FC236}">
                <a16:creationId xmlns:a16="http://schemas.microsoft.com/office/drawing/2014/main" id="{2996CC6C-D1EA-45E4-9072-56568379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257300"/>
            <a:ext cx="180975" cy="3714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B9B9"/>
          </a:solidFill>
          <a:ln xmlns:a="http://schemas.openxmlformats.org/drawingml/2006/main" w="4763">
            <a:solidFill>
              <a:srgbClr val="B9B9B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practice-to-core">
            <a:extLst xmlns:a="http://schemas.openxmlformats.org/drawingml/2006/main">
              <a:ext uri="{FF2B5EF4-FFF2-40B4-BE49-F238E27FC236}">
                <a16:creationId xmlns:a16="http://schemas.microsoft.com/office/drawing/2014/main" id="{B7AA8612-A994-4451-8001-1CD73A5C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257300"/>
            <a:ext cx="180975" cy="37147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B9B9B9"/>
          </a:solidFill>
          <a:ln xmlns:a="http://schemas.openxmlformats.org/drawingml/2006/main" w="4763">
            <a:solidFill>
              <a:srgbClr val="B9B9B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top-to-core">
            <a:extLst xmlns:a="http://schemas.openxmlformats.org/drawingml/2006/main">
              <a:ext uri="{FF2B5EF4-FFF2-40B4-BE49-F238E27FC236}">
                <a16:creationId xmlns:a16="http://schemas.microsoft.com/office/drawing/2014/main" id="{37937A12-1E7C-4D16-BFDF-04E3A35A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6" y="1009650"/>
            <a:ext cx="11430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6666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problem-to-analysis">
            <a:extLst xmlns:a="http://schemas.openxmlformats.org/drawingml/2006/main">
              <a:ext uri="{FF2B5EF4-FFF2-40B4-BE49-F238E27FC236}">
                <a16:creationId xmlns:a16="http://schemas.microsoft.com/office/drawing/2014/main" id="{DFB30B3B-5D7D-42E9-A846-9F7FA2F1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895475"/>
            <a:ext cx="3810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66666"/>
          </a:solidFill>
          <a:ln xmlns:a="http://schemas.openxmlformats.org/drawingml/2006/main" w="7620">
            <a:solidFill>
              <a:srgbClr val="66666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section-analysis">
            <a:extLst xmlns:a="http://schemas.openxmlformats.org/drawingml/2006/main">
              <a:ext uri="{FF2B5EF4-FFF2-40B4-BE49-F238E27FC236}">
                <a16:creationId xmlns:a16="http://schemas.microsoft.com/office/drawing/2014/main" id="{CF416CFD-6241-47EB-9336-BCEDADE0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2095500"/>
            <a:ext cx="314325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B9B9B"/>
            </a:solidFill>
            <a:prstDash val="dash"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分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析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问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题</a:t>
            </a:r>
          </a:p>
        </p:txBody>
      </p:sp>
      <p:sp>
        <p:nvSpPr>
          <p:cNvPr id="38" name="theory-framework-outer">
            <a:extLst xmlns:a="http://schemas.openxmlformats.org/drawingml/2006/main">
              <a:ext uri="{FF2B5EF4-FFF2-40B4-BE49-F238E27FC236}">
                <a16:creationId xmlns:a16="http://schemas.microsoft.com/office/drawing/2014/main" id="{94357D61-53D1-425E-9753-AEAF76B5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095500"/>
            <a:ext cx="71532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32323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theory-framework-header">
            <a:extLst xmlns:a="http://schemas.openxmlformats.org/drawingml/2006/main">
              <a:ext uri="{FF2B5EF4-FFF2-40B4-BE49-F238E27FC236}">
                <a16:creationId xmlns:a16="http://schemas.microsoft.com/office/drawing/2014/main" id="{1ADC9787-FF05-48DC-8C80-3129D98A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24075"/>
            <a:ext cx="7096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4763">
            <a:solidFill>
              <a:srgbClr val="C9C9C9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城市边缘区生态适应性演进理论方法框架</a:t>
            </a:r>
          </a:p>
        </p:txBody>
      </p:sp>
      <p:sp>
        <p:nvSpPr>
          <p:cNvPr id="40" name="problem-reflection">
            <a:extLst xmlns:a="http://schemas.openxmlformats.org/drawingml/2006/main">
              <a:ext uri="{FF2B5EF4-FFF2-40B4-BE49-F238E27FC236}">
                <a16:creationId xmlns:a16="http://schemas.microsoft.com/office/drawing/2014/main" id="{9C07A21D-3786-4FD1-BF8B-403E1AA7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8400"/>
            <a:ext cx="12573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666666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65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65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问题反思</a:t>
            </a:r>
          </a:p>
          <a:p xmlns:a="http://schemas.openxmlformats.org/drawingml/2006/main">
            <a:pPr algn="ctr">
              <a:buNone/>
              <a:defRPr sz="1065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65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城市边缘区生态</a:t>
            </a:r>
          </a:p>
          <a:p xmlns:a="http://schemas.openxmlformats.org/drawingml/2006/main">
            <a:pPr algn="ctr">
              <a:buNone/>
              <a:defRPr sz="1065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65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发展困境解构</a:t>
            </a:r>
          </a:p>
        </p:txBody>
      </p:sp>
      <p:sp>
        <p:nvSpPr>
          <p:cNvPr id="41" name="mechanism-outer">
            <a:extLst xmlns:a="http://schemas.openxmlformats.org/drawingml/2006/main">
              <a:ext uri="{FF2B5EF4-FFF2-40B4-BE49-F238E27FC236}">
                <a16:creationId xmlns:a16="http://schemas.microsoft.com/office/drawing/2014/main" id="{B8F8092B-126D-4E98-B1BD-F6052918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428875"/>
            <a:ext cx="3524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mechanism-title">
            <a:extLst xmlns:a="http://schemas.openxmlformats.org/drawingml/2006/main">
              <a:ext uri="{FF2B5EF4-FFF2-40B4-BE49-F238E27FC236}">
                <a16:creationId xmlns:a16="http://schemas.microsoft.com/office/drawing/2014/main" id="{CDFFB5C7-AEA5-4A03-8568-3E379ABE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47925"/>
            <a:ext cx="3448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生态适应性演进机制</a:t>
            </a:r>
          </a:p>
        </p:txBody>
      </p:sp>
      <p:sp>
        <p:nvSpPr>
          <p:cNvPr id="43" name="mechanism-attribute">
            <a:extLst xmlns:a="http://schemas.openxmlformats.org/drawingml/2006/main">
              <a:ext uri="{FF2B5EF4-FFF2-40B4-BE49-F238E27FC236}">
                <a16:creationId xmlns:a16="http://schemas.microsoft.com/office/drawing/2014/main" id="{1671EBD5-97B2-402F-BBE9-48563E01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724150"/>
            <a:ext cx="914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13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13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属性维</a:t>
            </a:r>
          </a:p>
          <a:p xmlns:a="http://schemas.openxmlformats.org/drawingml/2006/main">
            <a:pPr algn="ctr">
              <a:buNone/>
              <a:defRPr sz="1013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13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驱动要素</a:t>
            </a:r>
          </a:p>
        </p:txBody>
      </p:sp>
      <p:sp>
        <p:nvSpPr>
          <p:cNvPr id="44" name="mechanism-time">
            <a:extLst xmlns:a="http://schemas.openxmlformats.org/drawingml/2006/main">
              <a:ext uri="{FF2B5EF4-FFF2-40B4-BE49-F238E27FC236}">
                <a16:creationId xmlns:a16="http://schemas.microsoft.com/office/drawing/2014/main" id="{A8EEF7A4-A0A2-4464-8EDF-9D97E74C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914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13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13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时间维</a:t>
            </a:r>
          </a:p>
          <a:p xmlns:a="http://schemas.openxmlformats.org/drawingml/2006/main">
            <a:pPr algn="ctr">
              <a:buNone/>
              <a:defRPr sz="1013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13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循环路径</a:t>
            </a:r>
          </a:p>
        </p:txBody>
      </p:sp>
      <p:sp>
        <p:nvSpPr>
          <p:cNvPr id="45" name="mechanism-scale">
            <a:extLst xmlns:a="http://schemas.openxmlformats.org/drawingml/2006/main">
              <a:ext uri="{FF2B5EF4-FFF2-40B4-BE49-F238E27FC236}">
                <a16:creationId xmlns:a16="http://schemas.microsoft.com/office/drawing/2014/main" id="{13E56957-A75E-4FBA-89FD-BBBD0EAA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724150"/>
            <a:ext cx="8191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13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13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尺度维</a:t>
            </a:r>
          </a:p>
          <a:p xmlns:a="http://schemas.openxmlformats.org/drawingml/2006/main">
            <a:pPr algn="ctr">
              <a:buNone/>
              <a:defRPr sz="1013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13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嵌套结构</a:t>
            </a:r>
          </a:p>
        </p:txBody>
      </p:sp>
      <p:sp>
        <p:nvSpPr>
          <p:cNvPr id="46" name="plus-mech-1">
            <a:extLst xmlns:a="http://schemas.openxmlformats.org/drawingml/2006/main">
              <a:ext uri="{FF2B5EF4-FFF2-40B4-BE49-F238E27FC236}">
                <a16:creationId xmlns:a16="http://schemas.microsoft.com/office/drawing/2014/main" id="{A60199F6-CAFE-47BD-BE72-3891F690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52725"/>
            <a:ext cx="276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+</a:t>
            </a:r>
          </a:p>
        </p:txBody>
      </p:sp>
      <p:sp>
        <p:nvSpPr>
          <p:cNvPr id="47" name="plus-mech-2">
            <a:extLst xmlns:a="http://schemas.openxmlformats.org/drawingml/2006/main">
              <a:ext uri="{FF2B5EF4-FFF2-40B4-BE49-F238E27FC236}">
                <a16:creationId xmlns:a16="http://schemas.microsoft.com/office/drawing/2014/main" id="{6E984CD8-8109-4B33-A427-813CBF6B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52725"/>
            <a:ext cx="276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+</a:t>
            </a:r>
          </a:p>
        </p:txBody>
      </p:sp>
      <p:sp>
        <p:nvSpPr>
          <p:cNvPr id="48" name="concept-intro">
            <a:extLst xmlns:a="http://schemas.openxmlformats.org/drawingml/2006/main">
              <a:ext uri="{FF2B5EF4-FFF2-40B4-BE49-F238E27FC236}">
                <a16:creationId xmlns:a16="http://schemas.microsoft.com/office/drawing/2014/main" id="{D5ACF759-B989-4E89-8EB0-701A7FE6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38400"/>
            <a:ext cx="12573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666666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65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65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理念引入</a:t>
            </a:r>
          </a:p>
          <a:p xmlns:a="http://schemas.openxmlformats.org/drawingml/2006/main">
            <a:pPr algn="ctr">
              <a:buNone/>
              <a:defRPr sz="1065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65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生态适应性的</a:t>
            </a:r>
          </a:p>
          <a:p xmlns:a="http://schemas.openxmlformats.org/drawingml/2006/main">
            <a:pPr algn="ctr">
              <a:buNone/>
              <a:defRPr sz="1065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65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理论本源与内涵</a:t>
            </a:r>
          </a:p>
        </p:txBody>
      </p:sp>
      <p:cxnSp>
        <p:nvCxnSpPr>
          <p:cNvPr id="406" name="直线箭头连接符 227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885950" y="279558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666666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50" name="basis-label">
            <a:extLst xmlns:a="http://schemas.openxmlformats.org/drawingml/2006/main">
              <a:ext uri="{FF2B5EF4-FFF2-40B4-BE49-F238E27FC236}">
                <a16:creationId xmlns:a16="http://schemas.microsoft.com/office/drawing/2014/main" id="{7F3D8B49-AF78-4E5F-8567-3DE55C6D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76525"/>
            <a:ext cx="3524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938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依据</a:t>
            </a:r>
          </a:p>
        </p:txBody>
      </p:sp>
      <p:cxnSp>
        <p:nvCxnSpPr>
          <p:cNvPr id="408" name="直线箭头连接符 229"/>
          <p:cNvCxnSpPr>
            <a:stCxn xmlns:a="http://schemas.openxmlformats.org/drawingml/2006/main" id="48" idx="1"/>
            <a:endCxn xmlns:a="http://schemas.openxmlformats.org/drawingml/2006/main" id="41" idx="3"/>
          </p:cNvCxnSpPr>
          <p:nvPr/>
        </p:nvCxnSpPr>
        <p:spPr>
          <a:xfrm xmlns:a="http://schemas.openxmlformats.org/drawingml/2006/main" flipH="1">
            <a:off x="5886450" y="279558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666666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52" name="link-label">
            <a:extLst xmlns:a="http://schemas.openxmlformats.org/drawingml/2006/main">
              <a:ext uri="{FF2B5EF4-FFF2-40B4-BE49-F238E27FC236}">
                <a16:creationId xmlns:a16="http://schemas.microsoft.com/office/drawing/2014/main" id="{A57A6951-28CB-41A6-A85F-17C8FE82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6765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938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衔接</a:t>
            </a:r>
          </a:p>
        </p:txBody>
      </p:sp>
      <p:sp>
        <p:nvSpPr>
          <p:cNvPr id="53" name="paradigm-strip">
            <a:extLst xmlns:a="http://schemas.openxmlformats.org/drawingml/2006/main">
              <a:ext uri="{FF2B5EF4-FFF2-40B4-BE49-F238E27FC236}">
                <a16:creationId xmlns:a16="http://schemas.microsoft.com/office/drawing/2014/main" id="{9F254AD4-FB51-40E7-ACF3-CCABC30B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76600"/>
            <a:ext cx="6991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666666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38" b="1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238" b="1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范式转型：生态适应性优化方法  +  生态适应性规划路径</a:t>
            </a:r>
          </a:p>
        </p:txBody>
      </p:sp>
      <p:sp>
        <p:nvSpPr>
          <p:cNvPr id="54" name="mechanism-to-strip">
            <a:extLst xmlns:a="http://schemas.openxmlformats.org/drawingml/2006/main">
              <a:ext uri="{FF2B5EF4-FFF2-40B4-BE49-F238E27FC236}">
                <a16:creationId xmlns:a16="http://schemas.microsoft.com/office/drawing/2014/main" id="{159C5047-084B-4FA0-B23C-347586F6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162300"/>
            <a:ext cx="1905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6666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5" name="framework-to-analysis">
            <a:extLst xmlns:a="http://schemas.openxmlformats.org/drawingml/2006/main">
              <a:ext uri="{FF2B5EF4-FFF2-40B4-BE49-F238E27FC236}">
                <a16:creationId xmlns:a16="http://schemas.microsoft.com/office/drawing/2014/main" id="{EE3B0998-B715-436B-AC52-44885B77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714750"/>
            <a:ext cx="3810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66666"/>
          </a:solidFill>
          <a:ln xmlns:a="http://schemas.openxmlformats.org/drawingml/2006/main" w="7620">
            <a:solidFill>
              <a:srgbClr val="66666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" name="spatial-analysis-outer">
            <a:extLst xmlns:a="http://schemas.openxmlformats.org/drawingml/2006/main">
              <a:ext uri="{FF2B5EF4-FFF2-40B4-BE49-F238E27FC236}">
                <a16:creationId xmlns:a16="http://schemas.microsoft.com/office/drawing/2014/main" id="{92EA5D1C-53F8-452D-8D51-5D151176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905250"/>
            <a:ext cx="7153275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32323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" name="spatial-analysis-header">
            <a:extLst xmlns:a="http://schemas.openxmlformats.org/drawingml/2006/main">
              <a:ext uri="{FF2B5EF4-FFF2-40B4-BE49-F238E27FC236}">
                <a16:creationId xmlns:a16="http://schemas.microsoft.com/office/drawing/2014/main" id="{30688A9A-B94E-4E50-AF40-87F422A6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33825"/>
            <a:ext cx="70961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4763">
            <a:solidFill>
              <a:srgbClr val="C9C9C9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城市边缘区空间识别与演变规律分析</a:t>
            </a:r>
          </a:p>
        </p:txBody>
      </p:sp>
      <p:sp>
        <p:nvSpPr>
          <p:cNvPr id="58" name="recognition-outer">
            <a:extLst xmlns:a="http://schemas.openxmlformats.org/drawingml/2006/main">
              <a:ext uri="{FF2B5EF4-FFF2-40B4-BE49-F238E27FC236}">
                <a16:creationId xmlns:a16="http://schemas.microsoft.com/office/drawing/2014/main" id="{10DF438E-88F9-4077-A87B-E397C34A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2524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9" name="recognition-title">
            <a:extLst xmlns:a="http://schemas.openxmlformats.org/drawingml/2006/main">
              <a:ext uri="{FF2B5EF4-FFF2-40B4-BE49-F238E27FC236}">
                <a16:creationId xmlns:a16="http://schemas.microsoft.com/office/drawing/2014/main" id="{E33FC1F7-9FA8-4D7D-BC7F-37FFBD60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2447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163" b="1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识别指标</a:t>
            </a:r>
          </a:p>
        </p:txBody>
      </p:sp>
      <p:sp>
        <p:nvSpPr>
          <p:cNvPr id="60" name="indicator-mutation">
            <a:extLst xmlns:a="http://schemas.openxmlformats.org/drawingml/2006/main">
              <a:ext uri="{FF2B5EF4-FFF2-40B4-BE49-F238E27FC236}">
                <a16:creationId xmlns:a16="http://schemas.microsoft.com/office/drawing/2014/main" id="{594640EF-8F51-4DE4-9A45-33739CA8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524375"/>
            <a:ext cx="6381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90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990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异质性</a:t>
            </a:r>
          </a:p>
        </p:txBody>
      </p:sp>
      <p:sp>
        <p:nvSpPr>
          <p:cNvPr id="61" name="indicator-transition">
            <a:extLst xmlns:a="http://schemas.openxmlformats.org/drawingml/2006/main">
              <a:ext uri="{FF2B5EF4-FFF2-40B4-BE49-F238E27FC236}">
                <a16:creationId xmlns:a16="http://schemas.microsoft.com/office/drawing/2014/main" id="{07D20A93-00DF-49E9-8DEC-769BFC2E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24375"/>
            <a:ext cx="6381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90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990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过渡性</a:t>
            </a:r>
          </a:p>
        </p:txBody>
      </p:sp>
      <p:sp>
        <p:nvSpPr>
          <p:cNvPr id="62" name="indicator-dynamic">
            <a:extLst xmlns:a="http://schemas.openxmlformats.org/drawingml/2006/main">
              <a:ext uri="{FF2B5EF4-FFF2-40B4-BE49-F238E27FC236}">
                <a16:creationId xmlns:a16="http://schemas.microsoft.com/office/drawing/2014/main" id="{8777297C-D75A-4F8F-B5EC-CC63518B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24375"/>
            <a:ext cx="6381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90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990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动态性</a:t>
            </a:r>
          </a:p>
        </p:txBody>
      </p:sp>
      <p:sp>
        <p:nvSpPr>
          <p:cNvPr id="63" name="dlw">
            <a:extLst xmlns:a="http://schemas.openxmlformats.org/drawingml/2006/main">
              <a:ext uri="{FF2B5EF4-FFF2-40B4-BE49-F238E27FC236}">
                <a16:creationId xmlns:a16="http://schemas.microsoft.com/office/drawing/2014/main" id="{4D7B0D42-29BA-4421-B7D6-EC40C893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29175"/>
            <a:ext cx="22288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90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990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动态线性加权（DLW）</a:t>
            </a:r>
          </a:p>
        </p:txBody>
      </p:sp>
      <p:cxnSp>
        <p:nvCxnSpPr>
          <p:cNvPr id="421" name="直线箭头连接符 242"/>
          <p:cNvCxnSpPr>
            <a:stCxn xmlns:a="http://schemas.openxmlformats.org/drawingml/2006/main" id="61" idx="2"/>
            <a:endCxn xmlns:a="http://schemas.openxmlformats.org/drawingml/2006/main" id="63" idx="0"/>
          </p:cNvCxnSpPr>
          <p:nvPr/>
        </p:nvCxnSpPr>
        <p:spPr>
          <a:xfrm xmlns:a="http://schemas.openxmlformats.org/drawingml/2006/main">
            <a:off x="1843088" y="4762500"/>
            <a:ext cx="4763" cy="666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66666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65" name="indicator-branch">
            <a:extLst xmlns:a="http://schemas.openxmlformats.org/drawingml/2006/main">
              <a:ext uri="{FF2B5EF4-FFF2-40B4-BE49-F238E27FC236}">
                <a16:creationId xmlns:a16="http://schemas.microsoft.com/office/drawing/2014/main" id="{6B2F9438-224B-4743-A0DD-DCB84227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772025"/>
            <a:ext cx="1590675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6" name="model-outer">
            <a:extLst xmlns:a="http://schemas.openxmlformats.org/drawingml/2006/main">
              <a:ext uri="{FF2B5EF4-FFF2-40B4-BE49-F238E27FC236}">
                <a16:creationId xmlns:a16="http://schemas.microsoft.com/office/drawing/2014/main" id="{42063F1D-D333-459B-9BF4-D63BCA68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48150"/>
            <a:ext cx="23526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7" name="model-title">
            <a:extLst xmlns:a="http://schemas.openxmlformats.org/drawingml/2006/main">
              <a:ext uri="{FF2B5EF4-FFF2-40B4-BE49-F238E27FC236}">
                <a16:creationId xmlns:a16="http://schemas.microsoft.com/office/drawing/2014/main" id="{6967AD6A-0934-48FD-8CFA-AFB44C56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67200"/>
            <a:ext cx="2276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163" b="1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空间单元+判别模型</a:t>
            </a:r>
          </a:p>
        </p:txBody>
      </p:sp>
      <p:sp>
        <p:nvSpPr>
          <p:cNvPr id="68" name="grid-extraction">
            <a:extLst xmlns:a="http://schemas.openxmlformats.org/drawingml/2006/main">
              <a:ext uri="{FF2B5EF4-FFF2-40B4-BE49-F238E27FC236}">
                <a16:creationId xmlns:a16="http://schemas.microsoft.com/office/drawing/2014/main" id="{0D29A67F-BC0C-4988-8BB5-E45D4E67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514850"/>
            <a:ext cx="457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13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13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格网</a:t>
            </a:r>
          </a:p>
          <a:p xmlns:a="http://schemas.openxmlformats.org/drawingml/2006/main">
            <a:pPr algn="ctr">
              <a:buNone/>
              <a:defRPr sz="1013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13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提取</a:t>
            </a:r>
          </a:p>
        </p:txBody>
      </p:sp>
      <p:sp>
        <p:nvSpPr>
          <p:cNvPr id="69" name="local-autocorrelation">
            <a:extLst xmlns:a="http://schemas.openxmlformats.org/drawingml/2006/main">
              <a:ext uri="{FF2B5EF4-FFF2-40B4-BE49-F238E27FC236}">
                <a16:creationId xmlns:a16="http://schemas.microsoft.com/office/drawing/2014/main" id="{431E5D3D-CFFA-4C4E-8F8E-ECF505A4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14850"/>
            <a:ext cx="1571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5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05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局部空间自相关</a:t>
            </a:r>
          </a:p>
        </p:txBody>
      </p:sp>
      <p:sp>
        <p:nvSpPr>
          <p:cNvPr id="70" name="spatial-range">
            <a:extLst xmlns:a="http://schemas.openxmlformats.org/drawingml/2006/main">
              <a:ext uri="{FF2B5EF4-FFF2-40B4-BE49-F238E27FC236}">
                <a16:creationId xmlns:a16="http://schemas.microsoft.com/office/drawing/2014/main" id="{0783AC60-64FB-4E8A-BF7A-DA33DAEC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91075"/>
            <a:ext cx="1571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5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05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空间范围提取</a:t>
            </a:r>
          </a:p>
        </p:txBody>
      </p:sp>
      <p:cxnSp>
        <p:nvCxnSpPr>
          <p:cNvPr id="428" name="直线箭头连接符 249"/>
          <p:cNvCxnSpPr>
            <a:stCxn xmlns:a="http://schemas.openxmlformats.org/drawingml/2006/main" id="68" idx="3"/>
            <a:endCxn xmlns:a="http://schemas.openxmlformats.org/drawingml/2006/main" id="69" idx="1"/>
          </p:cNvCxnSpPr>
          <p:nvPr/>
        </p:nvCxnSpPr>
        <p:spPr>
          <a:xfrm xmlns:a="http://schemas.openxmlformats.org/drawingml/2006/main" flipV="1">
            <a:off x="3895725" y="4633913"/>
            <a:ext cx="104775" cy="128588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66666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429" name="直线箭头连接符 250"/>
          <p:cNvCxnSpPr>
            <a:stCxn xmlns:a="http://schemas.openxmlformats.org/drawingml/2006/main" id="69" idx="2"/>
            <a:endCxn xmlns:a="http://schemas.openxmlformats.org/drawingml/2006/main" id="70" idx="0"/>
          </p:cNvCxnSpPr>
          <p:nvPr/>
        </p:nvCxnSpPr>
        <p:spPr>
          <a:xfrm xmlns:a="http://schemas.openxmlformats.org/drawingml/2006/main">
            <a:off x="4786313" y="4752975"/>
            <a:ext cx="0" cy="381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66666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73" name="evolution-outer">
            <a:extLst xmlns:a="http://schemas.openxmlformats.org/drawingml/2006/main">
              <a:ext uri="{FF2B5EF4-FFF2-40B4-BE49-F238E27FC236}">
                <a16:creationId xmlns:a16="http://schemas.microsoft.com/office/drawing/2014/main" id="{1C97E42E-8345-49C5-B0DB-B5258D92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248150"/>
            <a:ext cx="16478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4" name="evolution-title">
            <a:extLst xmlns:a="http://schemas.openxmlformats.org/drawingml/2006/main">
              <a:ext uri="{FF2B5EF4-FFF2-40B4-BE49-F238E27FC236}">
                <a16:creationId xmlns:a16="http://schemas.microsoft.com/office/drawing/2014/main" id="{9A8311D8-FB43-48D3-AC17-7004B70C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267200"/>
            <a:ext cx="1571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163" b="1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演变规律分析</a:t>
            </a:r>
          </a:p>
        </p:txBody>
      </p:sp>
      <p:sp>
        <p:nvSpPr>
          <p:cNvPr id="75" name="evo-pattern">
            <a:extLst xmlns:a="http://schemas.openxmlformats.org/drawingml/2006/main">
              <a:ext uri="{FF2B5EF4-FFF2-40B4-BE49-F238E27FC236}">
                <a16:creationId xmlns:a16="http://schemas.microsoft.com/office/drawing/2014/main" id="{5190E457-2562-466F-A095-DC63D3D0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533900"/>
            <a:ext cx="1381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90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990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格局规模</a:t>
            </a:r>
          </a:p>
        </p:txBody>
      </p:sp>
      <p:sp>
        <p:nvSpPr>
          <p:cNvPr id="76" name="evo-landscape">
            <a:extLst xmlns:a="http://schemas.openxmlformats.org/drawingml/2006/main">
              <a:ext uri="{FF2B5EF4-FFF2-40B4-BE49-F238E27FC236}">
                <a16:creationId xmlns:a16="http://schemas.microsoft.com/office/drawing/2014/main" id="{A5070F6F-9CF6-4F2F-971E-67451F49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781550"/>
            <a:ext cx="1381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90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990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景观结构</a:t>
            </a:r>
          </a:p>
        </p:txBody>
      </p:sp>
      <p:sp>
        <p:nvSpPr>
          <p:cNvPr id="77" name="evo-landuse">
            <a:extLst xmlns:a="http://schemas.openxmlformats.org/drawingml/2006/main">
              <a:ext uri="{FF2B5EF4-FFF2-40B4-BE49-F238E27FC236}">
                <a16:creationId xmlns:a16="http://schemas.microsoft.com/office/drawing/2014/main" id="{2C183FF1-2485-4047-9E8F-4A57FB0F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5029200"/>
            <a:ext cx="1381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90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990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土地利用</a:t>
            </a:r>
          </a:p>
        </p:txBody>
      </p:sp>
      <p:sp>
        <p:nvSpPr>
          <p:cNvPr id="78" name="evo-function">
            <a:extLst xmlns:a="http://schemas.openxmlformats.org/drawingml/2006/main">
              <a:ext uri="{FF2B5EF4-FFF2-40B4-BE49-F238E27FC236}">
                <a16:creationId xmlns:a16="http://schemas.microsoft.com/office/drawing/2014/main" id="{E63761BA-28B8-4275-89A3-B2029AA2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5276850"/>
            <a:ext cx="1381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975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空间功能</a:t>
            </a:r>
          </a:p>
        </p:txBody>
      </p:sp>
      <p:sp>
        <p:nvSpPr>
          <p:cNvPr id="79" name="recognition-to-model">
            <a:extLst xmlns:a="http://schemas.openxmlformats.org/drawingml/2006/main">
              <a:ext uri="{FF2B5EF4-FFF2-40B4-BE49-F238E27FC236}">
                <a16:creationId xmlns:a16="http://schemas.microsoft.com/office/drawing/2014/main" id="{DF5497FC-EEBF-45DD-80B4-62EF4356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495800"/>
            <a:ext cx="1333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B9B9"/>
          </a:solidFill>
          <a:ln xmlns:a="http://schemas.openxmlformats.org/drawingml/2006/main" w="4763">
            <a:solidFill>
              <a:srgbClr val="B9B9B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0" name="model-to-evolution">
            <a:extLst xmlns:a="http://schemas.openxmlformats.org/drawingml/2006/main">
              <a:ext uri="{FF2B5EF4-FFF2-40B4-BE49-F238E27FC236}">
                <a16:creationId xmlns:a16="http://schemas.microsoft.com/office/drawing/2014/main" id="{A5AD5993-EDE6-44F6-A48A-BB824BC6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495800"/>
            <a:ext cx="1333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B9B9"/>
          </a:solidFill>
          <a:ln xmlns:a="http://schemas.openxmlformats.org/drawingml/2006/main" w="4763">
            <a:solidFill>
              <a:srgbClr val="B9B9B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1" name="pipeline-outer">
            <a:extLst xmlns:a="http://schemas.openxmlformats.org/drawingml/2006/main">
              <a:ext uri="{FF2B5EF4-FFF2-40B4-BE49-F238E27FC236}">
                <a16:creationId xmlns:a16="http://schemas.microsoft.com/office/drawing/2014/main" id="{D4DE2869-38A8-4ABD-880F-6277742E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24450"/>
            <a:ext cx="5057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2" name="data-sampling">
            <a:extLst xmlns:a="http://schemas.openxmlformats.org/drawingml/2006/main">
              <a:ext uri="{FF2B5EF4-FFF2-40B4-BE49-F238E27FC236}">
                <a16:creationId xmlns:a16="http://schemas.microsoft.com/office/drawing/2014/main" id="{9951A348-2024-4FF9-9875-34B93A73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91125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20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20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数据采样</a:t>
            </a:r>
          </a:p>
        </p:txBody>
      </p:sp>
      <p:sp>
        <p:nvSpPr>
          <p:cNvPr id="83" name="ann-learning">
            <a:extLst xmlns:a="http://schemas.openxmlformats.org/drawingml/2006/main">
              <a:ext uri="{FF2B5EF4-FFF2-40B4-BE49-F238E27FC236}">
                <a16:creationId xmlns:a16="http://schemas.microsoft.com/office/drawing/2014/main" id="{999728E7-A022-4D62-8702-2E7596CD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1911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5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05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机器学习（ANNs）</a:t>
            </a:r>
          </a:p>
        </p:txBody>
      </p:sp>
      <p:sp>
        <p:nvSpPr>
          <p:cNvPr id="84" name="range-optimization">
            <a:extLst xmlns:a="http://schemas.openxmlformats.org/drawingml/2006/main">
              <a:ext uri="{FF2B5EF4-FFF2-40B4-BE49-F238E27FC236}">
                <a16:creationId xmlns:a16="http://schemas.microsoft.com/office/drawing/2014/main" id="{A0115818-25B8-494A-8B54-BA3F2E43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191125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90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990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空间范围二次优化</a:t>
            </a:r>
          </a:p>
        </p:txBody>
      </p:sp>
      <p:cxnSp>
        <p:nvCxnSpPr>
          <p:cNvPr id="442" name="直线箭头连接符 263"/>
          <p:cNvCxnSpPr>
            <a:stCxn xmlns:a="http://schemas.openxmlformats.org/drawingml/2006/main" id="82" idx="3"/>
            <a:endCxn xmlns:a="http://schemas.openxmlformats.org/drawingml/2006/main" id="83" idx="1"/>
          </p:cNvCxnSpPr>
          <p:nvPr/>
        </p:nvCxnSpPr>
        <p:spPr>
          <a:xfrm xmlns:a="http://schemas.openxmlformats.org/drawingml/2006/main">
            <a:off x="2143125" y="5305425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666666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443" name="直线箭头连接符 264"/>
          <p:cNvCxnSpPr>
            <a:stCxn xmlns:a="http://schemas.openxmlformats.org/drawingml/2006/main" id="83" idx="3"/>
            <a:endCxn xmlns:a="http://schemas.openxmlformats.org/drawingml/2006/main" id="84" idx="1"/>
          </p:cNvCxnSpPr>
          <p:nvPr/>
        </p:nvCxnSpPr>
        <p:spPr>
          <a:xfrm xmlns:a="http://schemas.openxmlformats.org/drawingml/2006/main">
            <a:off x="3867150" y="53054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666666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87" name="dlw-to-sampling">
            <a:extLst xmlns:a="http://schemas.openxmlformats.org/drawingml/2006/main">
              <a:ext uri="{FF2B5EF4-FFF2-40B4-BE49-F238E27FC236}">
                <a16:creationId xmlns:a16="http://schemas.microsoft.com/office/drawing/2014/main" id="{A10C627E-B415-42BB-B8A2-8B4FD088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029200"/>
            <a:ext cx="1905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8" name="range-to-pipeline">
            <a:extLst xmlns:a="http://schemas.openxmlformats.org/drawingml/2006/main">
              <a:ext uri="{FF2B5EF4-FFF2-40B4-BE49-F238E27FC236}">
                <a16:creationId xmlns:a16="http://schemas.microsoft.com/office/drawing/2014/main" id="{7C921ADB-0298-4BA2-8BC4-D1725B61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019675"/>
            <a:ext cx="1905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9" name="analysis-to-macro">
            <a:extLst xmlns:a="http://schemas.openxmlformats.org/drawingml/2006/main">
              <a:ext uri="{FF2B5EF4-FFF2-40B4-BE49-F238E27FC236}">
                <a16:creationId xmlns:a16="http://schemas.microsoft.com/office/drawing/2014/main" id="{6D95696B-E4F8-4D19-A7B7-C735F913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10225"/>
            <a:ext cx="3810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66666"/>
          </a:solidFill>
          <a:ln xmlns:a="http://schemas.openxmlformats.org/drawingml/2006/main" w="7620">
            <a:solidFill>
              <a:srgbClr val="66666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0" name="analysis-to-meso">
            <a:extLst xmlns:a="http://schemas.openxmlformats.org/drawingml/2006/main">
              <a:ext uri="{FF2B5EF4-FFF2-40B4-BE49-F238E27FC236}">
                <a16:creationId xmlns:a16="http://schemas.microsoft.com/office/drawing/2014/main" id="{B3A32A9E-4BF0-4B61-92A3-2BB9E053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610225"/>
            <a:ext cx="3810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66666"/>
          </a:solidFill>
          <a:ln xmlns:a="http://schemas.openxmlformats.org/drawingml/2006/main" w="7620">
            <a:solidFill>
              <a:srgbClr val="66666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1" name="analysis-to-micro">
            <a:extLst xmlns:a="http://schemas.openxmlformats.org/drawingml/2006/main">
              <a:ext uri="{FF2B5EF4-FFF2-40B4-BE49-F238E27FC236}">
                <a16:creationId xmlns:a16="http://schemas.microsoft.com/office/drawing/2014/main" id="{52564AD1-6914-40AD-A958-A888DB37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610225"/>
            <a:ext cx="3810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66666"/>
          </a:solidFill>
          <a:ln xmlns:a="http://schemas.openxmlformats.org/drawingml/2006/main" w="7620">
            <a:solidFill>
              <a:srgbClr val="66666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2" name="section-solution">
            <a:extLst xmlns:a="http://schemas.openxmlformats.org/drawingml/2006/main">
              <a:ext uri="{FF2B5EF4-FFF2-40B4-BE49-F238E27FC236}">
                <a16:creationId xmlns:a16="http://schemas.microsoft.com/office/drawing/2014/main" id="{25BB6E52-EA2B-43F0-A08D-2726FF59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5800725"/>
            <a:ext cx="314325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B9B9B"/>
            </a:solidFill>
            <a:prstDash val="dash"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解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决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问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题</a:t>
            </a:r>
          </a:p>
        </p:txBody>
      </p:sp>
      <p:sp>
        <p:nvSpPr>
          <p:cNvPr id="93" name="macro-outer">
            <a:extLst xmlns:a="http://schemas.openxmlformats.org/drawingml/2006/main">
              <a:ext uri="{FF2B5EF4-FFF2-40B4-BE49-F238E27FC236}">
                <a16:creationId xmlns:a16="http://schemas.microsoft.com/office/drawing/2014/main" id="{35E10191-1A45-4FD2-9C52-2D5F17F8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00725"/>
            <a:ext cx="2324100" cy="3419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32323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4" name="meso-outer">
            <a:extLst xmlns:a="http://schemas.openxmlformats.org/drawingml/2006/main">
              <a:ext uri="{FF2B5EF4-FFF2-40B4-BE49-F238E27FC236}">
                <a16:creationId xmlns:a16="http://schemas.microsoft.com/office/drawing/2014/main" id="{DB2B66A0-5F81-4E91-BC52-CC6E88C4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5800725"/>
            <a:ext cx="2305050" cy="3419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32323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5" name="micro-outer">
            <a:extLst xmlns:a="http://schemas.openxmlformats.org/drawingml/2006/main">
              <a:ext uri="{FF2B5EF4-FFF2-40B4-BE49-F238E27FC236}">
                <a16:creationId xmlns:a16="http://schemas.microsoft.com/office/drawing/2014/main" id="{FB49827B-13FA-495E-BDEE-A4D35139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800725"/>
            <a:ext cx="2324100" cy="3419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32323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6" name="macro-header">
            <a:extLst xmlns:a="http://schemas.openxmlformats.org/drawingml/2006/main">
              <a:ext uri="{FF2B5EF4-FFF2-40B4-BE49-F238E27FC236}">
                <a16:creationId xmlns:a16="http://schemas.microsoft.com/office/drawing/2014/main" id="{A9EE2AF0-06CC-4AD2-9E66-8A4C8AB8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29300"/>
            <a:ext cx="2266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11906">
            <a:solidFill>
              <a:srgbClr val="C9C9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7" name="meso-header">
            <a:extLst xmlns:a="http://schemas.openxmlformats.org/drawingml/2006/main">
              <a:ext uri="{FF2B5EF4-FFF2-40B4-BE49-F238E27FC236}">
                <a16:creationId xmlns:a16="http://schemas.microsoft.com/office/drawing/2014/main" id="{805FE4F6-7EA0-4636-8374-081B2CEF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829300"/>
            <a:ext cx="2247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11906">
            <a:solidFill>
              <a:srgbClr val="C9C9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8" name="micro-header">
            <a:extLst xmlns:a="http://schemas.openxmlformats.org/drawingml/2006/main">
              <a:ext uri="{FF2B5EF4-FFF2-40B4-BE49-F238E27FC236}">
                <a16:creationId xmlns:a16="http://schemas.microsoft.com/office/drawing/2014/main" id="{B83AD502-EEF9-4F3F-B843-A2D434ED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829300"/>
            <a:ext cx="2266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11906">
            <a:solidFill>
              <a:srgbClr val="C9C9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9" name="macro-scale-text">
            <a:extLst xmlns:a="http://schemas.openxmlformats.org/drawingml/2006/main">
              <a:ext uri="{FF2B5EF4-FFF2-40B4-BE49-F238E27FC236}">
                <a16:creationId xmlns:a16="http://schemas.microsoft.com/office/drawing/2014/main" id="{62E97EBE-4E04-4F2C-B312-8136E238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838825"/>
            <a:ext cx="790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宏观尺度</a:t>
            </a:r>
          </a:p>
        </p:txBody>
      </p:sp>
      <p:sp>
        <p:nvSpPr>
          <p:cNvPr id="100" name="meso-scale-text">
            <a:extLst xmlns:a="http://schemas.openxmlformats.org/drawingml/2006/main">
              <a:ext uri="{FF2B5EF4-FFF2-40B4-BE49-F238E27FC236}">
                <a16:creationId xmlns:a16="http://schemas.microsoft.com/office/drawing/2014/main" id="{A3039DB1-5784-41A6-A990-14B73356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83882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中观尺度</a:t>
            </a:r>
          </a:p>
        </p:txBody>
      </p:sp>
      <p:sp>
        <p:nvSpPr>
          <p:cNvPr id="101" name="micro-scale-text">
            <a:extLst xmlns:a="http://schemas.openxmlformats.org/drawingml/2006/main">
              <a:ext uri="{FF2B5EF4-FFF2-40B4-BE49-F238E27FC236}">
                <a16:creationId xmlns:a16="http://schemas.microsoft.com/office/drawing/2014/main" id="{F274980E-8774-4BEB-93AC-E8AB87A4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83882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微观尺度</a:t>
            </a:r>
          </a:p>
        </p:txBody>
      </p:sp>
      <p:sp>
        <p:nvSpPr>
          <p:cNvPr id="102" name="macro-header-subtitle">
            <a:extLst xmlns:a="http://schemas.openxmlformats.org/drawingml/2006/main">
              <a:ext uri="{FF2B5EF4-FFF2-40B4-BE49-F238E27FC236}">
                <a16:creationId xmlns:a16="http://schemas.microsoft.com/office/drawing/2014/main" id="{540A25D9-2CF0-4743-91F5-E0313AAA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2209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33" b="1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133" b="1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衔接城乡的生态网络模拟与优化</a:t>
            </a:r>
          </a:p>
        </p:txBody>
      </p:sp>
      <p:sp>
        <p:nvSpPr>
          <p:cNvPr id="103" name="meso-header-subtitle">
            <a:extLst xmlns:a="http://schemas.openxmlformats.org/drawingml/2006/main">
              <a:ext uri="{FF2B5EF4-FFF2-40B4-BE49-F238E27FC236}">
                <a16:creationId xmlns:a16="http://schemas.microsoft.com/office/drawing/2014/main" id="{53A72570-96DB-4F20-B359-3EE35B7C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608647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02" b="1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102" b="1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生态系统服务与城市化空间适配</a:t>
            </a:r>
          </a:p>
        </p:txBody>
      </p:sp>
      <p:sp>
        <p:nvSpPr>
          <p:cNvPr id="104" name="micro-header-subtitle">
            <a:extLst xmlns:a="http://schemas.openxmlformats.org/drawingml/2006/main">
              <a:ext uri="{FF2B5EF4-FFF2-40B4-BE49-F238E27FC236}">
                <a16:creationId xmlns:a16="http://schemas.microsoft.com/office/drawing/2014/main" id="{0609578B-1D93-45B6-A73A-6A5D64F5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086475"/>
            <a:ext cx="2209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02" b="1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102" b="1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基于多目标优化的土地利用决策</a:t>
            </a:r>
            <a:endParaRPr sz="1102" b="1">
              <a:solidFill>
                <a:srgbClr val="323232"/>
              </a:solidFill>
              <a:latin typeface="Songti SC"/>
              <a:ea typeface="Songti SC"/>
              <a:cs typeface="Songti SC"/>
            </a:endParaRPr>
          </a:p>
        </p:txBody>
      </p:sp>
      <p:cxnSp>
        <p:nvCxnSpPr>
          <p:cNvPr id="462" name="直线箭头连接符 283"/>
          <p:cNvCxnSpPr>
            <a:stCxn xmlns:a="http://schemas.openxmlformats.org/drawingml/2006/main" id="99" idx="3"/>
            <a:endCxn xmlns:a="http://schemas.openxmlformats.org/drawingml/2006/main" id="100" idx="1"/>
          </p:cNvCxnSpPr>
          <p:nvPr/>
        </p:nvCxnSpPr>
        <p:spPr>
          <a:xfrm xmlns:a="http://schemas.openxmlformats.org/drawingml/2006/main">
            <a:off x="1943100" y="5953125"/>
            <a:ext cx="16478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66666"/>
            </a:solidFill>
            <a:prstDash val="dash"/>
            <a:headEnd type="arrow" w="sm" len="sm"/>
            <a:tailEnd type="arrow" w="sm" len="sm"/>
          </a:ln>
        </p:spPr>
      </p:cxnSp>
      <p:cxnSp>
        <p:nvCxnSpPr>
          <p:cNvPr id="463" name="直线箭头连接符 284"/>
          <p:cNvCxnSpPr>
            <a:stCxn xmlns:a="http://schemas.openxmlformats.org/drawingml/2006/main" id="100" idx="3"/>
            <a:endCxn xmlns:a="http://schemas.openxmlformats.org/drawingml/2006/main" id="101" idx="1"/>
          </p:cNvCxnSpPr>
          <p:nvPr/>
        </p:nvCxnSpPr>
        <p:spPr>
          <a:xfrm xmlns:a="http://schemas.openxmlformats.org/drawingml/2006/main">
            <a:off x="4352925" y="5953125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66666"/>
            </a:solidFill>
            <a:prstDash val="dash"/>
            <a:headEnd type="arrow" w="sm" len="sm"/>
            <a:tailEnd type="arrow" w="sm" len="sm"/>
          </a:ln>
        </p:spPr>
      </p:cxnSp>
      <p:sp>
        <p:nvSpPr>
          <p:cNvPr id="107" name="morphology-analysis">
            <a:extLst xmlns:a="http://schemas.openxmlformats.org/drawingml/2006/main">
              <a:ext uri="{FF2B5EF4-FFF2-40B4-BE49-F238E27FC236}">
                <a16:creationId xmlns:a16="http://schemas.microsoft.com/office/drawing/2014/main" id="{2B024BDA-BF12-4BF0-9335-D1D4CA75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2019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形态学空间格局分析</a:t>
            </a:r>
            <a:endParaRPr sz="1050" b="0">
              <a:solidFill>
                <a:srgbClr val="323232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108" name="macro-methods">
            <a:extLst xmlns:a="http://schemas.openxmlformats.org/drawingml/2006/main">
              <a:ext uri="{FF2B5EF4-FFF2-40B4-BE49-F238E27FC236}">
                <a16:creationId xmlns:a16="http://schemas.microsoft.com/office/drawing/2014/main" id="{9DF03D5E-55A3-4048-BA72-A40C7576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6772275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938" b="1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MCR  |  核心斑块识别</a:t>
            </a:r>
          </a:p>
        </p:txBody>
      </p:sp>
      <p:sp>
        <p:nvSpPr>
          <p:cNvPr id="109" name="basic-eco-network">
            <a:extLst xmlns:a="http://schemas.openxmlformats.org/drawingml/2006/main">
              <a:ext uri="{FF2B5EF4-FFF2-40B4-BE49-F238E27FC236}">
                <a16:creationId xmlns:a16="http://schemas.microsoft.com/office/drawing/2014/main" id="{A1543EAC-43A7-4E65-90DC-96598FDC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000875"/>
            <a:ext cx="9620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13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13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基础生态</a:t>
            </a:r>
          </a:p>
          <a:p xmlns:a="http://schemas.openxmlformats.org/drawingml/2006/main">
            <a:pPr algn="ctr">
              <a:buNone/>
              <a:defRPr sz="1013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13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网络识别</a:t>
            </a:r>
          </a:p>
        </p:txBody>
      </p:sp>
      <p:sp>
        <p:nvSpPr>
          <p:cNvPr id="110" name="corridor-network">
            <a:extLst xmlns:a="http://schemas.openxmlformats.org/drawingml/2006/main">
              <a:ext uri="{FF2B5EF4-FFF2-40B4-BE49-F238E27FC236}">
                <a16:creationId xmlns:a16="http://schemas.microsoft.com/office/drawing/2014/main" id="{E3D47971-6A8F-467F-B3B8-E3A0D637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7000875"/>
            <a:ext cx="9620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13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13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连通生态</a:t>
            </a:r>
          </a:p>
          <a:p xmlns:a="http://schemas.openxmlformats.org/drawingml/2006/main">
            <a:pPr algn="ctr">
              <a:buNone/>
              <a:defRPr sz="1013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13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网络识别</a:t>
            </a:r>
          </a:p>
        </p:txBody>
      </p:sp>
      <p:sp>
        <p:nvSpPr>
          <p:cNvPr id="111" name="macro-branch">
            <a:extLst xmlns:a="http://schemas.openxmlformats.org/drawingml/2006/main">
              <a:ext uri="{FF2B5EF4-FFF2-40B4-BE49-F238E27FC236}">
                <a16:creationId xmlns:a16="http://schemas.microsoft.com/office/drawing/2014/main" id="{F272D4B6-6AC7-468A-86FB-72354017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6915150"/>
            <a:ext cx="104775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2" name="macro-branch-left">
            <a:extLst xmlns:a="http://schemas.openxmlformats.org/drawingml/2006/main">
              <a:ext uri="{FF2B5EF4-FFF2-40B4-BE49-F238E27FC236}">
                <a16:creationId xmlns:a16="http://schemas.microsoft.com/office/drawing/2014/main" id="{090581E4-965F-46B5-8F9A-FB976199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6915150"/>
            <a:ext cx="1905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3" name="macro-branch-right">
            <a:extLst xmlns:a="http://schemas.openxmlformats.org/drawingml/2006/main">
              <a:ext uri="{FF2B5EF4-FFF2-40B4-BE49-F238E27FC236}">
                <a16:creationId xmlns:a16="http://schemas.microsoft.com/office/drawing/2014/main" id="{04B29D62-9C8C-4CE7-967A-41E6054F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6915150"/>
            <a:ext cx="1905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4" name="eco-flow-label">
            <a:extLst xmlns:a="http://schemas.openxmlformats.org/drawingml/2006/main">
              <a:ext uri="{FF2B5EF4-FFF2-40B4-BE49-F238E27FC236}">
                <a16:creationId xmlns:a16="http://schemas.microsoft.com/office/drawing/2014/main" id="{609CED75-AE6F-41DD-A233-AE2A1AEB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553325"/>
            <a:ext cx="10382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15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915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生态流模拟</a:t>
            </a:r>
          </a:p>
        </p:txBody>
      </p:sp>
      <p:sp>
        <p:nvSpPr>
          <p:cNvPr id="115" name="network-completion">
            <a:extLst xmlns:a="http://schemas.openxmlformats.org/drawingml/2006/main">
              <a:ext uri="{FF2B5EF4-FFF2-40B4-BE49-F238E27FC236}">
                <a16:creationId xmlns:a16="http://schemas.microsoft.com/office/drawing/2014/main" id="{AFB3F9E5-1AFD-4D6B-AFEB-4771CB4A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753350"/>
            <a:ext cx="20193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生态网络补充完善</a:t>
            </a:r>
          </a:p>
        </p:txBody>
      </p:sp>
      <p:cxnSp>
        <p:nvCxnSpPr>
          <p:cNvPr id="473" name="直线箭头连接符 294"/>
          <p:cNvCxnSpPr>
            <a:stCxn xmlns:a="http://schemas.openxmlformats.org/drawingml/2006/main" id="109" idx="2"/>
            <a:endCxn xmlns:a="http://schemas.openxmlformats.org/drawingml/2006/main" id="115" idx="0"/>
          </p:cNvCxnSpPr>
          <p:nvPr/>
        </p:nvCxnSpPr>
        <p:spPr>
          <a:xfrm xmlns:a="http://schemas.openxmlformats.org/drawingml/2006/main">
            <a:off x="1195388" y="7543800"/>
            <a:ext cx="519113" cy="209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66666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474" name="直线箭头连接符 295"/>
          <p:cNvCxnSpPr>
            <a:stCxn xmlns:a="http://schemas.openxmlformats.org/drawingml/2006/main" id="110" idx="2"/>
            <a:endCxn xmlns:a="http://schemas.openxmlformats.org/drawingml/2006/main" id="115" idx="0"/>
          </p:cNvCxnSpPr>
          <p:nvPr/>
        </p:nvCxnSpPr>
        <p:spPr>
          <a:xfrm xmlns:a="http://schemas.openxmlformats.org/drawingml/2006/main" flipH="1">
            <a:off x="1714500" y="7543800"/>
            <a:ext cx="528638" cy="209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66666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118" name="network-performance">
            <a:extLst xmlns:a="http://schemas.openxmlformats.org/drawingml/2006/main">
              <a:ext uri="{FF2B5EF4-FFF2-40B4-BE49-F238E27FC236}">
                <a16:creationId xmlns:a16="http://schemas.microsoft.com/office/drawing/2014/main" id="{6E8EC0DE-43A0-4BE3-BFD9-7319BC58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62925"/>
            <a:ext cx="2019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20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20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生态网络适应性绩效评价</a:t>
            </a:r>
          </a:p>
        </p:txBody>
      </p:sp>
      <p:cxnSp>
        <p:nvCxnSpPr>
          <p:cNvPr id="476" name="直线箭头连接符 297"/>
          <p:cNvCxnSpPr>
            <a:stCxn xmlns:a="http://schemas.openxmlformats.org/drawingml/2006/main" id="115" idx="2"/>
            <a:endCxn xmlns:a="http://schemas.openxmlformats.org/drawingml/2006/main" id="118" idx="0"/>
          </p:cNvCxnSpPr>
          <p:nvPr/>
        </p:nvCxnSpPr>
        <p:spPr>
          <a:xfrm xmlns:a="http://schemas.openxmlformats.org/drawingml/2006/main">
            <a:off x="1714500" y="8086725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66666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120" name="macro-divider">
            <a:extLst xmlns:a="http://schemas.openxmlformats.org/drawingml/2006/main">
              <a:ext uri="{FF2B5EF4-FFF2-40B4-BE49-F238E27FC236}">
                <a16:creationId xmlns:a16="http://schemas.microsoft.com/office/drawing/2014/main" id="{5A805AA1-32BF-4312-B0AE-4481E2E7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8524875"/>
            <a:ext cx="222885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B9B9B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1" name="macro-conclusion">
            <a:extLst xmlns:a="http://schemas.openxmlformats.org/drawingml/2006/main">
              <a:ext uri="{FF2B5EF4-FFF2-40B4-BE49-F238E27FC236}">
                <a16:creationId xmlns:a16="http://schemas.microsoft.com/office/drawing/2014/main" id="{3734B186-E6BE-474F-BFF7-85AD456E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82025"/>
            <a:ext cx="209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66666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2" name="macro-conclusion-title">
            <a:extLst xmlns:a="http://schemas.openxmlformats.org/drawingml/2006/main">
              <a:ext uri="{FF2B5EF4-FFF2-40B4-BE49-F238E27FC236}">
                <a16:creationId xmlns:a16="http://schemas.microsoft.com/office/drawing/2014/main" id="{8BDA78AF-32C1-4B2C-93D5-547CCF05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629650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38" b="1">
                <a:solidFill>
                  <a:srgbClr val="B54848"/>
                </a:solidFill>
                <a:latin typeface="Songti SC"/>
                <a:ea typeface="Songti SC"/>
                <a:cs typeface="Songti SC"/>
              </a:defRPr>
            </a:pPr>
            <a:r>
              <a:rPr sz="1238" b="1">
                <a:solidFill>
                  <a:srgbClr val="B54848"/>
                </a:solidFill>
                <a:latin typeface="Songti SC"/>
                <a:ea typeface="Songti SC"/>
                <a:cs typeface="Songti SC"/>
              </a:rPr>
              <a:t>城市边缘区结构适应性</a:t>
            </a:r>
          </a:p>
        </p:txBody>
      </p:sp>
      <p:sp>
        <p:nvSpPr>
          <p:cNvPr id="123" name="macro-conclusion-arrow">
            <a:extLst xmlns:a="http://schemas.openxmlformats.org/drawingml/2006/main">
              <a:ext uri="{FF2B5EF4-FFF2-40B4-BE49-F238E27FC236}">
                <a16:creationId xmlns:a16="http://schemas.microsoft.com/office/drawing/2014/main" id="{3482D0EF-CEC2-4D9D-999F-713F416E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8848725"/>
            <a:ext cx="419100" cy="76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9B9B9"/>
          </a:solidFill>
          <a:ln xmlns:a="http://schemas.openxmlformats.org/drawingml/2006/main" w="3810">
            <a:solidFill>
              <a:srgbClr val="B9B9B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4" name="macro-conclusion-subtitle">
            <a:extLst xmlns:a="http://schemas.openxmlformats.org/drawingml/2006/main">
              <a:ext uri="{FF2B5EF4-FFF2-40B4-BE49-F238E27FC236}">
                <a16:creationId xmlns:a16="http://schemas.microsoft.com/office/drawing/2014/main" id="{8F145740-B400-40F4-A3CD-5C25CC53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9439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50" b="1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城市边缘区生态网络重构</a:t>
            </a:r>
          </a:p>
        </p:txBody>
      </p:sp>
      <p:sp>
        <p:nvSpPr>
          <p:cNvPr id="125" name="ecosystem-service-evaluation">
            <a:extLst xmlns:a="http://schemas.openxmlformats.org/drawingml/2006/main">
              <a:ext uri="{FF2B5EF4-FFF2-40B4-BE49-F238E27FC236}">
                <a16:creationId xmlns:a16="http://schemas.microsoft.com/office/drawing/2014/main" id="{610C1D61-8B41-42D9-884E-D3A1376A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6438900"/>
            <a:ext cx="2019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65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65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生态系统服务评估</a:t>
            </a:r>
            <a:endParaRPr sz="1065" b="0">
              <a:solidFill>
                <a:srgbClr val="323232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126" name="meso-methods">
            <a:extLst xmlns:a="http://schemas.openxmlformats.org/drawingml/2006/main">
              <a:ext uri="{FF2B5EF4-FFF2-40B4-BE49-F238E27FC236}">
                <a16:creationId xmlns:a16="http://schemas.microsoft.com/office/drawing/2014/main" id="{DB0824ED-0190-4EF5-AB80-56D000C4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77227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863" b="1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InVEST+MWA+SCS-CN</a:t>
            </a:r>
          </a:p>
        </p:txBody>
      </p:sp>
      <p:sp>
        <p:nvSpPr>
          <p:cNvPr id="127" name="spatial-distribution">
            <a:extLst xmlns:a="http://schemas.openxmlformats.org/drawingml/2006/main">
              <a:ext uri="{FF2B5EF4-FFF2-40B4-BE49-F238E27FC236}">
                <a16:creationId xmlns:a16="http://schemas.microsoft.com/office/drawing/2014/main" id="{04CEC77B-A96F-46FC-9357-0DFF6179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7000875"/>
            <a:ext cx="6000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90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990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空间分</a:t>
            </a:r>
          </a:p>
          <a:p xmlns:a="http://schemas.openxmlformats.org/drawingml/2006/main">
            <a:pPr algn="ctr">
              <a:buNone/>
              <a:defRPr sz="990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990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布特征</a:t>
            </a:r>
          </a:p>
        </p:txBody>
      </p:sp>
      <p:sp>
        <p:nvSpPr>
          <p:cNvPr id="128" name="tradeoff-pattern">
            <a:extLst xmlns:a="http://schemas.openxmlformats.org/drawingml/2006/main">
              <a:ext uri="{FF2B5EF4-FFF2-40B4-BE49-F238E27FC236}">
                <a16:creationId xmlns:a16="http://schemas.microsoft.com/office/drawing/2014/main" id="{79B16FA2-6CB0-4156-9D95-D1216EB2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7000875"/>
            <a:ext cx="6000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90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990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权衡协</a:t>
            </a:r>
          </a:p>
          <a:p xmlns:a="http://schemas.openxmlformats.org/drawingml/2006/main">
            <a:pPr algn="ctr">
              <a:buNone/>
              <a:defRPr sz="990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990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同格局</a:t>
            </a:r>
          </a:p>
        </p:txBody>
      </p:sp>
      <p:sp>
        <p:nvSpPr>
          <p:cNvPr id="129" name="urbanization-pattern">
            <a:extLst xmlns:a="http://schemas.openxmlformats.org/drawingml/2006/main">
              <a:ext uri="{FF2B5EF4-FFF2-40B4-BE49-F238E27FC236}">
                <a16:creationId xmlns:a16="http://schemas.microsoft.com/office/drawing/2014/main" id="{3BCC19EE-A23C-4A11-80B1-F563842D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7000875"/>
            <a:ext cx="6000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53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953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城市化</a:t>
            </a:r>
          </a:p>
          <a:p xmlns:a="http://schemas.openxmlformats.org/drawingml/2006/main">
            <a:pPr algn="ctr">
              <a:buNone/>
              <a:defRPr sz="953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953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格局分</a:t>
            </a:r>
          </a:p>
          <a:p xmlns:a="http://schemas.openxmlformats.org/drawingml/2006/main">
            <a:pPr algn="ctr">
              <a:buNone/>
              <a:defRPr sz="953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953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析</a:t>
            </a:r>
          </a:p>
        </p:txBody>
      </p:sp>
      <p:cxnSp>
        <p:nvCxnSpPr>
          <p:cNvPr id="487" name="直线箭头连接符 308"/>
          <p:cNvCxnSpPr>
            <a:stCxn xmlns:a="http://schemas.openxmlformats.org/drawingml/2006/main" id="125" idx="2"/>
            <a:endCxn xmlns:a="http://schemas.openxmlformats.org/drawingml/2006/main" id="127" idx="0"/>
          </p:cNvCxnSpPr>
          <p:nvPr/>
        </p:nvCxnSpPr>
        <p:spPr>
          <a:xfrm xmlns:a="http://schemas.openxmlformats.org/drawingml/2006/main" flipH="1">
            <a:off x="3386138" y="6781800"/>
            <a:ext cx="747713" cy="2190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66666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488" name="直线箭头连接符 309"/>
          <p:cNvCxnSpPr>
            <a:stCxn xmlns:a="http://schemas.openxmlformats.org/drawingml/2006/main" id="125" idx="2"/>
            <a:endCxn xmlns:a="http://schemas.openxmlformats.org/drawingml/2006/main" id="128" idx="0"/>
          </p:cNvCxnSpPr>
          <p:nvPr/>
        </p:nvCxnSpPr>
        <p:spPr>
          <a:xfrm xmlns:a="http://schemas.openxmlformats.org/drawingml/2006/main" flipH="1">
            <a:off x="4129088" y="6781800"/>
            <a:ext cx="4763" cy="2190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66666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489" name="直线箭头连接符 310"/>
          <p:cNvCxnSpPr>
            <a:stCxn xmlns:a="http://schemas.openxmlformats.org/drawingml/2006/main" id="125" idx="2"/>
            <a:endCxn xmlns:a="http://schemas.openxmlformats.org/drawingml/2006/main" id="129" idx="0"/>
          </p:cNvCxnSpPr>
          <p:nvPr/>
        </p:nvCxnSpPr>
        <p:spPr>
          <a:xfrm xmlns:a="http://schemas.openxmlformats.org/drawingml/2006/main">
            <a:off x="4133850" y="6781800"/>
            <a:ext cx="738188" cy="2190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66666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133" name="coupled-overlay">
            <a:extLst xmlns:a="http://schemas.openxmlformats.org/drawingml/2006/main">
              <a:ext uri="{FF2B5EF4-FFF2-40B4-BE49-F238E27FC236}">
                <a16:creationId xmlns:a16="http://schemas.microsoft.com/office/drawing/2014/main" id="{E7BCA034-0294-4E3B-991A-AB465EB3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7781925"/>
            <a:ext cx="866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666666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5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05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耦合叠加</a:t>
            </a:r>
          </a:p>
        </p:txBody>
      </p:sp>
      <p:cxnSp>
        <p:nvCxnSpPr>
          <p:cNvPr id="491" name="肘形连接符 312"/>
          <p:cNvCxnSpPr>
            <a:stCxn xmlns:a="http://schemas.openxmlformats.org/drawingml/2006/main" id="127" idx="2"/>
            <a:endCxn xmlns:a="http://schemas.openxmlformats.org/drawingml/2006/main" id="133" idx="1"/>
          </p:cNvCxnSpPr>
          <p:nvPr/>
        </p:nvCxnSpPr>
        <p:spPr>
          <a:xfrm xmlns:a="http://schemas.openxmlformats.org/drawingml/2006/main">
            <a:off x="3386138" y="7658100"/>
            <a:ext cx="319088" cy="27622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9525">
            <a:solidFill>
              <a:srgbClr val="666666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492" name="直线箭头连接符 313"/>
          <p:cNvCxnSpPr>
            <a:stCxn xmlns:a="http://schemas.openxmlformats.org/drawingml/2006/main" id="128" idx="2"/>
            <a:endCxn xmlns:a="http://schemas.openxmlformats.org/drawingml/2006/main" id="133" idx="0"/>
          </p:cNvCxnSpPr>
          <p:nvPr/>
        </p:nvCxnSpPr>
        <p:spPr>
          <a:xfrm xmlns:a="http://schemas.openxmlformats.org/drawingml/2006/main">
            <a:off x="4129088" y="7658100"/>
            <a:ext cx="9525" cy="1238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66666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493" name="肘形连接符 314"/>
          <p:cNvCxnSpPr>
            <a:stCxn xmlns:a="http://schemas.openxmlformats.org/drawingml/2006/main" id="129" idx="2"/>
            <a:endCxn xmlns:a="http://schemas.openxmlformats.org/drawingml/2006/main" id="133" idx="3"/>
          </p:cNvCxnSpPr>
          <p:nvPr/>
        </p:nvCxnSpPr>
        <p:spPr>
          <a:xfrm xmlns:a="http://schemas.openxmlformats.org/drawingml/2006/main" flipH="1">
            <a:off x="4572000" y="7658100"/>
            <a:ext cx="300038" cy="27622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9525">
            <a:solidFill>
              <a:srgbClr val="666666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137" name="ecological-zoning">
            <a:extLst xmlns:a="http://schemas.openxmlformats.org/drawingml/2006/main">
              <a:ext uri="{FF2B5EF4-FFF2-40B4-BE49-F238E27FC236}">
                <a16:creationId xmlns:a16="http://schemas.microsoft.com/office/drawing/2014/main" id="{7538E51C-1AA9-46D2-8B2B-95A60F5B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8162925"/>
            <a:ext cx="2019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28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28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生态空间分区管控决策</a:t>
            </a:r>
          </a:p>
        </p:txBody>
      </p:sp>
      <p:cxnSp>
        <p:nvCxnSpPr>
          <p:cNvPr id="495" name="直线箭头连接符 316"/>
          <p:cNvCxnSpPr>
            <a:stCxn xmlns:a="http://schemas.openxmlformats.org/drawingml/2006/main" id="133" idx="2"/>
            <a:endCxn xmlns:a="http://schemas.openxmlformats.org/drawingml/2006/main" id="137" idx="0"/>
          </p:cNvCxnSpPr>
          <p:nvPr/>
        </p:nvCxnSpPr>
        <p:spPr>
          <a:xfrm xmlns:a="http://schemas.openxmlformats.org/drawingml/2006/main" flipH="1">
            <a:off x="4133850" y="8086725"/>
            <a:ext cx="4763" cy="762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66666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139" name="meso-divider">
            <a:extLst xmlns:a="http://schemas.openxmlformats.org/drawingml/2006/main">
              <a:ext uri="{FF2B5EF4-FFF2-40B4-BE49-F238E27FC236}">
                <a16:creationId xmlns:a16="http://schemas.microsoft.com/office/drawing/2014/main" id="{0673FCD5-940A-45DF-BAC5-7C2D6D2A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8524875"/>
            <a:ext cx="220980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B9B9B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0" name="meso-conclusion">
            <a:extLst xmlns:a="http://schemas.openxmlformats.org/drawingml/2006/main">
              <a:ext uri="{FF2B5EF4-FFF2-40B4-BE49-F238E27FC236}">
                <a16:creationId xmlns:a16="http://schemas.microsoft.com/office/drawing/2014/main" id="{095D0D3B-5881-41CF-9E96-BAE5ABD4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8582025"/>
            <a:ext cx="2076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66666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1" name="meso-conclusion-title">
            <a:extLst xmlns:a="http://schemas.openxmlformats.org/drawingml/2006/main">
              <a:ext uri="{FF2B5EF4-FFF2-40B4-BE49-F238E27FC236}">
                <a16:creationId xmlns:a16="http://schemas.microsoft.com/office/drawing/2014/main" id="{EFED482D-A1E6-4225-B535-70781874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629650"/>
            <a:ext cx="1981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38" b="1">
                <a:solidFill>
                  <a:srgbClr val="B54848"/>
                </a:solidFill>
                <a:latin typeface="Songti SC"/>
                <a:ea typeface="Songti SC"/>
                <a:cs typeface="Songti SC"/>
              </a:defRPr>
            </a:pPr>
            <a:r>
              <a:rPr sz="1238" b="1">
                <a:solidFill>
                  <a:srgbClr val="B54848"/>
                </a:solidFill>
                <a:latin typeface="Songti SC"/>
                <a:ea typeface="Songti SC"/>
                <a:cs typeface="Songti SC"/>
              </a:rPr>
              <a:t>城市边缘区功能适应性</a:t>
            </a:r>
          </a:p>
        </p:txBody>
      </p:sp>
      <p:sp>
        <p:nvSpPr>
          <p:cNvPr id="142" name="meso-conclusion-arrow">
            <a:extLst xmlns:a="http://schemas.openxmlformats.org/drawingml/2006/main">
              <a:ext uri="{FF2B5EF4-FFF2-40B4-BE49-F238E27FC236}">
                <a16:creationId xmlns:a16="http://schemas.microsoft.com/office/drawing/2014/main" id="{AB1B6018-3A08-4959-9DFC-B4C01D36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8848725"/>
            <a:ext cx="419100" cy="76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9B9B9"/>
          </a:solidFill>
          <a:ln xmlns:a="http://schemas.openxmlformats.org/drawingml/2006/main" w="3810">
            <a:solidFill>
              <a:srgbClr val="B9B9B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3" name="meso-conclusion-subtitle">
            <a:extLst xmlns:a="http://schemas.openxmlformats.org/drawingml/2006/main">
              <a:ext uri="{FF2B5EF4-FFF2-40B4-BE49-F238E27FC236}">
                <a16:creationId xmlns:a16="http://schemas.microsoft.com/office/drawing/2014/main" id="{FE397443-476B-4CD8-91CB-F9736F98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943975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50" b="1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城市边缘区空间细分管控</a:t>
            </a:r>
          </a:p>
        </p:txBody>
      </p:sp>
      <p:sp>
        <p:nvSpPr>
          <p:cNvPr id="144" name="potential-connectivity">
            <a:extLst xmlns:a="http://schemas.openxmlformats.org/drawingml/2006/main">
              <a:ext uri="{FF2B5EF4-FFF2-40B4-BE49-F238E27FC236}">
                <a16:creationId xmlns:a16="http://schemas.microsoft.com/office/drawing/2014/main" id="{2A3F7B44-79A5-4B09-B7D8-370FA641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643890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5" name="potential">
            <a:extLst xmlns:a="http://schemas.openxmlformats.org/drawingml/2006/main">
              <a:ext uri="{FF2B5EF4-FFF2-40B4-BE49-F238E27FC236}">
                <a16:creationId xmlns:a16="http://schemas.microsoft.com/office/drawing/2014/main" id="{58F4974E-C22E-4B9F-88D8-C1E9A473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6496050"/>
            <a:ext cx="38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13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13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生态</a:t>
            </a:r>
          </a:p>
          <a:p xmlns:a="http://schemas.openxmlformats.org/drawingml/2006/main">
            <a:pPr algn="ctr">
              <a:buNone/>
              <a:defRPr sz="1013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13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潜力</a:t>
            </a:r>
          </a:p>
        </p:txBody>
      </p:sp>
      <p:sp>
        <p:nvSpPr>
          <p:cNvPr id="146" name="micro-plus">
            <a:extLst xmlns:a="http://schemas.openxmlformats.org/drawingml/2006/main">
              <a:ext uri="{FF2B5EF4-FFF2-40B4-BE49-F238E27FC236}">
                <a16:creationId xmlns:a16="http://schemas.microsoft.com/office/drawing/2014/main" id="{3CD9D3E3-1ECB-447D-9673-775A249A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6600825"/>
            <a:ext cx="238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+</a:t>
            </a:r>
          </a:p>
        </p:txBody>
      </p:sp>
      <p:sp>
        <p:nvSpPr>
          <p:cNvPr id="147" name="connectivity">
            <a:extLst xmlns:a="http://schemas.openxmlformats.org/drawingml/2006/main">
              <a:ext uri="{FF2B5EF4-FFF2-40B4-BE49-F238E27FC236}">
                <a16:creationId xmlns:a16="http://schemas.microsoft.com/office/drawing/2014/main" id="{116D9772-E1E0-4F9E-A812-2C3FC516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496050"/>
            <a:ext cx="352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13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13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景观</a:t>
            </a:r>
          </a:p>
          <a:p xmlns:a="http://schemas.openxmlformats.org/drawingml/2006/main">
            <a:pPr algn="ctr">
              <a:buNone/>
              <a:defRPr sz="1013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13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连通</a:t>
            </a:r>
          </a:p>
        </p:txBody>
      </p:sp>
      <p:sp>
        <p:nvSpPr>
          <p:cNvPr id="148" name="factor-target-model">
            <a:extLst xmlns:a="http://schemas.openxmlformats.org/drawingml/2006/main">
              <a:ext uri="{FF2B5EF4-FFF2-40B4-BE49-F238E27FC236}">
                <a16:creationId xmlns:a16="http://schemas.microsoft.com/office/drawing/2014/main" id="{91FBA72E-C316-4429-9518-70443CEC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6438900"/>
            <a:ext cx="9429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35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35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要素优化</a:t>
            </a:r>
          </a:p>
          <a:p xmlns:a="http://schemas.openxmlformats.org/drawingml/2006/main">
            <a:pPr algn="ctr">
              <a:buNone/>
              <a:defRPr sz="1035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35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目标建模</a:t>
            </a:r>
          </a:p>
        </p:txBody>
      </p:sp>
      <p:sp>
        <p:nvSpPr>
          <p:cNvPr id="149" name="adaptation-stage">
            <a:extLst xmlns:a="http://schemas.openxmlformats.org/drawingml/2006/main">
              <a:ext uri="{FF2B5EF4-FFF2-40B4-BE49-F238E27FC236}">
                <a16:creationId xmlns:a16="http://schemas.microsoft.com/office/drawing/2014/main" id="{34DA84EE-28B2-4D70-9580-91EE0321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72199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13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13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适应性演进</a:t>
            </a:r>
          </a:p>
          <a:p xmlns:a="http://schemas.openxmlformats.org/drawingml/2006/main">
            <a:pPr algn="ctr">
              <a:buNone/>
              <a:defRPr sz="1013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13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阶段识别</a:t>
            </a:r>
          </a:p>
        </p:txBody>
      </p:sp>
      <p:sp>
        <p:nvSpPr>
          <p:cNvPr id="150" name="nsga-optimization">
            <a:extLst xmlns:a="http://schemas.openxmlformats.org/drawingml/2006/main">
              <a:ext uri="{FF2B5EF4-FFF2-40B4-BE49-F238E27FC236}">
                <a16:creationId xmlns:a16="http://schemas.microsoft.com/office/drawing/2014/main" id="{1A7DF8F1-000E-45C0-8BF1-5D65174A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7219950"/>
            <a:ext cx="9429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975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多目标优化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975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（NSGA-II）</a:t>
            </a:r>
          </a:p>
        </p:txBody>
      </p:sp>
      <p:sp>
        <p:nvSpPr>
          <p:cNvPr id="151" name="potential-to-stage">
            <a:extLst xmlns:a="http://schemas.openxmlformats.org/drawingml/2006/main">
              <a:ext uri="{FF2B5EF4-FFF2-40B4-BE49-F238E27FC236}">
                <a16:creationId xmlns:a16="http://schemas.microsoft.com/office/drawing/2014/main" id="{C163951F-C5C8-4071-9589-13CE314D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7105650"/>
            <a:ext cx="1905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2" name="factor-to-nsga">
            <a:extLst xmlns:a="http://schemas.openxmlformats.org/drawingml/2006/main">
              <a:ext uri="{FF2B5EF4-FFF2-40B4-BE49-F238E27FC236}">
                <a16:creationId xmlns:a16="http://schemas.microsoft.com/office/drawing/2014/main" id="{D0F691D5-6676-4B21-8441-74593D3C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7105650"/>
            <a:ext cx="1905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3" name="strategy-match">
            <a:extLst xmlns:a="http://schemas.openxmlformats.org/drawingml/2006/main">
              <a:ext uri="{FF2B5EF4-FFF2-40B4-BE49-F238E27FC236}">
                <a16:creationId xmlns:a16="http://schemas.microsoft.com/office/drawing/2014/main" id="{016DD732-4C1B-44C9-9BB6-15D85BA4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77724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15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915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策略匹配</a:t>
            </a:r>
          </a:p>
        </p:txBody>
      </p:sp>
      <p:sp>
        <p:nvSpPr>
          <p:cNvPr id="154" name="flus-label">
            <a:extLst xmlns:a="http://schemas.openxmlformats.org/drawingml/2006/main">
              <a:ext uri="{FF2B5EF4-FFF2-40B4-BE49-F238E27FC236}">
                <a16:creationId xmlns:a16="http://schemas.microsoft.com/office/drawing/2014/main" id="{D1F999FA-5828-426A-B738-3181DD46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77724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15" b="1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915" b="1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FLUS</a:t>
            </a:r>
          </a:p>
        </p:txBody>
      </p:sp>
      <p:sp>
        <p:nvSpPr>
          <p:cNvPr id="155" name="local-landuse">
            <a:extLst xmlns:a="http://schemas.openxmlformats.org/drawingml/2006/main">
              <a:ext uri="{FF2B5EF4-FFF2-40B4-BE49-F238E27FC236}">
                <a16:creationId xmlns:a16="http://schemas.microsoft.com/office/drawing/2014/main" id="{E5E6E43E-191A-41C1-8B4E-CDE3B6B2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7972425"/>
            <a:ext cx="1047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90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990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单元最优</a:t>
            </a:r>
          </a:p>
          <a:p xmlns:a="http://schemas.openxmlformats.org/drawingml/2006/main">
            <a:pPr algn="ctr">
              <a:buNone/>
              <a:defRPr sz="990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990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土地利用决策</a:t>
            </a:r>
          </a:p>
        </p:txBody>
      </p:sp>
      <p:sp>
        <p:nvSpPr>
          <p:cNvPr id="156" name="global-landuse">
            <a:extLst xmlns:a="http://schemas.openxmlformats.org/drawingml/2006/main">
              <a:ext uri="{FF2B5EF4-FFF2-40B4-BE49-F238E27FC236}">
                <a16:creationId xmlns:a16="http://schemas.microsoft.com/office/drawing/2014/main" id="{AB234D9E-1CD8-40DF-9C32-43B58797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7972425"/>
            <a:ext cx="9429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90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990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全局最优</a:t>
            </a:r>
          </a:p>
          <a:p xmlns:a="http://schemas.openxmlformats.org/drawingml/2006/main">
            <a:pPr algn="ctr">
              <a:buNone/>
              <a:defRPr sz="990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990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土地利用格局</a:t>
            </a:r>
          </a:p>
        </p:txBody>
      </p:sp>
      <p:cxnSp>
        <p:nvCxnSpPr>
          <p:cNvPr id="514" name="直线箭头连接符 335"/>
          <p:cNvCxnSpPr>
            <a:stCxn xmlns:a="http://schemas.openxmlformats.org/drawingml/2006/main" id="149" idx="2"/>
            <a:endCxn xmlns:a="http://schemas.openxmlformats.org/drawingml/2006/main" id="155" idx="0"/>
          </p:cNvCxnSpPr>
          <p:nvPr/>
        </p:nvCxnSpPr>
        <p:spPr>
          <a:xfrm xmlns:a="http://schemas.openxmlformats.org/drawingml/2006/main">
            <a:off x="6038850" y="7772400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66666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515" name="直线箭头连接符 336"/>
          <p:cNvCxnSpPr>
            <a:stCxn xmlns:a="http://schemas.openxmlformats.org/drawingml/2006/main" id="150" idx="2"/>
            <a:endCxn xmlns:a="http://schemas.openxmlformats.org/drawingml/2006/main" id="156" idx="0"/>
          </p:cNvCxnSpPr>
          <p:nvPr/>
        </p:nvCxnSpPr>
        <p:spPr>
          <a:xfrm xmlns:a="http://schemas.openxmlformats.org/drawingml/2006/main">
            <a:off x="7129463" y="7772400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66666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159" name="micro-merge-left">
            <a:extLst xmlns:a="http://schemas.openxmlformats.org/drawingml/2006/main">
              <a:ext uri="{FF2B5EF4-FFF2-40B4-BE49-F238E27FC236}">
                <a16:creationId xmlns:a16="http://schemas.microsoft.com/office/drawing/2014/main" id="{0AEE0CCE-54B7-47B3-BB47-90902344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8505825"/>
            <a:ext cx="50482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0" name="micro-merge-right">
            <a:extLst xmlns:a="http://schemas.openxmlformats.org/drawingml/2006/main">
              <a:ext uri="{FF2B5EF4-FFF2-40B4-BE49-F238E27FC236}">
                <a16:creationId xmlns:a16="http://schemas.microsoft.com/office/drawing/2014/main" id="{59E7AF46-F140-4D46-BFB1-3D32888A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543675" y="8505825"/>
            <a:ext cx="59055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1" name="micro-divider">
            <a:extLst xmlns:a="http://schemas.openxmlformats.org/drawingml/2006/main">
              <a:ext uri="{FF2B5EF4-FFF2-40B4-BE49-F238E27FC236}">
                <a16:creationId xmlns:a16="http://schemas.microsoft.com/office/drawing/2014/main" id="{FB56FB89-220D-4369-BF17-AAFAE1FE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8524875"/>
            <a:ext cx="222885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B9B9B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2" name="micro-conclusion">
            <a:extLst xmlns:a="http://schemas.openxmlformats.org/drawingml/2006/main">
              <a:ext uri="{FF2B5EF4-FFF2-40B4-BE49-F238E27FC236}">
                <a16:creationId xmlns:a16="http://schemas.microsoft.com/office/drawing/2014/main" id="{EDD8DE66-3563-4FDD-B688-293D793D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8582025"/>
            <a:ext cx="209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66666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3" name="micro-conclusion-title">
            <a:extLst xmlns:a="http://schemas.openxmlformats.org/drawingml/2006/main">
              <a:ext uri="{FF2B5EF4-FFF2-40B4-BE49-F238E27FC236}">
                <a16:creationId xmlns:a16="http://schemas.microsoft.com/office/drawing/2014/main" id="{76D8D270-F2EE-47A3-AEB7-A425691C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8629650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38" b="1">
                <a:solidFill>
                  <a:srgbClr val="B54848"/>
                </a:solidFill>
                <a:latin typeface="Songti SC"/>
                <a:ea typeface="Songti SC"/>
                <a:cs typeface="Songti SC"/>
              </a:defRPr>
            </a:pPr>
            <a:r>
              <a:rPr sz="1238" b="1">
                <a:solidFill>
                  <a:srgbClr val="B54848"/>
                </a:solidFill>
                <a:latin typeface="Songti SC"/>
                <a:ea typeface="Songti SC"/>
                <a:cs typeface="Songti SC"/>
              </a:rPr>
              <a:t>城市边缘区要素适应性</a:t>
            </a:r>
          </a:p>
        </p:txBody>
      </p:sp>
      <p:sp>
        <p:nvSpPr>
          <p:cNvPr id="164" name="micro-conclusion-arrow">
            <a:extLst xmlns:a="http://schemas.openxmlformats.org/drawingml/2006/main">
              <a:ext uri="{FF2B5EF4-FFF2-40B4-BE49-F238E27FC236}">
                <a16:creationId xmlns:a16="http://schemas.microsoft.com/office/drawing/2014/main" id="{F856158B-223A-45BC-9BCD-1BFF6374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8848725"/>
            <a:ext cx="419100" cy="76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9B9B9"/>
          </a:solidFill>
          <a:ln xmlns:a="http://schemas.openxmlformats.org/drawingml/2006/main" w="3810">
            <a:solidFill>
              <a:srgbClr val="B9B9B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5" name="micro-conclusion-subtitle">
            <a:extLst xmlns:a="http://schemas.openxmlformats.org/drawingml/2006/main">
              <a:ext uri="{FF2B5EF4-FFF2-40B4-BE49-F238E27FC236}">
                <a16:creationId xmlns:a16="http://schemas.microsoft.com/office/drawing/2014/main" id="{680DC2FF-82CA-4BE5-B3DB-CC42FA5B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89439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050" b="1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城市边缘区土地利用优化</a:t>
            </a:r>
          </a:p>
        </p:txBody>
      </p:sp>
      <p:sp>
        <p:nvSpPr>
          <p:cNvPr id="166" name="macro-to-strategy">
            <a:extLst xmlns:a="http://schemas.openxmlformats.org/drawingml/2006/main">
              <a:ext uri="{FF2B5EF4-FFF2-40B4-BE49-F238E27FC236}">
                <a16:creationId xmlns:a16="http://schemas.microsoft.com/office/drawing/2014/main" id="{14C8F117-42AA-43F8-8FD4-BD726BB5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286875"/>
            <a:ext cx="3810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66666"/>
          </a:solidFill>
          <a:ln xmlns:a="http://schemas.openxmlformats.org/drawingml/2006/main" w="7620">
            <a:solidFill>
              <a:srgbClr val="66666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7" name="meso-to-strategy">
            <a:extLst xmlns:a="http://schemas.openxmlformats.org/drawingml/2006/main">
              <a:ext uri="{FF2B5EF4-FFF2-40B4-BE49-F238E27FC236}">
                <a16:creationId xmlns:a16="http://schemas.microsoft.com/office/drawing/2014/main" id="{888EF608-CAC4-4341-BF4E-3391C11B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9286875"/>
            <a:ext cx="3810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66666"/>
          </a:solidFill>
          <a:ln xmlns:a="http://schemas.openxmlformats.org/drawingml/2006/main" w="7620">
            <a:solidFill>
              <a:srgbClr val="66666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8" name="micro-to-strategy">
            <a:extLst xmlns:a="http://schemas.openxmlformats.org/drawingml/2006/main">
              <a:ext uri="{FF2B5EF4-FFF2-40B4-BE49-F238E27FC236}">
                <a16:creationId xmlns:a16="http://schemas.microsoft.com/office/drawing/2014/main" id="{CF28504C-CF00-45BE-A7EF-60CA39CC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9286875"/>
            <a:ext cx="3810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66666"/>
          </a:solidFill>
          <a:ln xmlns:a="http://schemas.openxmlformats.org/drawingml/2006/main" w="7620">
            <a:solidFill>
              <a:srgbClr val="66666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9" name="planning-response-outer">
            <a:extLst xmlns:a="http://schemas.openxmlformats.org/drawingml/2006/main">
              <a:ext uri="{FF2B5EF4-FFF2-40B4-BE49-F238E27FC236}">
                <a16:creationId xmlns:a16="http://schemas.microsoft.com/office/drawing/2014/main" id="{CB3112DC-1064-452B-9A2C-75984964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9467850"/>
            <a:ext cx="7153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32323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0" name="planning-response-header">
            <a:extLst xmlns:a="http://schemas.openxmlformats.org/drawingml/2006/main">
              <a:ext uri="{FF2B5EF4-FFF2-40B4-BE49-F238E27FC236}">
                <a16:creationId xmlns:a16="http://schemas.microsoft.com/office/drawing/2014/main" id="{D926F054-386B-46CA-AEB0-60E06B7C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496425"/>
            <a:ext cx="70961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4763">
            <a:solidFill>
              <a:srgbClr val="C9C9C9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城市边缘区生态适应性演进的规划响应策略</a:t>
            </a:r>
          </a:p>
        </p:txBody>
      </p:sp>
      <p:sp>
        <p:nvSpPr>
          <p:cNvPr id="171" name="strategy-structure">
            <a:extLst xmlns:a="http://schemas.openxmlformats.org/drawingml/2006/main">
              <a:ext uri="{FF2B5EF4-FFF2-40B4-BE49-F238E27FC236}">
                <a16:creationId xmlns:a16="http://schemas.microsoft.com/office/drawing/2014/main" id="{BAB8E51C-4B01-4243-8887-761AC640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91700"/>
            <a:ext cx="14954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125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结 构 为 纲</a:t>
            </a:r>
          </a:p>
        </p:txBody>
      </p:sp>
      <p:sp>
        <p:nvSpPr>
          <p:cNvPr id="172" name="strategy-plus-1">
            <a:extLst xmlns:a="http://schemas.openxmlformats.org/drawingml/2006/main">
              <a:ext uri="{FF2B5EF4-FFF2-40B4-BE49-F238E27FC236}">
                <a16:creationId xmlns:a16="http://schemas.microsoft.com/office/drawing/2014/main" id="{A8C3E875-41B0-4567-8219-FF86057C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97726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2025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+</a:t>
            </a:r>
          </a:p>
        </p:txBody>
      </p:sp>
      <p:sp>
        <p:nvSpPr>
          <p:cNvPr id="173" name="strategy-function">
            <a:extLst xmlns:a="http://schemas.openxmlformats.org/drawingml/2006/main">
              <a:ext uri="{FF2B5EF4-FFF2-40B4-BE49-F238E27FC236}">
                <a16:creationId xmlns:a16="http://schemas.microsoft.com/office/drawing/2014/main" id="{8FCC5923-5C5E-40CD-82FD-18482676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9791700"/>
            <a:ext cx="14954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125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功 能 为 本</a:t>
            </a:r>
          </a:p>
        </p:txBody>
      </p:sp>
      <p:sp>
        <p:nvSpPr>
          <p:cNvPr id="174" name="strategy-plus-2">
            <a:extLst xmlns:a="http://schemas.openxmlformats.org/drawingml/2006/main">
              <a:ext uri="{FF2B5EF4-FFF2-40B4-BE49-F238E27FC236}">
                <a16:creationId xmlns:a16="http://schemas.microsoft.com/office/drawing/2014/main" id="{4A19B392-599A-4A42-AB18-62F964EA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97726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2025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+</a:t>
            </a:r>
          </a:p>
        </p:txBody>
      </p:sp>
      <p:sp>
        <p:nvSpPr>
          <p:cNvPr id="175" name="strategy-factor">
            <a:extLst xmlns:a="http://schemas.openxmlformats.org/drawingml/2006/main">
              <a:ext uri="{FF2B5EF4-FFF2-40B4-BE49-F238E27FC236}">
                <a16:creationId xmlns:a16="http://schemas.microsoft.com/office/drawing/2014/main" id="{18AFB521-8744-443B-8231-F43F2664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9791700"/>
            <a:ext cx="14954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125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要 素 为 形</a:t>
            </a:r>
          </a:p>
        </p:txBody>
      </p:sp>
      <p:sp>
        <p:nvSpPr>
          <p:cNvPr id="176" name="strategy-plus-3">
            <a:extLst xmlns:a="http://schemas.openxmlformats.org/drawingml/2006/main">
              <a:ext uri="{FF2B5EF4-FFF2-40B4-BE49-F238E27FC236}">
                <a16:creationId xmlns:a16="http://schemas.microsoft.com/office/drawing/2014/main" id="{037781C2-AFFB-4093-9C4D-D9452C02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97726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2025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+</a:t>
            </a:r>
          </a:p>
        </p:txBody>
      </p:sp>
      <p:sp>
        <p:nvSpPr>
          <p:cNvPr id="177" name="strategy-governance">
            <a:extLst xmlns:a="http://schemas.openxmlformats.org/drawingml/2006/main">
              <a:ext uri="{FF2B5EF4-FFF2-40B4-BE49-F238E27FC236}">
                <a16:creationId xmlns:a16="http://schemas.microsoft.com/office/drawing/2014/main" id="{753E6C75-E2E2-4F67-9B56-04C3D4E4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979170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9B9B9B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1125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治 理 为 策</a:t>
            </a:r>
          </a:p>
        </p:txBody>
      </p:sp>
      <p:cxnSp>
        <p:nvCxnSpPr>
          <p:cNvPr id="535" name="肘形连接符 356"/>
          <p:cNvCxnSpPr>
            <a:stCxn xmlns:a="http://schemas.openxmlformats.org/drawingml/2006/main" id="177" idx="3"/>
            <a:endCxn xmlns:a="http://schemas.openxmlformats.org/drawingml/2006/main" id="38" idx="3"/>
          </p:cNvCxnSpPr>
          <p:nvPr/>
        </p:nvCxnSpPr>
        <p:spPr>
          <a:xfrm xmlns:a="http://schemas.openxmlformats.org/drawingml/2006/main" flipV="1">
            <a:off x="7610475" y="2886075"/>
            <a:ext cx="104775" cy="7019925"/>
          </a:xfrm>
          <a:prstGeom xmlns:a="http://schemas.openxmlformats.org/drawingml/2006/main" prst="bentConnector3">
            <a:avLst>
              <a:gd name="adj1" fmla="val 362938"/>
            </a:avLst>
          </a:prstGeom>
          <a:ln xmlns:a="http://schemas.openxmlformats.org/drawingml/2006/main" w="11906">
            <a:solidFill>
              <a:srgbClr val="666666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179" name="feedback-label">
            <a:extLst xmlns:a="http://schemas.openxmlformats.org/drawingml/2006/main">
              <a:ext uri="{FF2B5EF4-FFF2-40B4-BE49-F238E27FC236}">
                <a16:creationId xmlns:a16="http://schemas.microsoft.com/office/drawing/2014/main" id="{833FE956-E341-4777-87C0-19ADC8E1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638800"/>
            <a:ext cx="2476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975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补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323232"/>
                </a:solidFill>
                <a:latin typeface="Songti SC"/>
                <a:ea typeface="Songti SC"/>
                <a:cs typeface="Songti SC"/>
              </a:defRPr>
            </a:pPr>
            <a:r>
              <a:rPr sz="975" b="0">
                <a:solidFill>
                  <a:srgbClr val="323232"/>
                </a:solidFill>
                <a:latin typeface="Songti SC"/>
                <a:ea typeface="Songti SC"/>
                <a:cs typeface="Songti SC"/>
              </a:rPr>
              <a:t>充</a:t>
            </a:r>
          </a:p>
        </p:txBody>
      </p:sp>
    </p:spTree>
    <p:extLst>
      <p:ext uri="{BB962C8B-B14F-4D97-AF65-F5344CB8AC3E}">
        <p14:creationId xmlns:p14="http://schemas.microsoft.com/office/powerpoint/2010/main" val="10953711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2026-08-08T16:04:45.6250000Z</dcterms:created>
  <dcterms:modified xsi:type="dcterms:W3CDTF">2026-08-08T16:04:45.6250000Z</dcterms:modified>
</coreProperties>
</file>