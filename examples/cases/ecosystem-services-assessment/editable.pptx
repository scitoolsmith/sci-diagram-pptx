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f0e5c0e7954c54" /><Relationship Type="http://schemas.openxmlformats.org/officeDocument/2006/relationships/extended-properties" Target="/docProps/app.xml" Id="R6e6300e36dbf4202" /><Relationship Type="http://schemas.openxmlformats.org/officeDocument/2006/relationships/officeDocument" Target="/ppt/presentation.xml" Id="Rbc624029d8e246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295bf6350a45e0"/>
  </p:sldMasterIdLst>
  <p:notesMasterIdLst>
    <p:notesMasterId xmlns:r="http://schemas.openxmlformats.org/officeDocument/2006/relationships" r:id="R81872269c46740e2"/>
  </p:notesMasterIdLst>
  <p:sldIdLst>
    <p:sldId xmlns:r="http://schemas.openxmlformats.org/officeDocument/2006/relationships" id="256" r:id="R6d99777704da49c0"/>
  </p:sldIdLst>
  <p:sldSz cx="12526196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7a958219414eed" /><Relationship Type="http://schemas.openxmlformats.org/officeDocument/2006/relationships/slideMaster" Target="/ppt/slideMasters/slideMaster1.xml" Id="Rb6295bf6350a45e0" /><Relationship Type="http://schemas.openxmlformats.org/officeDocument/2006/relationships/notesMaster" Target="/ppt/notesMasters/notesMaster1.xml" Id="R81872269c46740e2" /><Relationship Type="http://schemas.openxmlformats.org/officeDocument/2006/relationships/presProps" Target="/ppt/presProps.xml" Id="R9915401e313a431d" /><Relationship Type="http://schemas.openxmlformats.org/officeDocument/2006/relationships/tableStyles" Target="/ppt/tableStyles.xml" Id="Rcf325b9d43724446" /><Relationship Type="http://schemas.openxmlformats.org/officeDocument/2006/relationships/slide" Target="/ppt/slides/slide1.xml" Id="R6d99777704da49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b570156f0d41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33a09cd5424938" /><Relationship Type="http://schemas.openxmlformats.org/officeDocument/2006/relationships/notesMaster" Target="/ppt/notesMasters/notesMaster1.xml" Id="Rcab938800fe94c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335d60564741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bc83ba0f994a49" /><Relationship Type="http://schemas.openxmlformats.org/officeDocument/2006/relationships/slideLayout" Target="/ppt/slideLayouts/slideLayout1.xml" Id="R3697b90b408c45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97b90b408c45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23989bd1c49d1" /><Relationship Type="http://schemas.openxmlformats.org/officeDocument/2006/relationships/notesSlide" Target="/ppt/notesSlides/notesSlide1.xml" Id="R02031182b67c45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step1_frame">
            <a:extLst xmlns:a="http://schemas.openxmlformats.org/drawingml/2006/main">
              <a:ext uri="{FF2B5EF4-FFF2-40B4-BE49-F238E27FC236}">
                <a16:creationId xmlns:a16="http://schemas.microsoft.com/office/drawing/2014/main" id="{FBE3E34A-3A17-416E-B898-757BA885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1" y="103461"/>
            <a:ext cx="4988308" cy="3916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780">
            <a:solidFill>
              <a:srgbClr val="000000"/>
            </a:solidFill>
            <a:prstDash val="dashDot"/>
          </a:ln>
        </p:spPr>
      </p:sp>
      <p:sp>
        <p:nvSpPr>
          <p:cNvPr id="2" name="step2_frame">
            <a:extLst xmlns:a="http://schemas.openxmlformats.org/drawingml/2006/main">
              <a:ext uri="{FF2B5EF4-FFF2-40B4-BE49-F238E27FC236}">
                <a16:creationId xmlns:a16="http://schemas.microsoft.com/office/drawing/2014/main" id="{2AA02826-50E6-4CD4-A1E2-90FF1780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1" y="4308420"/>
            <a:ext cx="5069599" cy="2542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780">
            <a:solidFill>
              <a:srgbClr val="000000"/>
            </a:solidFill>
            <a:prstDash val="dashDot"/>
          </a:ln>
        </p:spPr>
      </p:sp>
      <p:sp>
        <p:nvSpPr>
          <p:cNvPr id="3" name="step3_frame">
            <a:extLst xmlns:a="http://schemas.openxmlformats.org/drawingml/2006/main">
              <a:ext uri="{FF2B5EF4-FFF2-40B4-BE49-F238E27FC236}">
                <a16:creationId xmlns:a16="http://schemas.microsoft.com/office/drawing/2014/main" id="{1E5A9EB3-717D-44F9-937A-715D11FF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877" y="768569"/>
            <a:ext cx="4249300" cy="2460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780">
            <a:solidFill>
              <a:srgbClr val="000000"/>
            </a:solidFill>
            <a:prstDash val="dashDot"/>
          </a:ln>
        </p:spPr>
      </p:sp>
      <p:sp>
        <p:nvSpPr>
          <p:cNvPr id="4" name="criteria_frame">
            <a:extLst xmlns:a="http://schemas.openxmlformats.org/drawingml/2006/main">
              <a:ext uri="{FF2B5EF4-FFF2-40B4-BE49-F238E27FC236}">
                <a16:creationId xmlns:a16="http://schemas.microsoft.com/office/drawing/2014/main" id="{5079D7F1-621E-4FE5-A1E5-B049BB68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879" y="103461"/>
            <a:ext cx="2290927" cy="3148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868">
            <a:solidFill>
              <a:srgbClr val="000000"/>
            </a:solidFill>
            <a:prstDash val="dot"/>
          </a:ln>
        </p:spPr>
      </p:sp>
      <p:sp>
        <p:nvSpPr>
          <p:cNvPr id="5" name="step4_frame">
            <a:extLst xmlns:a="http://schemas.openxmlformats.org/drawingml/2006/main">
              <a:ext uri="{FF2B5EF4-FFF2-40B4-BE49-F238E27FC236}">
                <a16:creationId xmlns:a16="http://schemas.microsoft.com/office/drawing/2014/main" id="{08FE7AD3-1084-44E8-8693-D08F5B5A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707" y="3539851"/>
            <a:ext cx="6776709" cy="3310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780">
            <a:solidFill>
              <a:srgbClr val="000000"/>
            </a:solidFill>
            <a:prstDash val="dashDot"/>
          </a:ln>
        </p:spPr>
      </p:sp>
      <p:sp>
        <p:nvSpPr>
          <p:cNvPr id="6" name="step4_inner_frame">
            <a:extLst xmlns:a="http://schemas.openxmlformats.org/drawingml/2006/main">
              <a:ext uri="{FF2B5EF4-FFF2-40B4-BE49-F238E27FC236}">
                <a16:creationId xmlns:a16="http://schemas.microsoft.com/office/drawing/2014/main" id="{ABDE6F2E-E048-4852-8275-8485189B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7692" y="4101498"/>
            <a:ext cx="3783724" cy="2032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868">
            <a:solidFill>
              <a:srgbClr val="000000"/>
            </a:solidFill>
            <a:prstDash val="dot"/>
          </a:ln>
        </p:spPr>
      </p:sp>
      <p:sp>
        <p:nvSpPr>
          <p:cNvPr id="7" name="service_demand_join">
            <a:extLst xmlns:a="http://schemas.openxmlformats.org/drawingml/2006/main">
              <a:ext uri="{FF2B5EF4-FFF2-40B4-BE49-F238E27FC236}">
                <a16:creationId xmlns:a16="http://schemas.microsoft.com/office/drawing/2014/main" id="{E5F2D9E2-1EDF-4F96-9997-7897C259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045" y="1744060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rvice_supply_join">
            <a:extLst xmlns:a="http://schemas.openxmlformats.org/drawingml/2006/main">
              <a:ext uri="{FF2B5EF4-FFF2-40B4-BE49-F238E27FC236}">
                <a16:creationId xmlns:a16="http://schemas.microsoft.com/office/drawing/2014/main" id="{09944172-BDE9-47E3-8ED5-1D3CEBED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823" y="1744060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atio_join">
            <a:extLst xmlns:a="http://schemas.openxmlformats.org/drawingml/2006/main">
              <a:ext uri="{FF2B5EF4-FFF2-40B4-BE49-F238E27FC236}">
                <a16:creationId xmlns:a16="http://schemas.microsoft.com/office/drawing/2014/main" id="{2DE57894-DA17-459A-A9FB-D2F27908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409" y="2682601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verall_join">
            <a:extLst xmlns:a="http://schemas.openxmlformats.org/drawingml/2006/main">
              <a:ext uri="{FF2B5EF4-FFF2-40B4-BE49-F238E27FC236}">
                <a16:creationId xmlns:a16="http://schemas.microsoft.com/office/drawing/2014/main" id="{C5D21959-C7E6-4505-B5BE-7790E581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06" y="3458560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ructural_join">
            <a:extLst xmlns:a="http://schemas.openxmlformats.org/drawingml/2006/main">
              <a:ext uri="{FF2B5EF4-FFF2-40B4-BE49-F238E27FC236}">
                <a16:creationId xmlns:a16="http://schemas.microsoft.com/office/drawing/2014/main" id="{6D94E067-6E0C-4A44-AEB4-ECB01F6E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894" y="3458560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arcity_left_mid">
            <a:extLst xmlns:a="http://schemas.openxmlformats.org/drawingml/2006/main">
              <a:ext uri="{FF2B5EF4-FFF2-40B4-BE49-F238E27FC236}">
                <a16:creationId xmlns:a16="http://schemas.microsoft.com/office/drawing/2014/main" id="{41B0E984-7136-45B6-9043-F8F38172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43" y="5173060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arcity_right_mid">
            <a:extLst xmlns:a="http://schemas.openxmlformats.org/drawingml/2006/main">
              <a:ext uri="{FF2B5EF4-FFF2-40B4-BE49-F238E27FC236}">
                <a16:creationId xmlns:a16="http://schemas.microsoft.com/office/drawing/2014/main" id="{AC452275-9E3C-4D33-9F0F-79418D47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578" y="5173060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uep_entry">
            <a:extLst xmlns:a="http://schemas.openxmlformats.org/drawingml/2006/main">
              <a:ext uri="{FF2B5EF4-FFF2-40B4-BE49-F238E27FC236}">
                <a16:creationId xmlns:a16="http://schemas.microsoft.com/office/drawing/2014/main" id="{3A48D4FA-F25F-4D13-958C-E716FC6E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43" y="5646026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et_entry">
            <a:extLst xmlns:a="http://schemas.openxmlformats.org/drawingml/2006/main">
              <a:ext uri="{FF2B5EF4-FFF2-40B4-BE49-F238E27FC236}">
                <a16:creationId xmlns:a16="http://schemas.microsoft.com/office/drawing/2014/main" id="{B81D2176-DA52-4C32-9497-CA3FD149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578" y="5646026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2_red_origin">
            <a:extLst xmlns:a="http://schemas.openxmlformats.org/drawingml/2006/main">
              <a:ext uri="{FF2B5EF4-FFF2-40B4-BE49-F238E27FC236}">
                <a16:creationId xmlns:a16="http://schemas.microsoft.com/office/drawing/2014/main" id="{06C217FB-D0CF-4443-AE42-675F892A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060" y="5727317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rmula_input_upper">
            <a:extLst xmlns:a="http://schemas.openxmlformats.org/drawingml/2006/main">
              <a:ext uri="{FF2B5EF4-FFF2-40B4-BE49-F238E27FC236}">
                <a16:creationId xmlns:a16="http://schemas.microsoft.com/office/drawing/2014/main" id="{52F105B3-A191-4AED-BE09-08BE6A8B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5942" y="1854912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rmula_input_lower">
            <a:extLst xmlns:a="http://schemas.openxmlformats.org/drawingml/2006/main">
              <a:ext uri="{FF2B5EF4-FFF2-40B4-BE49-F238E27FC236}">
                <a16:creationId xmlns:a16="http://schemas.microsoft.com/office/drawing/2014/main" id="{3786A667-312F-413F-ACD9-A3453919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5942" y="2084004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ensitivity_out">
            <a:extLst xmlns:a="http://schemas.openxmlformats.org/drawingml/2006/main">
              <a:ext uri="{FF2B5EF4-FFF2-40B4-BE49-F238E27FC236}">
                <a16:creationId xmlns:a16="http://schemas.microsoft.com/office/drawing/2014/main" id="{B45638A8-3BA5-41A1-8480-E895D59F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006" y="480356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nsitivity_in">
            <a:extLst xmlns:a="http://schemas.openxmlformats.org/drawingml/2006/main">
              <a:ext uri="{FF2B5EF4-FFF2-40B4-BE49-F238E27FC236}">
                <a16:creationId xmlns:a16="http://schemas.microsoft.com/office/drawing/2014/main" id="{192AB7F3-2BD2-45C0-B7E5-BE0424AD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341" y="480356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sssc_out">
            <a:extLst xmlns:a="http://schemas.openxmlformats.org/drawingml/2006/main">
              <a:ext uri="{FF2B5EF4-FFF2-40B4-BE49-F238E27FC236}">
                <a16:creationId xmlns:a16="http://schemas.microsoft.com/office/drawing/2014/main" id="{9211286E-50A5-4A06-B683-F6EB0809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006" y="1655379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esssc_in">
            <a:extLst xmlns:a="http://schemas.openxmlformats.org/drawingml/2006/main">
              <a:ext uri="{FF2B5EF4-FFF2-40B4-BE49-F238E27FC236}">
                <a16:creationId xmlns:a16="http://schemas.microsoft.com/office/drawing/2014/main" id="{5016A727-A6B8-4DDA-BB30-A57DC9EE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341" y="1655379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riteria_bottom">
            <a:extLst xmlns:a="http://schemas.openxmlformats.org/drawingml/2006/main">
              <a:ext uri="{FF2B5EF4-FFF2-40B4-BE49-F238E27FC236}">
                <a16:creationId xmlns:a16="http://schemas.microsoft.com/office/drawing/2014/main" id="{30B6D729-60F3-40E0-8E08-841FC995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591" y="3229468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dentify_top">
            <a:extLst xmlns:a="http://schemas.openxmlformats.org/drawingml/2006/main">
              <a:ext uri="{FF2B5EF4-FFF2-40B4-BE49-F238E27FC236}">
                <a16:creationId xmlns:a16="http://schemas.microsoft.com/office/drawing/2014/main" id="{7B5A6BCB-5FB7-424B-B5C6-417A0ED0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591" y="3835455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inner_group_bottom">
            <a:extLst xmlns:a="http://schemas.openxmlformats.org/drawingml/2006/main">
              <a:ext uri="{FF2B5EF4-FFF2-40B4-BE49-F238E27FC236}">
                <a16:creationId xmlns:a16="http://schemas.microsoft.com/office/drawing/2014/main" id="{2EF3E6E4-DE43-4890-8AE1-AAE84C46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591" y="6111601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esp_top">
            <a:extLst xmlns:a="http://schemas.openxmlformats.org/drawingml/2006/main">
              <a:ext uri="{FF2B5EF4-FFF2-40B4-BE49-F238E27FC236}">
                <a16:creationId xmlns:a16="http://schemas.microsoft.com/office/drawing/2014/main" id="{EB7DED41-623F-47FE-A050-72CF9FD1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591" y="6399815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cr_start">
            <a:extLst xmlns:a="http://schemas.openxmlformats.org/drawingml/2006/main">
              <a:ext uri="{FF2B5EF4-FFF2-40B4-BE49-F238E27FC236}">
                <a16:creationId xmlns:a16="http://schemas.microsoft.com/office/drawing/2014/main" id="{8686276F-523E-48F2-A612-9D694762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244" y="4884847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cr_end">
            <a:extLst xmlns:a="http://schemas.openxmlformats.org/drawingml/2006/main">
              <a:ext uri="{FF2B5EF4-FFF2-40B4-BE49-F238E27FC236}">
                <a16:creationId xmlns:a16="http://schemas.microsoft.com/office/drawing/2014/main" id="{CDBDB096-A5A6-4BB6-93F6-8F23B0C6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1153" y="4884847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cr_lower_end">
            <a:extLst xmlns:a="http://schemas.openxmlformats.org/drawingml/2006/main">
              <a:ext uri="{FF2B5EF4-FFF2-40B4-BE49-F238E27FC236}">
                <a16:creationId xmlns:a16="http://schemas.microsoft.com/office/drawing/2014/main" id="{A1533519-E3A9-483C-A420-C23BDF16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358" y="4766606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rrier_start">
            <a:extLst xmlns:a="http://schemas.openxmlformats.org/drawingml/2006/main">
              <a:ext uri="{FF2B5EF4-FFF2-40B4-BE49-F238E27FC236}">
                <a16:creationId xmlns:a16="http://schemas.microsoft.com/office/drawing/2014/main" id="{EB8EA67D-F68C-45B5-9DEC-C4958BDB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1153" y="5106550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rrier_join">
            <a:extLst xmlns:a="http://schemas.openxmlformats.org/drawingml/2006/main">
              <a:ext uri="{FF2B5EF4-FFF2-40B4-BE49-F238E27FC236}">
                <a16:creationId xmlns:a16="http://schemas.microsoft.com/office/drawing/2014/main" id="{DEC68A04-FE29-4A14-A694-D0C0F317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045" y="5660806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node_line_start">
            <a:extLst xmlns:a="http://schemas.openxmlformats.org/drawingml/2006/main">
              <a:ext uri="{FF2B5EF4-FFF2-40B4-BE49-F238E27FC236}">
                <a16:creationId xmlns:a16="http://schemas.microsoft.com/office/drawing/2014/main" id="{900A81A2-7D49-4873-ABCD-D5749A65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244" y="5660806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node_line_end">
            <a:extLst xmlns:a="http://schemas.openxmlformats.org/drawingml/2006/main">
              <a:ext uri="{FF2B5EF4-FFF2-40B4-BE49-F238E27FC236}">
                <a16:creationId xmlns:a16="http://schemas.microsoft.com/office/drawing/2014/main" id="{A4FB8A6D-78D8-4BAD-9F39-7104034D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1153" y="5660806"/>
            <a:ext cx="29560" cy="2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tep1_prefix">
            <a:extLst xmlns:a="http://schemas.openxmlformats.org/drawingml/2006/main">
              <a:ext uri="{FF2B5EF4-FFF2-40B4-BE49-F238E27FC236}">
                <a16:creationId xmlns:a16="http://schemas.microsoft.com/office/drawing/2014/main" id="{79EDC04E-4500-48FD-AEE9-E94BB88D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43" y="229093"/>
            <a:ext cx="605987" cy="332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1085" rIns="0" bIns="1108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04" b="1" i="1">
                <a:solidFill>
                  <a:srgbClr val="8500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4" b="1" i="1">
                <a:solidFill>
                  <a:srgbClr val="85003F"/>
                </a:solidFill>
                <a:latin typeface="Times New Roman"/>
                <a:ea typeface="Times New Roman"/>
                <a:cs typeface="Times New Roman"/>
              </a:rPr>
              <a:t>Step1:</a:t>
            </a:r>
          </a:p>
        </p:txBody>
      </p:sp>
      <p:sp>
        <p:nvSpPr>
          <p:cNvPr id="35" name="step1_title">
            <a:extLst xmlns:a="http://schemas.openxmlformats.org/drawingml/2006/main">
              <a:ext uri="{FF2B5EF4-FFF2-40B4-BE49-F238E27FC236}">
                <a16:creationId xmlns:a16="http://schemas.microsoft.com/office/drawing/2014/main" id="{2D859DF7-9D56-419D-A369-3B805B43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90" y="229093"/>
            <a:ext cx="4027597" cy="332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1085" rIns="0" bIns="1108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0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supply-demand balance of ESs</a:t>
            </a:r>
          </a:p>
        </p:txBody>
      </p:sp>
      <p:sp>
        <p:nvSpPr>
          <p:cNvPr id="36" name="ecosystem_panel">
            <a:extLst xmlns:a="http://schemas.openxmlformats.org/drawingml/2006/main">
              <a:ext uri="{FF2B5EF4-FFF2-40B4-BE49-F238E27FC236}">
                <a16:creationId xmlns:a16="http://schemas.microsoft.com/office/drawing/2014/main" id="{5D2CE8D0-750D-438E-8786-7C35642C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63" y="716838"/>
            <a:ext cx="4737045" cy="1115903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DF3FD"/>
              </a:gs>
              <a:gs pos="50000">
                <a:srgbClr val="BFE5FA"/>
              </a:gs>
              <a:gs pos="100000">
                <a:srgbClr val="DDF3FD"/>
              </a:gs>
            </a:gsLst>
            <a:lin ang="0"/>
          </a:gradFill>
          <a:ln xmlns:a="http://schemas.openxmlformats.org/drawingml/2006/main" w="8868">
            <a:solidFill>
              <a:srgbClr val="000000"/>
            </a:solidFill>
            <a:prstDash val="dot"/>
          </a:ln>
        </p:spPr>
      </p:sp>
      <p:sp>
        <p:nvSpPr>
          <p:cNvPr id="37" name="ecosystem_panel_title">
            <a:extLst xmlns:a="http://schemas.openxmlformats.org/drawingml/2006/main">
              <a:ext uri="{FF2B5EF4-FFF2-40B4-BE49-F238E27FC236}">
                <a16:creationId xmlns:a16="http://schemas.microsoft.com/office/drawing/2014/main" id="{AE8733AE-112C-4790-A280-F7490672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3" y="731619"/>
            <a:ext cx="3103836" cy="251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2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9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Ecosystem services types</a:t>
            </a:r>
          </a:p>
        </p:txBody>
      </p:sp>
      <p:sp>
        <p:nvSpPr>
          <p:cNvPr id="38" name="water_yield">
            <a:extLst xmlns:a="http://schemas.openxmlformats.org/drawingml/2006/main">
              <a:ext uri="{FF2B5EF4-FFF2-40B4-BE49-F238E27FC236}">
                <a16:creationId xmlns:a16="http://schemas.microsoft.com/office/drawing/2014/main" id="{BCBC935E-009C-49F6-9655-573D3F76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74" y="1012442"/>
            <a:ext cx="997662" cy="55425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CFECFB"/>
              </a:gs>
              <a:gs pos="52000">
                <a:srgbClr val="EAF8FF"/>
              </a:gs>
              <a:gs pos="100000">
                <a:srgbClr val="BFE5FA"/>
              </a:gs>
            </a:gsLst>
            <a:lin ang="0"/>
          </a:gradFill>
          <a:ln xmlns:a="http://schemas.openxmlformats.org/drawingml/2006/main" w="9607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4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Water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4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yield</a:t>
            </a:r>
          </a:p>
        </p:txBody>
      </p:sp>
      <p:sp>
        <p:nvSpPr>
          <p:cNvPr id="39" name="soil_conservation">
            <a:extLst xmlns:a="http://schemas.openxmlformats.org/drawingml/2006/main">
              <a:ext uri="{FF2B5EF4-FFF2-40B4-BE49-F238E27FC236}">
                <a16:creationId xmlns:a16="http://schemas.microsoft.com/office/drawing/2014/main" id="{0BBDEB50-E688-43DB-9DE0-EFAC4E07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386" y="1012442"/>
            <a:ext cx="1160244" cy="55425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CFECFB"/>
              </a:gs>
              <a:gs pos="52000">
                <a:srgbClr val="EAF8FF"/>
              </a:gs>
              <a:gs pos="100000">
                <a:srgbClr val="BFE5FA"/>
              </a:gs>
            </a:gsLst>
            <a:lin ang="0"/>
          </a:gradFill>
          <a:ln xmlns:a="http://schemas.openxmlformats.org/drawingml/2006/main" w="9607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3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Soil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3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Conservation</a:t>
            </a:r>
          </a:p>
        </p:txBody>
      </p:sp>
      <p:sp>
        <p:nvSpPr>
          <p:cNvPr id="40" name="carbon_sequestration">
            <a:extLst xmlns:a="http://schemas.openxmlformats.org/drawingml/2006/main">
              <a:ext uri="{FF2B5EF4-FFF2-40B4-BE49-F238E27FC236}">
                <a16:creationId xmlns:a16="http://schemas.microsoft.com/office/drawing/2014/main" id="{81A9BF84-0C2B-40B6-B3CC-0DB1EF13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190" y="1012442"/>
            <a:ext cx="1152853" cy="55425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CFECFB"/>
              </a:gs>
              <a:gs pos="52000">
                <a:srgbClr val="EAF8FF"/>
              </a:gs>
              <a:gs pos="100000">
                <a:srgbClr val="BFE5FA"/>
              </a:gs>
            </a:gsLst>
            <a:lin ang="0"/>
          </a:gradFill>
          <a:ln xmlns:a="http://schemas.openxmlformats.org/drawingml/2006/main" w="9607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Carbon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sequestration</a:t>
            </a:r>
          </a:p>
        </p:txBody>
      </p:sp>
      <p:sp>
        <p:nvSpPr>
          <p:cNvPr id="41" name="recreation_leisure">
            <a:extLst xmlns:a="http://schemas.openxmlformats.org/drawingml/2006/main">
              <a:ext uri="{FF2B5EF4-FFF2-40B4-BE49-F238E27FC236}">
                <a16:creationId xmlns:a16="http://schemas.microsoft.com/office/drawing/2014/main" id="{76324C3A-5E59-493A-BA38-586A9230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774" y="1012442"/>
            <a:ext cx="1160244" cy="55425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CFECFB"/>
              </a:gs>
              <a:gs pos="52000">
                <a:srgbClr val="EAF8FF"/>
              </a:gs>
              <a:gs pos="100000">
                <a:srgbClr val="BFE5FA"/>
              </a:gs>
            </a:gsLst>
            <a:lin ang="0"/>
          </a:gradFill>
          <a:ln xmlns:a="http://schemas.openxmlformats.org/drawingml/2006/main" w="9607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Recreation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 leisure</a:t>
            </a:r>
          </a:p>
        </p:txBody>
      </p:sp>
      <p:sp>
        <p:nvSpPr>
          <p:cNvPr id="42" name="ecosystem_demand">
            <a:extLst xmlns:a="http://schemas.openxmlformats.org/drawingml/2006/main">
              <a:ext uri="{FF2B5EF4-FFF2-40B4-BE49-F238E27FC236}">
                <a16:creationId xmlns:a16="http://schemas.microsoft.com/office/drawing/2014/main" id="{CB33FF07-4638-4F0F-B64B-D05212DD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66" y="1987933"/>
            <a:ext cx="1714500" cy="54686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6EEFB"/>
              </a:gs>
              <a:gs pos="100000">
                <a:srgbClr val="C9EAFB"/>
              </a:gs>
            </a:gsLst>
            <a:lin ang="0"/>
          </a:gradFill>
          <a:ln xmlns:a="http://schemas.openxmlformats.org/drawingml/2006/main" w="739">
            <a:solidFill>
              <a:srgbClr val="BFE5FA"/>
            </a:solidFill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5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Ecosystem service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5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demand (ED)</a:t>
            </a:r>
          </a:p>
        </p:txBody>
      </p:sp>
      <p:sp>
        <p:nvSpPr>
          <p:cNvPr id="43" name="ecosystem_supply">
            <a:extLst xmlns:a="http://schemas.openxmlformats.org/drawingml/2006/main">
              <a:ext uri="{FF2B5EF4-FFF2-40B4-BE49-F238E27FC236}">
                <a16:creationId xmlns:a16="http://schemas.microsoft.com/office/drawing/2014/main" id="{51841C11-1367-436A-A6D2-52F77300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985" y="1987933"/>
            <a:ext cx="1714500" cy="54686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6EEFB"/>
              </a:gs>
              <a:gs pos="100000">
                <a:srgbClr val="C9EAFB"/>
              </a:gs>
            </a:gsLst>
            <a:lin ang="0"/>
          </a:gradFill>
          <a:ln xmlns:a="http://schemas.openxmlformats.org/drawingml/2006/main" w="739">
            <a:solidFill>
              <a:srgbClr val="BFE5FA"/>
            </a:solidFill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5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Ecosystem service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5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supply (ES)</a:t>
            </a:r>
          </a:p>
        </p:txBody>
      </p:sp>
      <p:sp>
        <p:nvSpPr>
          <p:cNvPr id="44" name="supply_demand_ratio">
            <a:extLst xmlns:a="http://schemas.openxmlformats.org/drawingml/2006/main">
              <a:ext uri="{FF2B5EF4-FFF2-40B4-BE49-F238E27FC236}">
                <a16:creationId xmlns:a16="http://schemas.microsoft.com/office/drawing/2014/main" id="{4BBA4636-6C59-4450-8FE2-56C37173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66" y="2956034"/>
            <a:ext cx="4234519" cy="30299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CFECFB"/>
              </a:gs>
              <a:gs pos="52000">
                <a:srgbClr val="EAF8FF"/>
              </a:gs>
              <a:gs pos="100000">
                <a:srgbClr val="BFE5FA"/>
              </a:gs>
            </a:gsLst>
            <a:lin ang="0"/>
          </a:gradFill>
          <a:ln xmlns:a="http://schemas.openxmlformats.org/drawingml/2006/main" w="8129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5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1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Supply- demand ratio (ES/ED)</a:t>
            </a:r>
          </a:p>
        </p:txBody>
      </p:sp>
      <p:sp>
        <p:nvSpPr>
          <p:cNvPr id="45" name="overall_imbalance">
            <a:extLst xmlns:a="http://schemas.openxmlformats.org/drawingml/2006/main">
              <a:ext uri="{FF2B5EF4-FFF2-40B4-BE49-F238E27FC236}">
                <a16:creationId xmlns:a16="http://schemas.microsoft.com/office/drawing/2014/main" id="{E050F12D-7A8B-4A46-B813-EBFC1DCD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66" y="3613752"/>
            <a:ext cx="1817961" cy="3029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129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4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Overall imbalance</a:t>
            </a:r>
          </a:p>
        </p:txBody>
      </p:sp>
      <p:sp>
        <p:nvSpPr>
          <p:cNvPr id="46" name="structural_imbalance">
            <a:extLst xmlns:a="http://schemas.openxmlformats.org/drawingml/2006/main">
              <a:ext uri="{FF2B5EF4-FFF2-40B4-BE49-F238E27FC236}">
                <a16:creationId xmlns:a16="http://schemas.microsoft.com/office/drawing/2014/main" id="{EB1B5825-CC38-4DEC-97E9-850C9D45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063" y="3613752"/>
            <a:ext cx="1906642" cy="3029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129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4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Structural imbalance</a:t>
            </a:r>
          </a:p>
        </p:txBody>
      </p:sp>
      <p:sp>
        <p:nvSpPr>
          <p:cNvPr id="47" name="step2_prefix">
            <a:extLst xmlns:a="http://schemas.openxmlformats.org/drawingml/2006/main">
              <a:ext uri="{FF2B5EF4-FFF2-40B4-BE49-F238E27FC236}">
                <a16:creationId xmlns:a16="http://schemas.microsoft.com/office/drawing/2014/main" id="{2A4676AF-DEE4-470F-AAE4-00B94298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15" y="4404491"/>
            <a:ext cx="650328" cy="317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1085" rIns="0" bIns="1108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746" b="1" i="1">
                <a:solidFill>
                  <a:srgbClr val="8500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6" b="1" i="1">
                <a:solidFill>
                  <a:srgbClr val="85003F"/>
                </a:solidFill>
                <a:latin typeface="Times New Roman"/>
                <a:ea typeface="Times New Roman"/>
                <a:cs typeface="Times New Roman"/>
              </a:rPr>
              <a:t>Step2:</a:t>
            </a:r>
          </a:p>
        </p:txBody>
      </p:sp>
      <p:sp>
        <p:nvSpPr>
          <p:cNvPr id="48" name="step2_title">
            <a:extLst xmlns:a="http://schemas.openxmlformats.org/drawingml/2006/main">
              <a:ext uri="{FF2B5EF4-FFF2-40B4-BE49-F238E27FC236}">
                <a16:creationId xmlns:a16="http://schemas.microsoft.com/office/drawing/2014/main" id="{6B1CAD63-3930-41BB-9F41-4E616B99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12" y="4404491"/>
            <a:ext cx="3916746" cy="317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1085" rIns="0" bIns="1108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7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adjust factors based on  ESs scarcity</a:t>
            </a:r>
          </a:p>
        </p:txBody>
      </p:sp>
      <p:sp>
        <p:nvSpPr>
          <p:cNvPr id="49" name="scarcity_box">
            <a:extLst xmlns:a="http://schemas.openxmlformats.org/drawingml/2006/main">
              <a:ext uri="{FF2B5EF4-FFF2-40B4-BE49-F238E27FC236}">
                <a16:creationId xmlns:a16="http://schemas.microsoft.com/office/drawing/2014/main" id="{8E296DFA-2B7D-4E87-80E3-FF80F670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97" y="4884847"/>
            <a:ext cx="4027597" cy="5468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129">
            <a:solidFill>
              <a:srgbClr val="000000"/>
            </a:solidFill>
            <a:prstDash val="solid"/>
          </a:ln>
        </p:spPr>
      </p:sp>
      <p:sp>
        <p:nvSpPr>
          <p:cNvPr id="50" name="scarcity_title">
            <a:extLst xmlns:a="http://schemas.openxmlformats.org/drawingml/2006/main">
              <a:ext uri="{FF2B5EF4-FFF2-40B4-BE49-F238E27FC236}">
                <a16:creationId xmlns:a16="http://schemas.microsoft.com/office/drawing/2014/main" id="{1CF7F4B6-FDB1-4646-BBEB-9575AA23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634" y="4899627"/>
            <a:ext cx="2882134" cy="251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Scarcity Theory</a:t>
            </a:r>
          </a:p>
        </p:txBody>
      </p:sp>
      <p:sp>
        <p:nvSpPr>
          <p:cNvPr id="51" name="scarcity_body">
            <a:extLst xmlns:a="http://schemas.openxmlformats.org/drawingml/2006/main">
              <a:ext uri="{FF2B5EF4-FFF2-40B4-BE49-F238E27FC236}">
                <a16:creationId xmlns:a16="http://schemas.microsoft.com/office/drawing/2014/main" id="{31FFA1CA-6531-4617-AA7E-CC5FD56F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009" y="5150890"/>
            <a:ext cx="3746774" cy="22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server imbalance, the higher priority urgency</a:t>
            </a:r>
          </a:p>
        </p:txBody>
      </p:sp>
      <p:sp>
        <p:nvSpPr>
          <p:cNvPr id="52" name="uep_panel">
            <a:extLst xmlns:a="http://schemas.openxmlformats.org/drawingml/2006/main">
              <a:ext uri="{FF2B5EF4-FFF2-40B4-BE49-F238E27FC236}">
                <a16:creationId xmlns:a16="http://schemas.microsoft.com/office/drawing/2014/main" id="{E71C4711-0ED9-4177-B899-51978296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52" y="5660806"/>
            <a:ext cx="2475679" cy="11306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90">
            <a:solidFill>
              <a:srgbClr val="C8C8C8"/>
            </a:solidFill>
            <a:prstDash val="solid"/>
          </a:ln>
        </p:spPr>
      </p:sp>
      <p:sp>
        <p:nvSpPr>
          <p:cNvPr id="53" name="uep_header">
            <a:extLst xmlns:a="http://schemas.openxmlformats.org/drawingml/2006/main">
              <a:ext uri="{FF2B5EF4-FFF2-40B4-BE49-F238E27FC236}">
                <a16:creationId xmlns:a16="http://schemas.microsoft.com/office/drawing/2014/main" id="{8B6AD83D-5FCB-401A-B38C-00EF08AD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73" y="5682976"/>
            <a:ext cx="2357438" cy="251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Weights among sub-regions</a:t>
            </a:r>
          </a:p>
        </p:txBody>
      </p:sp>
      <p:sp>
        <p:nvSpPr>
          <p:cNvPr id="54" name="uep_body">
            <a:extLst xmlns:a="http://schemas.openxmlformats.org/drawingml/2006/main">
              <a:ext uri="{FF2B5EF4-FFF2-40B4-BE49-F238E27FC236}">
                <a16:creationId xmlns:a16="http://schemas.microsoft.com/office/drawing/2014/main" id="{CAE92A01-EEA4-44BD-9F97-345F7070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23" y="5956409"/>
            <a:ext cx="2283537" cy="812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4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UEP:</a:t>
            </a:r>
            <a:r>
              <a:rPr sz="14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urgency index of
sub-regional ecological
protection</a:t>
            </a:r>
          </a:p>
        </p:txBody>
      </p:sp>
      <p:sp>
        <p:nvSpPr>
          <p:cNvPr id="55" name="pet_panel">
            <a:extLst xmlns:a="http://schemas.openxmlformats.org/drawingml/2006/main">
              <a:ext uri="{FF2B5EF4-FFF2-40B4-BE49-F238E27FC236}">
                <a16:creationId xmlns:a16="http://schemas.microsoft.com/office/drawing/2014/main" id="{86CF581B-4690-4FDF-9F84-DDAAB90B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453" y="5660806"/>
            <a:ext cx="2268756" cy="11306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390">
            <a:solidFill>
              <a:srgbClr val="C8C8C8"/>
            </a:solidFill>
            <a:prstDash val="solid"/>
          </a:ln>
        </p:spPr>
      </p:sp>
      <p:sp>
        <p:nvSpPr>
          <p:cNvPr id="56" name="pet_header">
            <a:extLst xmlns:a="http://schemas.openxmlformats.org/drawingml/2006/main">
              <a:ext uri="{FF2B5EF4-FFF2-40B4-BE49-F238E27FC236}">
                <a16:creationId xmlns:a16="http://schemas.microsoft.com/office/drawing/2014/main" id="{97E3E78D-3337-45C8-AC23-DF049F80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83" y="5682976"/>
            <a:ext cx="2165295" cy="251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Weights among ESs types</a:t>
            </a:r>
          </a:p>
        </p:txBody>
      </p:sp>
      <p:sp>
        <p:nvSpPr>
          <p:cNvPr id="57" name="pet_body">
            <a:extLst xmlns:a="http://schemas.openxmlformats.org/drawingml/2006/main">
              <a:ext uri="{FF2B5EF4-FFF2-40B4-BE49-F238E27FC236}">
                <a16:creationId xmlns:a16="http://schemas.microsoft.com/office/drawing/2014/main" id="{AE1AB4A5-55A1-4867-9353-B61DA284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134" y="5956409"/>
            <a:ext cx="2076614" cy="812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4000"/>
              </a:lnSpc>
              <a:buNone/>
              <a:defRPr sz="14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PET:</a:t>
            </a:r>
            <a:r>
              <a:rPr sz="14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priority index
of each ESs type in
sub-region</a:t>
            </a:r>
          </a:p>
        </p:txBody>
      </p:sp>
      <p:sp>
        <p:nvSpPr>
          <p:cNvPr id="58" name="sensitivity_box">
            <a:extLst xmlns:a="http://schemas.openxmlformats.org/drawingml/2006/main">
              <a:ext uri="{FF2B5EF4-FFF2-40B4-BE49-F238E27FC236}">
                <a16:creationId xmlns:a16="http://schemas.microsoft.com/office/drawing/2014/main" id="{8B5A8933-899D-4E82-92C0-12DE3B98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877" y="110851"/>
            <a:ext cx="4241909" cy="5246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129">
            <a:solidFill>
              <a:srgbClr val="000000"/>
            </a:solidFill>
            <a:prstDash val="solid"/>
          </a:ln>
        </p:spPr>
      </p:sp>
      <p:sp>
        <p:nvSpPr>
          <p:cNvPr id="59" name="sensitivity_title">
            <a:extLst xmlns:a="http://schemas.openxmlformats.org/drawingml/2006/main">
              <a:ext uri="{FF2B5EF4-FFF2-40B4-BE49-F238E27FC236}">
                <a16:creationId xmlns:a16="http://schemas.microsoft.com/office/drawing/2014/main" id="{63A51938-89A7-4541-885A-2D4FC891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409" y="125631"/>
            <a:ext cx="3842845" cy="266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Ecological Sensitivity Assessment</a:t>
            </a:r>
          </a:p>
        </p:txBody>
      </p:sp>
      <p:sp>
        <p:nvSpPr>
          <p:cNvPr id="60" name="sensitivity_body">
            <a:extLst xmlns:a="http://schemas.openxmlformats.org/drawingml/2006/main">
              <a:ext uri="{FF2B5EF4-FFF2-40B4-BE49-F238E27FC236}">
                <a16:creationId xmlns:a16="http://schemas.microsoft.com/office/drawing/2014/main" id="{0A940B59-7CB0-449C-A119-6C6E9D9D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168" y="376894"/>
            <a:ext cx="4079328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(terrain, soil, climate, vegetation and human activities factors)</a:t>
            </a:r>
          </a:p>
        </p:txBody>
      </p:sp>
      <p:sp>
        <p:nvSpPr>
          <p:cNvPr id="61" name="step3_prefix">
            <a:extLst xmlns:a="http://schemas.openxmlformats.org/drawingml/2006/main">
              <a:ext uri="{FF2B5EF4-FFF2-40B4-BE49-F238E27FC236}">
                <a16:creationId xmlns:a16="http://schemas.microsoft.com/office/drawing/2014/main" id="{16C6C4F6-33EE-4C99-893B-46F022B9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289" y="849860"/>
            <a:ext cx="650328" cy="288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1085" rIns="0" bIns="1108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746" b="1" i="1">
                <a:solidFill>
                  <a:srgbClr val="8500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6" b="1" i="1">
                <a:solidFill>
                  <a:srgbClr val="85003F"/>
                </a:solidFill>
                <a:latin typeface="Times New Roman"/>
                <a:ea typeface="Times New Roman"/>
                <a:cs typeface="Times New Roman"/>
              </a:rPr>
              <a:t>Step3:</a:t>
            </a:r>
          </a:p>
        </p:txBody>
      </p:sp>
      <p:sp>
        <p:nvSpPr>
          <p:cNvPr id="62" name="step3_title_line1">
            <a:extLst xmlns:a="http://schemas.openxmlformats.org/drawingml/2006/main">
              <a:ext uri="{FF2B5EF4-FFF2-40B4-BE49-F238E27FC236}">
                <a16:creationId xmlns:a16="http://schemas.microsoft.com/office/drawing/2014/main" id="{65396C69-250C-4F63-9116-F884E964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8056" y="849860"/>
            <a:ext cx="3347709" cy="288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1085" rIns="0" bIns="1108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7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Ecosystem service scarcity supply</a:t>
            </a:r>
          </a:p>
        </p:txBody>
      </p:sp>
      <p:sp>
        <p:nvSpPr>
          <p:cNvPr id="63" name="step3_title_line2">
            <a:extLst xmlns:a="http://schemas.openxmlformats.org/drawingml/2006/main">
              <a:ext uri="{FF2B5EF4-FFF2-40B4-BE49-F238E27FC236}">
                <a16:creationId xmlns:a16="http://schemas.microsoft.com/office/drawing/2014/main" id="{00683174-E709-40D1-9657-135A0020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3276" y="1115903"/>
            <a:ext cx="2882134" cy="295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7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6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capacity (ESSSC)</a:t>
            </a:r>
          </a:p>
        </p:txBody>
      </p:sp>
      <p:sp>
        <p:nvSpPr>
          <p:cNvPr id="64" name="formula_plate">
            <a:extLst xmlns:a="http://schemas.openxmlformats.org/drawingml/2006/main">
              <a:ext uri="{FF2B5EF4-FFF2-40B4-BE49-F238E27FC236}">
                <a16:creationId xmlns:a16="http://schemas.microsoft.com/office/drawing/2014/main" id="{7F761020-8B56-4CDD-B4D6-9E040631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722" y="1522358"/>
            <a:ext cx="3547241" cy="73161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3F4FB"/>
              </a:gs>
              <a:gs pos="100000">
                <a:srgbClr val="E0E4F3"/>
              </a:gs>
            </a:gsLst>
            <a:lin ang="0"/>
          </a:gradFill>
          <a:ln xmlns:a="http://schemas.openxmlformats.org/drawingml/2006/main" w="8129">
            <a:solidFill>
              <a:srgbClr val="000000"/>
            </a:solidFill>
            <a:prstDash val="solid"/>
          </a:ln>
        </p:spPr>
      </p:sp>
      <p:sp>
        <p:nvSpPr>
          <p:cNvPr id="65" name="formula_left">
            <a:extLst xmlns:a="http://schemas.openxmlformats.org/drawingml/2006/main">
              <a:ext uri="{FF2B5EF4-FFF2-40B4-BE49-F238E27FC236}">
                <a16:creationId xmlns:a16="http://schemas.microsoft.com/office/drawing/2014/main" id="{E2CB1046-9E7A-4A18-A2FA-2E1C8DFB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353" y="1670159"/>
            <a:ext cx="1478017" cy="39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80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4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ESSSCᵢ = UEPⱼ</a:t>
            </a:r>
          </a:p>
        </p:txBody>
      </p:sp>
      <p:sp>
        <p:nvSpPr>
          <p:cNvPr id="66" name="formula_sigma">
            <a:extLst xmlns:a="http://schemas.openxmlformats.org/drawingml/2006/main">
              <a:ext uri="{FF2B5EF4-FFF2-40B4-BE49-F238E27FC236}">
                <a16:creationId xmlns:a16="http://schemas.microsoft.com/office/drawing/2014/main" id="{0E0C754F-2A34-47B5-8024-E21A668B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810" y="1529748"/>
            <a:ext cx="539476" cy="605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35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5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∑</a:t>
            </a:r>
          </a:p>
        </p:txBody>
      </p:sp>
      <p:sp>
        <p:nvSpPr>
          <p:cNvPr id="67" name="formula_upper">
            <a:extLst xmlns:a="http://schemas.openxmlformats.org/drawingml/2006/main">
              <a:ext uri="{FF2B5EF4-FFF2-40B4-BE49-F238E27FC236}">
                <a16:creationId xmlns:a16="http://schemas.microsoft.com/office/drawing/2014/main" id="{B5548D47-205F-4AB1-9A6C-BA244C03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244" y="1529748"/>
            <a:ext cx="229093" cy="199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0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68" name="formula_lower">
            <a:extLst xmlns:a="http://schemas.openxmlformats.org/drawingml/2006/main">
              <a:ext uri="{FF2B5EF4-FFF2-40B4-BE49-F238E27FC236}">
                <a16:creationId xmlns:a16="http://schemas.microsoft.com/office/drawing/2014/main" id="{8BC5AAB2-6ADF-4AE5-80DB-4099C596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101" y="2032274"/>
            <a:ext cx="458185" cy="169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47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47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  i</a:t>
            </a:r>
          </a:p>
        </p:txBody>
      </p:sp>
      <p:sp>
        <p:nvSpPr>
          <p:cNvPr id="69" name="formula_right">
            <a:extLst xmlns:a="http://schemas.openxmlformats.org/drawingml/2006/main">
              <a:ext uri="{FF2B5EF4-FFF2-40B4-BE49-F238E27FC236}">
                <a16:creationId xmlns:a16="http://schemas.microsoft.com/office/drawing/2014/main" id="{44661A93-1BCE-48DF-930C-EBFFA9D9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96" y="1677550"/>
            <a:ext cx="1418897" cy="39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74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6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(PETⱼₘ × ESᵢₘ)</a:t>
            </a:r>
          </a:p>
        </p:txBody>
      </p:sp>
      <p:sp>
        <p:nvSpPr>
          <p:cNvPr id="70" name="step3_explanation">
            <a:extLst xmlns:a="http://schemas.openxmlformats.org/drawingml/2006/main">
              <a:ext uri="{FF2B5EF4-FFF2-40B4-BE49-F238E27FC236}">
                <a16:creationId xmlns:a16="http://schemas.microsoft.com/office/drawing/2014/main" id="{12151FA7-CA67-447E-AC4F-E1554A43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261" y="2409168"/>
            <a:ext cx="3739384" cy="672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ESSSC in the pixel i is determined by ESs supply in the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pixel i with PET as the weight of single ESs type m in the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sub-region j and then UEP as the weight of the total supply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2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 the sub-region j.</a:t>
            </a:r>
          </a:p>
        </p:txBody>
      </p:sp>
      <p:sp>
        <p:nvSpPr>
          <p:cNvPr id="71" name="extreme_sensitive_box">
            <a:extLst xmlns:a="http://schemas.openxmlformats.org/drawingml/2006/main">
              <a:ext uri="{FF2B5EF4-FFF2-40B4-BE49-F238E27FC236}">
                <a16:creationId xmlns:a16="http://schemas.microsoft.com/office/drawing/2014/main" id="{BD1095FB-5610-4A03-AFA0-BBA25549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121" y="288213"/>
            <a:ext cx="2098784" cy="731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129">
            <a:solidFill>
              <a:srgbClr val="000000"/>
            </a:solidFill>
            <a:prstDash val="solid"/>
          </a:ln>
        </p:spPr>
      </p:sp>
      <p:sp>
        <p:nvSpPr>
          <p:cNvPr id="72" name="extreme_sensitive_title">
            <a:extLst xmlns:a="http://schemas.openxmlformats.org/drawingml/2006/main">
              <a:ext uri="{FF2B5EF4-FFF2-40B4-BE49-F238E27FC236}">
                <a16:creationId xmlns:a16="http://schemas.microsoft.com/office/drawing/2014/main" id="{FEA59B4B-1D2B-4EF7-92A1-118C7D5C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412" y="332554"/>
            <a:ext cx="1936203" cy="251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3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Extremely sensitive areas</a:t>
            </a:r>
          </a:p>
        </p:txBody>
      </p:sp>
      <p:sp>
        <p:nvSpPr>
          <p:cNvPr id="73" name="extreme_sensitive_body">
            <a:extLst xmlns:a="http://schemas.openxmlformats.org/drawingml/2006/main">
              <a:ext uri="{FF2B5EF4-FFF2-40B4-BE49-F238E27FC236}">
                <a16:creationId xmlns:a16="http://schemas.microsoft.com/office/drawing/2014/main" id="{B5A2EBE1-CBE9-457A-8AB9-04EC1CA3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802" y="576427"/>
            <a:ext cx="1921422" cy="376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(the first two level of ecological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sensitivity)</a:t>
            </a:r>
          </a:p>
        </p:txBody>
      </p:sp>
      <p:sp>
        <p:nvSpPr>
          <p:cNvPr id="74" name="extreme_supply_box">
            <a:extLst xmlns:a="http://schemas.openxmlformats.org/drawingml/2006/main">
              <a:ext uri="{FF2B5EF4-FFF2-40B4-BE49-F238E27FC236}">
                <a16:creationId xmlns:a16="http://schemas.microsoft.com/office/drawing/2014/main" id="{3AB95986-F4D7-4B60-B3F3-3DE369FB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121" y="1300655"/>
            <a:ext cx="2098784" cy="7390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129">
            <a:solidFill>
              <a:srgbClr val="000000"/>
            </a:solidFill>
            <a:prstDash val="solid"/>
          </a:ln>
        </p:spPr>
      </p:sp>
      <p:sp>
        <p:nvSpPr>
          <p:cNvPr id="75" name="extreme_supply_title">
            <a:extLst xmlns:a="http://schemas.openxmlformats.org/drawingml/2006/main">
              <a:ext uri="{FF2B5EF4-FFF2-40B4-BE49-F238E27FC236}">
                <a16:creationId xmlns:a16="http://schemas.microsoft.com/office/drawing/2014/main" id="{C04B9DE8-4FBF-41DB-B2EC-874BF9EB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802" y="1337606"/>
            <a:ext cx="1921422" cy="436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3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Extremely important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3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areas of ESs supply</a:t>
            </a:r>
          </a:p>
        </p:txBody>
      </p:sp>
      <p:sp>
        <p:nvSpPr>
          <p:cNvPr id="76" name="extreme_supply_body">
            <a:extLst xmlns:a="http://schemas.openxmlformats.org/drawingml/2006/main">
              <a:ext uri="{FF2B5EF4-FFF2-40B4-BE49-F238E27FC236}">
                <a16:creationId xmlns:a16="http://schemas.microsoft.com/office/drawing/2014/main" id="{478C6EB1-1ABE-4E52-B7BF-806B44D7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802" y="1781011"/>
            <a:ext cx="192142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(the first two level of ESSSC)</a:t>
            </a:r>
          </a:p>
        </p:txBody>
      </p:sp>
      <p:sp>
        <p:nvSpPr>
          <p:cNvPr id="77" name="water_area_box">
            <a:extLst xmlns:a="http://schemas.openxmlformats.org/drawingml/2006/main">
              <a:ext uri="{FF2B5EF4-FFF2-40B4-BE49-F238E27FC236}">
                <a16:creationId xmlns:a16="http://schemas.microsoft.com/office/drawing/2014/main" id="{EEC0E01B-487F-4255-B54D-0DD01842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121" y="2313097"/>
            <a:ext cx="2098784" cy="7390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129">
            <a:solidFill>
              <a:srgbClr val="000000"/>
            </a:solidFill>
            <a:prstDash val="solid"/>
          </a:ln>
        </p:spPr>
      </p:sp>
      <p:sp>
        <p:nvSpPr>
          <p:cNvPr id="78" name="water_area_title">
            <a:extLst xmlns:a="http://schemas.openxmlformats.org/drawingml/2006/main">
              <a:ext uri="{FF2B5EF4-FFF2-40B4-BE49-F238E27FC236}">
                <a16:creationId xmlns:a16="http://schemas.microsoft.com/office/drawing/2014/main" id="{6A9E2509-8717-4C10-AA54-3AD970F8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802" y="2431338"/>
            <a:ext cx="1921422" cy="251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3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Important water areas</a:t>
            </a:r>
          </a:p>
        </p:txBody>
      </p:sp>
      <p:sp>
        <p:nvSpPr>
          <p:cNvPr id="79" name="water_area_body">
            <a:extLst xmlns:a="http://schemas.openxmlformats.org/drawingml/2006/main">
              <a:ext uri="{FF2B5EF4-FFF2-40B4-BE49-F238E27FC236}">
                <a16:creationId xmlns:a16="http://schemas.microsoft.com/office/drawing/2014/main" id="{1758D906-D294-4FB1-BDF7-AD0965B7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802" y="2726942"/>
            <a:ext cx="1921422" cy="22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 &gt; 10 km² of water area)</a:t>
            </a:r>
          </a:p>
        </p:txBody>
      </p:sp>
      <p:sp>
        <p:nvSpPr>
          <p:cNvPr id="80" name="step4_prefix">
            <a:extLst xmlns:a="http://schemas.openxmlformats.org/drawingml/2006/main">
              <a:ext uri="{FF2B5EF4-FFF2-40B4-BE49-F238E27FC236}">
                <a16:creationId xmlns:a16="http://schemas.microsoft.com/office/drawing/2014/main" id="{3D03A3E3-53D1-4A32-8BC8-3F72CD2D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338" y="3635922"/>
            <a:ext cx="650328" cy="332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1085" rIns="0" bIns="1108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04" b="1" i="1">
                <a:solidFill>
                  <a:srgbClr val="8500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4" b="1" i="1">
                <a:solidFill>
                  <a:srgbClr val="85003F"/>
                </a:solidFill>
                <a:latin typeface="Times New Roman"/>
                <a:ea typeface="Times New Roman"/>
                <a:cs typeface="Times New Roman"/>
              </a:rPr>
              <a:t>Step4:</a:t>
            </a:r>
          </a:p>
        </p:txBody>
      </p:sp>
      <p:sp>
        <p:nvSpPr>
          <p:cNvPr id="81" name="step4_title">
            <a:extLst xmlns:a="http://schemas.openxmlformats.org/drawingml/2006/main">
              <a:ext uri="{FF2B5EF4-FFF2-40B4-BE49-F238E27FC236}">
                <a16:creationId xmlns:a16="http://schemas.microsoft.com/office/drawing/2014/main" id="{BDAE2519-558F-47BD-8F9C-C6A607BF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496" y="3635922"/>
            <a:ext cx="2180075" cy="332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1085" rIns="0" bIns="1108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80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4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Construction of ESP</a:t>
            </a:r>
          </a:p>
        </p:txBody>
      </p:sp>
      <p:sp>
        <p:nvSpPr>
          <p:cNvPr id="82" name="resistance_surface">
            <a:extLst xmlns:a="http://schemas.openxmlformats.org/drawingml/2006/main">
              <a:ext uri="{FF2B5EF4-FFF2-40B4-BE49-F238E27FC236}">
                <a16:creationId xmlns:a16="http://schemas.microsoft.com/office/drawing/2014/main" id="{86603CBC-9DE0-41FB-A866-BF648F6E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289" y="4426662"/>
            <a:ext cx="2135735" cy="1478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129">
            <a:solidFill>
              <a:srgbClr val="000000"/>
            </a:solidFill>
            <a:prstDash val="solid"/>
          </a:ln>
        </p:spPr>
      </p:sp>
      <p:sp>
        <p:nvSpPr>
          <p:cNvPr id="83" name="resistance_title">
            <a:extLst xmlns:a="http://schemas.openxmlformats.org/drawingml/2006/main">
              <a:ext uri="{FF2B5EF4-FFF2-40B4-BE49-F238E27FC236}">
                <a16:creationId xmlns:a16="http://schemas.microsoft.com/office/drawing/2014/main" id="{4E6FCC6D-491D-4435-8B47-328734FB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530" y="4596634"/>
            <a:ext cx="1899252" cy="49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5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Ecological resistance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5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1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surface</a:t>
            </a:r>
          </a:p>
        </p:txBody>
      </p:sp>
      <p:sp>
        <p:nvSpPr>
          <p:cNvPr id="84" name="resistance_body">
            <a:extLst xmlns:a="http://schemas.openxmlformats.org/drawingml/2006/main">
              <a:ext uri="{FF2B5EF4-FFF2-40B4-BE49-F238E27FC236}">
                <a16:creationId xmlns:a16="http://schemas.microsoft.com/office/drawing/2014/main" id="{06FF9FC2-EC28-45F4-A531-85B5DA74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10011"/>
            <a:ext cx="1928813" cy="502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(resistance coefficients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3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 land use types)</a:t>
            </a:r>
          </a:p>
        </p:txBody>
      </p:sp>
      <p:sp>
        <p:nvSpPr>
          <p:cNvPr id="85" name="identify_sources">
            <a:extLst xmlns:a="http://schemas.openxmlformats.org/drawingml/2006/main">
              <a:ext uri="{FF2B5EF4-FFF2-40B4-BE49-F238E27FC236}">
                <a16:creationId xmlns:a16="http://schemas.microsoft.com/office/drawing/2014/main" id="{C8C1D21F-04D7-49BC-83B2-A8123469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933" y="3850235"/>
            <a:ext cx="3532461" cy="54686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CFECFB"/>
              </a:gs>
              <a:gs pos="52000">
                <a:srgbClr val="EAF8FF"/>
              </a:gs>
              <a:gs pos="100000">
                <a:srgbClr val="BFE5FA"/>
              </a:gs>
            </a:gsLst>
            <a:lin ang="0"/>
          </a:gradFill>
          <a:ln xmlns:a="http://schemas.openxmlformats.org/drawingml/2006/main" w="8868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Identify ecological sources</a:t>
            </a:r>
          </a:p>
        </p:txBody>
      </p:sp>
      <p:sp>
        <p:nvSpPr>
          <p:cNvPr id="86" name="ecological_corridors">
            <a:extLst xmlns:a="http://schemas.openxmlformats.org/drawingml/2006/main">
              <a:ext uri="{FF2B5EF4-FFF2-40B4-BE49-F238E27FC236}">
                <a16:creationId xmlns:a16="http://schemas.microsoft.com/office/drawing/2014/main" id="{DBF5F878-92F9-484E-89BA-FDB5270F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933" y="4648364"/>
            <a:ext cx="3532461" cy="55425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CFECFB"/>
              </a:gs>
              <a:gs pos="52000">
                <a:srgbClr val="EAF8FF"/>
              </a:gs>
              <a:gs pos="100000">
                <a:srgbClr val="BFE5FA"/>
              </a:gs>
            </a:gsLst>
            <a:lin ang="0"/>
          </a:gradFill>
          <a:ln xmlns:a="http://schemas.openxmlformats.org/drawingml/2006/main" w="8868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Extract ecological corridors</a:t>
            </a:r>
          </a:p>
        </p:txBody>
      </p:sp>
      <p:sp>
        <p:nvSpPr>
          <p:cNvPr id="87" name="ecological_nodes">
            <a:extLst xmlns:a="http://schemas.openxmlformats.org/drawingml/2006/main">
              <a:ext uri="{FF2B5EF4-FFF2-40B4-BE49-F238E27FC236}">
                <a16:creationId xmlns:a16="http://schemas.microsoft.com/office/drawing/2014/main" id="{CEE45EA6-5CBE-4625-A15A-CABE59CD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5933" y="5424323"/>
            <a:ext cx="3532461" cy="554256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CFECFB"/>
              </a:gs>
              <a:gs pos="52000">
                <a:srgbClr val="EAF8FF"/>
              </a:gs>
              <a:gs pos="100000">
                <a:srgbClr val="BFE5FA"/>
              </a:gs>
            </a:gsLst>
            <a:lin ang="0"/>
          </a:gradFill>
          <a:ln xmlns:a="http://schemas.openxmlformats.org/drawingml/2006/main" w="8868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2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Extract ecological nodes</a:t>
            </a:r>
          </a:p>
        </p:txBody>
      </p:sp>
      <p:sp>
        <p:nvSpPr>
          <p:cNvPr id="88" name="esp_output">
            <a:extLst xmlns:a="http://schemas.openxmlformats.org/drawingml/2006/main">
              <a:ext uri="{FF2B5EF4-FFF2-40B4-BE49-F238E27FC236}">
                <a16:creationId xmlns:a16="http://schemas.microsoft.com/office/drawing/2014/main" id="{77A2E4A6-C963-4904-AEE3-4C987AB3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289" y="6414595"/>
            <a:ext cx="6481106" cy="37689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7F5"/>
              </a:gs>
              <a:gs pos="100000">
                <a:srgbClr val="FBE9E6"/>
              </a:gs>
            </a:gsLst>
            <a:lin ang="0"/>
          </a:gradFill>
          <a:ln xmlns:a="http://schemas.openxmlformats.org/drawingml/2006/main" w="8129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22170" tIns="11085" rIns="2217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6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Ecological security patterns (ESP)</a:t>
            </a:r>
          </a:p>
        </p:txBody>
      </p:sp>
      <p:sp>
        <p:nvSpPr>
          <p:cNvPr id="89" name="uep_header_divider">
            <a:extLst xmlns:a="http://schemas.openxmlformats.org/drawingml/2006/main">
              <a:ext uri="{FF2B5EF4-FFF2-40B4-BE49-F238E27FC236}">
                <a16:creationId xmlns:a16="http://schemas.microsoft.com/office/drawing/2014/main" id="{504FFB8C-7312-4D87-AC5C-AABC7598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52" y="5941629"/>
            <a:ext cx="247567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390">
            <a:solidFill>
              <a:srgbClr val="C8C8C8"/>
            </a:solidFill>
            <a:prstDash val="solid"/>
          </a:ln>
        </p:spPr>
      </p:sp>
      <p:sp>
        <p:nvSpPr>
          <p:cNvPr id="90" name="pet_header_divider">
            <a:extLst xmlns:a="http://schemas.openxmlformats.org/drawingml/2006/main">
              <a:ext uri="{FF2B5EF4-FFF2-40B4-BE49-F238E27FC236}">
                <a16:creationId xmlns:a16="http://schemas.microsoft.com/office/drawing/2014/main" id="{371B5235-F54B-4D8B-B0A9-6C9E38E7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453" y="5941629"/>
            <a:ext cx="22687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390">
            <a:solidFill>
              <a:srgbClr val="C8C8C8"/>
            </a:solidFill>
            <a:prstDash val="solid"/>
          </a:ln>
        </p:spPr>
      </p:sp>
      <p:sp>
        <p:nvSpPr>
          <p:cNvPr id="91" name="e_water_trunk">
            <a:extLst xmlns:a="http://schemas.openxmlformats.org/drawingml/2006/main">
              <a:ext uri="{FF2B5EF4-FFF2-40B4-BE49-F238E27FC236}">
                <a16:creationId xmlns:a16="http://schemas.microsoft.com/office/drawing/2014/main" id="{CEF3DBD1-A538-4D1B-8712-8A96E51F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1" y="1566698"/>
            <a:ext cx="0" cy="1921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346">
            <a:solidFill>
              <a:srgbClr val="000000"/>
            </a:solidFill>
            <a:prstDash val="solid"/>
          </a:ln>
        </p:spPr>
      </p:sp>
      <p:sp>
        <p:nvSpPr>
          <p:cNvPr id="92" name="e_soil_trunk">
            <a:extLst xmlns:a="http://schemas.openxmlformats.org/drawingml/2006/main">
              <a:ext uri="{FF2B5EF4-FFF2-40B4-BE49-F238E27FC236}">
                <a16:creationId xmlns:a16="http://schemas.microsoft.com/office/drawing/2014/main" id="{8A794A2C-C3B3-4DA6-B806-3ED82176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983" y="1566698"/>
            <a:ext cx="0" cy="1921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346">
            <a:solidFill>
              <a:srgbClr val="000000"/>
            </a:solidFill>
            <a:prstDash val="solid"/>
          </a:ln>
        </p:spPr>
      </p:sp>
      <p:sp>
        <p:nvSpPr>
          <p:cNvPr id="93" name="e_carbon_trunk">
            <a:extLst xmlns:a="http://schemas.openxmlformats.org/drawingml/2006/main">
              <a:ext uri="{FF2B5EF4-FFF2-40B4-BE49-F238E27FC236}">
                <a16:creationId xmlns:a16="http://schemas.microsoft.com/office/drawing/2014/main" id="{50DF72B4-3905-4C36-B27C-C0D31F5D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517" y="1566698"/>
            <a:ext cx="0" cy="1921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346">
            <a:solidFill>
              <a:srgbClr val="000000"/>
            </a:solidFill>
            <a:prstDash val="solid"/>
          </a:ln>
        </p:spPr>
      </p:sp>
      <p:sp>
        <p:nvSpPr>
          <p:cNvPr id="94" name="e_recreation_trunk">
            <a:extLst xmlns:a="http://schemas.openxmlformats.org/drawingml/2006/main">
              <a:ext uri="{FF2B5EF4-FFF2-40B4-BE49-F238E27FC236}">
                <a16:creationId xmlns:a16="http://schemas.microsoft.com/office/drawing/2014/main" id="{E068BC74-CF7A-4692-9491-30F9ED6D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1498" y="1566698"/>
            <a:ext cx="0" cy="19214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346">
            <a:solidFill>
              <a:srgbClr val="000000"/>
            </a:solidFill>
            <a:prstDash val="solid"/>
          </a:ln>
        </p:spPr>
      </p:sp>
      <p:sp>
        <p:nvSpPr>
          <p:cNvPr id="95" name="e_service_trunk">
            <a:extLst xmlns:a="http://schemas.openxmlformats.org/drawingml/2006/main">
              <a:ext uri="{FF2B5EF4-FFF2-40B4-BE49-F238E27FC236}">
                <a16:creationId xmlns:a16="http://schemas.microsoft.com/office/drawing/2014/main" id="{C663A04D-E1B3-4E72-8325-EDFF62D4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1" y="1758841"/>
            <a:ext cx="31999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346">
            <a:solidFill>
              <a:srgbClr val="000000"/>
            </a:solidFill>
            <a:prstDash val="solid"/>
          </a:ln>
        </p:spPr>
      </p:sp>
      <p:sp>
        <p:nvSpPr>
          <p:cNvPr id="96" name="e_demand_merge_v">
            <a:extLst xmlns:a="http://schemas.openxmlformats.org/drawingml/2006/main">
              <a:ext uri="{FF2B5EF4-FFF2-40B4-BE49-F238E27FC236}">
                <a16:creationId xmlns:a16="http://schemas.microsoft.com/office/drawing/2014/main" id="{11524B45-B141-47AB-99DF-74D62406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435" y="2534800"/>
            <a:ext cx="0" cy="1625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346">
            <a:solidFill>
              <a:srgbClr val="000000"/>
            </a:solidFill>
            <a:prstDash val="solid"/>
          </a:ln>
        </p:spPr>
      </p:sp>
      <p:sp>
        <p:nvSpPr>
          <p:cNvPr id="97" name="e_supply_merge_v">
            <a:extLst xmlns:a="http://schemas.openxmlformats.org/drawingml/2006/main">
              <a:ext uri="{FF2B5EF4-FFF2-40B4-BE49-F238E27FC236}">
                <a16:creationId xmlns:a16="http://schemas.microsoft.com/office/drawing/2014/main" id="{3D9E905A-0A20-486B-B175-9B996BEB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504" y="2534800"/>
            <a:ext cx="0" cy="1625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346">
            <a:solidFill>
              <a:srgbClr val="000000"/>
            </a:solidFill>
            <a:prstDash val="solid"/>
          </a:ln>
        </p:spPr>
      </p:sp>
      <p:sp>
        <p:nvSpPr>
          <p:cNvPr id="98" name="e_demand_supply_merge">
            <a:extLst xmlns:a="http://schemas.openxmlformats.org/drawingml/2006/main">
              <a:ext uri="{FF2B5EF4-FFF2-40B4-BE49-F238E27FC236}">
                <a16:creationId xmlns:a16="http://schemas.microsoft.com/office/drawing/2014/main" id="{40A07AF6-30E8-4375-911A-438641BA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435" y="2697381"/>
            <a:ext cx="24830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346">
            <a:solidFill>
              <a:srgbClr val="000000"/>
            </a:solidFill>
            <a:prstDash val="solid"/>
          </a:ln>
        </p:spPr>
      </p:sp>
      <p:sp>
        <p:nvSpPr>
          <p:cNvPr id="99" name="e_ratio_split_v">
            <a:extLst xmlns:a="http://schemas.openxmlformats.org/drawingml/2006/main">
              <a:ext uri="{FF2B5EF4-FFF2-40B4-BE49-F238E27FC236}">
                <a16:creationId xmlns:a16="http://schemas.microsoft.com/office/drawing/2014/main" id="{37CB6F79-D028-4988-B4C7-C0889FDB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970" y="3259028"/>
            <a:ext cx="0" cy="214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346">
            <a:solidFill>
              <a:srgbClr val="000000"/>
            </a:solidFill>
            <a:prstDash val="solid"/>
          </a:ln>
        </p:spPr>
      </p:sp>
      <p:sp>
        <p:nvSpPr>
          <p:cNvPr id="100" name="e_ratio_split_h">
            <a:extLst xmlns:a="http://schemas.openxmlformats.org/drawingml/2006/main">
              <a:ext uri="{FF2B5EF4-FFF2-40B4-BE49-F238E27FC236}">
                <a16:creationId xmlns:a16="http://schemas.microsoft.com/office/drawing/2014/main" id="{1A21DC24-019F-4FD1-96C0-69C5CAC9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386" y="3473341"/>
            <a:ext cx="246828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346">
            <a:solidFill>
              <a:srgbClr val="000000"/>
            </a:solidFill>
            <a:prstDash val="solid"/>
          </a:ln>
        </p:spPr>
      </p:sp>
      <p:cxnSp>
        <p:nvCxnSpPr>
          <p:cNvPr id="227" name=""/>
          <p:cNvCxnSpPr>
            <a:stCxn xmlns:a="http://schemas.openxmlformats.org/drawingml/2006/main" id="7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1322825" y="1773620"/>
            <a:ext cx="7391" cy="214313"/>
          </a:xfrm>
          <a:prstGeom xmlns:a="http://schemas.openxmlformats.org/drawingml/2006/main" prst="straightConnector1">
            <a:avLst/>
          </a:prstGeom>
          <a:ln xmlns:a="http://schemas.openxmlformats.org/drawingml/2006/main" w="11085" cap="rnd">
            <a:solidFill>
              <a:srgbClr val="000000"/>
            </a:solidFill>
            <a:prstDash val="solid"/>
            <a:miter/>
            <a:tailEnd type="triangle" w="sm" len="sm"/>
          </a:ln>
        </p:spPr>
      </p:cxnSp>
      <p:cxnSp>
        <p:nvCxnSpPr>
          <p:cNvPr id="228" name=""/>
          <p:cNvCxnSpPr>
            <a:stCxn xmlns:a="http://schemas.openxmlformats.org/drawingml/2006/main" id="8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3724603" y="1773620"/>
            <a:ext cx="125632" cy="214313"/>
          </a:xfrm>
          <a:prstGeom xmlns:a="http://schemas.openxmlformats.org/drawingml/2006/main" prst="straightConnector1">
            <a:avLst/>
          </a:prstGeom>
          <a:ln xmlns:a="http://schemas.openxmlformats.org/drawingml/2006/main" w="11085" cap="rnd">
            <a:solidFill>
              <a:srgbClr val="000000"/>
            </a:solidFill>
            <a:prstDash val="solid"/>
            <a:miter/>
            <a:tailEnd type="triangle" w="sm" len="sm"/>
          </a:ln>
        </p:spPr>
      </p:cxnSp>
      <p:cxnSp>
        <p:nvCxnSpPr>
          <p:cNvPr id="229" name=""/>
          <p:cNvCxnSpPr>
            <a:stCxn xmlns:a="http://schemas.openxmlformats.org/drawingml/2006/main" id="9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2542189" y="2712161"/>
            <a:ext cx="48036" cy="243873"/>
          </a:xfrm>
          <a:prstGeom xmlns:a="http://schemas.openxmlformats.org/drawingml/2006/main" prst="straightConnector1">
            <a:avLst/>
          </a:prstGeom>
          <a:ln xmlns:a="http://schemas.openxmlformats.org/drawingml/2006/main" w="11085" cap="rnd">
            <a:solidFill>
              <a:srgbClr val="000000"/>
            </a:solidFill>
            <a:prstDash val="solid"/>
            <a:miter/>
            <a:tailEnd type="triangle" w="sm" len="sm"/>
          </a:ln>
        </p:spPr>
      </p:cxnSp>
      <p:cxnSp>
        <p:nvCxnSpPr>
          <p:cNvPr id="230" name=""/>
          <p:cNvCxnSpPr>
            <a:stCxn xmlns:a="http://schemas.openxmlformats.org/drawingml/2006/main" id="10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1352386" y="3488120"/>
            <a:ext cx="29560" cy="125632"/>
          </a:xfrm>
          <a:prstGeom xmlns:a="http://schemas.openxmlformats.org/drawingml/2006/main" prst="straightConnector1">
            <a:avLst/>
          </a:prstGeom>
          <a:ln xmlns:a="http://schemas.openxmlformats.org/drawingml/2006/main" w="11085" cap="rnd">
            <a:solidFill>
              <a:srgbClr val="000000"/>
            </a:solidFill>
            <a:prstDash val="solid"/>
            <a:miter/>
            <a:tailEnd type="triangle" w="sm" len="sm"/>
          </a:ln>
        </p:spPr>
      </p:cxnSp>
      <p:cxnSp>
        <p:nvCxnSpPr>
          <p:cNvPr id="231" name=""/>
          <p:cNvCxnSpPr>
            <a:stCxn xmlns:a="http://schemas.openxmlformats.org/drawingml/2006/main" id="11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 flipH="1">
            <a:off x="3739384" y="3488120"/>
            <a:ext cx="81290" cy="125632"/>
          </a:xfrm>
          <a:prstGeom xmlns:a="http://schemas.openxmlformats.org/drawingml/2006/main" prst="straightConnector1">
            <a:avLst/>
          </a:prstGeom>
          <a:ln xmlns:a="http://schemas.openxmlformats.org/drawingml/2006/main" w="11085" cap="rnd">
            <a:solidFill>
              <a:srgbClr val="000000"/>
            </a:solidFill>
            <a:prstDash val="solid"/>
            <a:miter/>
            <a:tailEnd type="triangle" w="sm" len="sm"/>
          </a:ln>
        </p:spPr>
      </p:cxnSp>
      <p:cxnSp>
        <p:nvCxnSpPr>
          <p:cNvPr id="232" name=""/>
          <p:cNvCxnSpPr>
            <a:stCxn xmlns:a="http://schemas.openxmlformats.org/drawingml/2006/main" id="45" idx="1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280823" y="3765249"/>
            <a:ext cx="192143" cy="1407811"/>
          </a:xfrm>
          <a:prstGeom xmlns:a="http://schemas.openxmlformats.org/drawingml/2006/main" prst="bentConnector2">
            <a:avLst/>
          </a:prstGeom>
          <a:ln xmlns:a="http://schemas.openxmlformats.org/drawingml/2006/main" w="11085" cap="rnd">
            <a:solidFill>
              <a:srgbClr val="000000"/>
            </a:solidFill>
            <a:prstDash val="solid"/>
            <a:miter/>
          </a:ln>
        </p:spPr>
      </p:cxnSp>
      <p:cxnSp>
        <p:nvCxnSpPr>
          <p:cNvPr id="233" name=""/>
          <p:cNvCxnSpPr>
            <a:stCxn xmlns:a="http://schemas.openxmlformats.org/drawingml/2006/main" id="49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295603" y="5158280"/>
            <a:ext cx="302994" cy="29560"/>
          </a:xfrm>
          <a:prstGeom xmlns:a="http://schemas.openxmlformats.org/drawingml/2006/main" prst="straightConnector1">
            <a:avLst/>
          </a:prstGeom>
          <a:ln xmlns:a="http://schemas.openxmlformats.org/drawingml/2006/main" w="11085" cap="rnd">
            <a:solidFill>
              <a:srgbClr val="000000"/>
            </a:solidFill>
            <a:prstDash val="solid"/>
            <a:miter/>
            <a:tailEnd type="triangle" w="sm" len="sm"/>
          </a:ln>
        </p:spPr>
      </p:cxnSp>
      <p:cxnSp>
        <p:nvCxnSpPr>
          <p:cNvPr id="234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280823" y="5202620"/>
            <a:ext cx="0" cy="443406"/>
          </a:xfrm>
          <a:prstGeom xmlns:a="http://schemas.openxmlformats.org/drawingml/2006/main" prst="straightConnector1">
            <a:avLst/>
          </a:prstGeom>
          <a:ln xmlns:a="http://schemas.openxmlformats.org/drawingml/2006/main" w="11085" cap="rnd">
            <a:solidFill>
              <a:srgbClr val="000000"/>
            </a:solidFill>
            <a:prstDash val="solid"/>
            <a:miter/>
            <a:tailEnd type="triangle" w="sm" len="sm"/>
          </a:ln>
        </p:spPr>
      </p:cxnSp>
      <p:cxnSp>
        <p:nvCxnSpPr>
          <p:cNvPr id="235" name=""/>
          <p:cNvCxnSpPr>
            <a:stCxn xmlns:a="http://schemas.openxmlformats.org/drawingml/2006/main" id="46" idx="3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4692705" y="3765249"/>
            <a:ext cx="258653" cy="1407811"/>
          </a:xfrm>
          <a:prstGeom xmlns:a="http://schemas.openxmlformats.org/drawingml/2006/main" prst="bentConnector2">
            <a:avLst/>
          </a:prstGeom>
          <a:ln xmlns:a="http://schemas.openxmlformats.org/drawingml/2006/main" w="11085" cap="rnd">
            <a:solidFill>
              <a:srgbClr val="000000"/>
            </a:solidFill>
            <a:prstDash val="solid"/>
            <a:miter/>
          </a:ln>
        </p:spPr>
      </p:cxnSp>
      <p:cxnSp>
        <p:nvCxnSpPr>
          <p:cNvPr id="236" name=""/>
          <p:cNvCxnSpPr>
            <a:stCxn xmlns:a="http://schemas.openxmlformats.org/drawingml/2006/main" id="4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26194" y="5158280"/>
            <a:ext cx="310384" cy="29560"/>
          </a:xfrm>
          <a:prstGeom xmlns:a="http://schemas.openxmlformats.org/drawingml/2006/main" prst="straightConnector1">
            <a:avLst/>
          </a:prstGeom>
          <a:ln xmlns:a="http://schemas.openxmlformats.org/drawingml/2006/main" w="11085" cap="rnd">
            <a:solidFill>
              <a:srgbClr val="000000"/>
            </a:solidFill>
            <a:prstDash val="solid"/>
            <a:miter/>
            <a:tailEnd type="triangle" w="sm" len="sm"/>
          </a:ln>
        </p:spPr>
      </p:cxnSp>
      <p:cxnSp>
        <p:nvCxnSpPr>
          <p:cNvPr id="237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4951358" y="5202620"/>
            <a:ext cx="0" cy="443406"/>
          </a:xfrm>
          <a:prstGeom xmlns:a="http://schemas.openxmlformats.org/drawingml/2006/main" prst="straightConnector1">
            <a:avLst/>
          </a:prstGeom>
          <a:ln xmlns:a="http://schemas.openxmlformats.org/drawingml/2006/main" w="11085" cap="rnd">
            <a:solidFill>
              <a:srgbClr val="000000"/>
            </a:solidFill>
            <a:prstDash val="solid"/>
            <a:miter/>
            <a:tailEnd type="triangle" w="sm" len="sm"/>
          </a:ln>
        </p:spPr>
      </p:cxnSp>
      <p:cxnSp>
        <p:nvCxnSpPr>
          <p:cNvPr id="238" name=""/>
          <p:cNvCxnSpPr>
            <a:stCxn xmlns:a="http://schemas.openxmlformats.org/drawingml/2006/main" id="4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4707485" y="1869692"/>
            <a:ext cx="1448457" cy="39167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170" cap="rnd">
            <a:solidFill>
              <a:srgbClr val="820018"/>
            </a:solidFill>
            <a:prstDash val="solid"/>
            <a:miter/>
            <a:tailEnd type="triangle" w="sm" len="sm"/>
          </a:ln>
        </p:spPr>
      </p:cxnSp>
      <p:cxnSp>
        <p:nvCxnSpPr>
          <p:cNvPr id="239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5202620" y="2098784"/>
            <a:ext cx="953322" cy="3643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2170" cap="rnd">
            <a:solidFill>
              <a:srgbClr val="820018"/>
            </a:solidFill>
            <a:prstDash val="solid"/>
            <a:miter/>
            <a:tailEnd type="triangle" w="sm" len="sm"/>
          </a:ln>
        </p:spPr>
      </p:cxnSp>
      <p:cxnSp>
        <p:nvCxnSpPr>
          <p:cNvPr id="240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013566" y="495136"/>
            <a:ext cx="317775" cy="0"/>
          </a:xfrm>
          <a:prstGeom xmlns:a="http://schemas.openxmlformats.org/drawingml/2006/main" prst="straightConnector1">
            <a:avLst/>
          </a:prstGeom>
          <a:ln xmlns:a="http://schemas.openxmlformats.org/drawingml/2006/main" w="22170" cap="rnd">
            <a:solidFill>
              <a:srgbClr val="820018"/>
            </a:solidFill>
            <a:prstDash val="solid"/>
            <a:miter/>
            <a:tailEnd type="triangle" w="sm" len="sm"/>
          </a:ln>
        </p:spPr>
      </p:cxnSp>
      <p:cxnSp>
        <p:nvCxnSpPr>
          <p:cNvPr id="241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0013566" y="1670159"/>
            <a:ext cx="317775" cy="0"/>
          </a:xfrm>
          <a:prstGeom xmlns:a="http://schemas.openxmlformats.org/drawingml/2006/main" prst="straightConnector1">
            <a:avLst/>
          </a:prstGeom>
          <a:ln xmlns:a="http://schemas.openxmlformats.org/drawingml/2006/main" w="22170" cap="rnd">
            <a:solidFill>
              <a:srgbClr val="820018"/>
            </a:solidFill>
            <a:prstDash val="solid"/>
            <a:miter/>
            <a:tailEnd type="triangle" w="sm" len="sm"/>
          </a:ln>
        </p:spPr>
      </p:cxnSp>
      <p:cxnSp>
        <p:nvCxnSpPr>
          <p:cNvPr id="242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1203371" y="3259028"/>
            <a:ext cx="0" cy="576427"/>
          </a:xfrm>
          <a:prstGeom xmlns:a="http://schemas.openxmlformats.org/drawingml/2006/main" prst="straightConnector1">
            <a:avLst/>
          </a:prstGeom>
          <a:ln xmlns:a="http://schemas.openxmlformats.org/drawingml/2006/main" w="22170" cap="rnd">
            <a:solidFill>
              <a:srgbClr val="820018"/>
            </a:solidFill>
            <a:prstDash val="solid"/>
            <a:miter/>
            <a:tailEnd type="triangle" w="sm" len="sm"/>
          </a:ln>
        </p:spPr>
      </p:cxnSp>
      <p:cxnSp>
        <p:nvCxnSpPr>
          <p:cNvPr id="243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11203371" y="6141161"/>
            <a:ext cx="0" cy="258654"/>
          </a:xfrm>
          <a:prstGeom xmlns:a="http://schemas.openxmlformats.org/drawingml/2006/main" prst="straightConnector1">
            <a:avLst/>
          </a:prstGeom>
          <a:ln xmlns:a="http://schemas.openxmlformats.org/drawingml/2006/main" w="22170" cap="rnd">
            <a:solidFill>
              <a:srgbClr val="820018"/>
            </a:solidFill>
            <a:prstDash val="solid"/>
            <a:miter/>
            <a:tailEnd type="triangle" w="sm" len="sm"/>
          </a:ln>
        </p:spPr>
      </p:cxnSp>
      <p:cxnSp>
        <p:nvCxnSpPr>
          <p:cNvPr id="244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047804" y="4899627"/>
            <a:ext cx="783349" cy="0"/>
          </a:xfrm>
          <a:prstGeom xmlns:a="http://schemas.openxmlformats.org/drawingml/2006/main" prst="straightConnector1">
            <a:avLst/>
          </a:prstGeom>
          <a:ln xmlns:a="http://schemas.openxmlformats.org/drawingml/2006/main" w="11085" cap="rnd">
            <a:solidFill>
              <a:srgbClr val="000000"/>
            </a:solidFill>
            <a:prstDash val="solid"/>
            <a:miter/>
            <a:tailEnd type="triangle" w="sm" len="sm"/>
          </a:ln>
        </p:spPr>
      </p:cxnSp>
      <p:cxnSp>
        <p:nvCxnSpPr>
          <p:cNvPr id="245" name=""/>
          <p:cNvCxnSpPr>
            <a:stCxn xmlns:a="http://schemas.openxmlformats.org/drawingml/2006/main" id="85" idx="1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H="1">
            <a:off x="8395138" y="4123668"/>
            <a:ext cx="450795" cy="672498"/>
          </a:xfrm>
          <a:prstGeom xmlns:a="http://schemas.openxmlformats.org/drawingml/2006/main" prst="bentConnector2">
            <a:avLst/>
          </a:prstGeom>
          <a:ln xmlns:a="http://schemas.openxmlformats.org/drawingml/2006/main" w="11085" cap="rnd">
            <a:solidFill>
              <a:srgbClr val="000000"/>
            </a:solidFill>
            <a:prstDash val="solid"/>
            <a:miter/>
            <a:headEnd type="triangle" w="sm" len="sm"/>
            <a:tailEnd type="triangle" w="sm" len="sm"/>
          </a:ln>
        </p:spPr>
      </p:cxnSp>
      <p:cxnSp>
        <p:nvCxnSpPr>
          <p:cNvPr id="246" name=""/>
          <p:cNvCxnSpPr>
            <a:stCxn xmlns:a="http://schemas.openxmlformats.org/drawingml/2006/main" id="30" idx="1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8180825" y="5121330"/>
            <a:ext cx="650328" cy="539476"/>
          </a:xfrm>
          <a:prstGeom xmlns:a="http://schemas.openxmlformats.org/drawingml/2006/main" prst="bentConnector2">
            <a:avLst/>
          </a:prstGeom>
          <a:ln xmlns:a="http://schemas.openxmlformats.org/drawingml/2006/main" w="11085" cap="rnd">
            <a:solidFill>
              <a:srgbClr val="000000"/>
            </a:solidFill>
            <a:prstDash val="solid"/>
            <a:miter/>
            <a:tailEnd type="triangle" w="sm" len="sm"/>
          </a:ln>
        </p:spPr>
      </p:cxnSp>
      <p:cxnSp>
        <p:nvCxnSpPr>
          <p:cNvPr id="247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8047804" y="5675586"/>
            <a:ext cx="783349" cy="0"/>
          </a:xfrm>
          <a:prstGeom xmlns:a="http://schemas.openxmlformats.org/drawingml/2006/main" prst="straightConnector1">
            <a:avLst/>
          </a:prstGeom>
          <a:ln xmlns:a="http://schemas.openxmlformats.org/drawingml/2006/main" w="11085" cap="rnd">
            <a:solidFill>
              <a:srgbClr val="000000"/>
            </a:solidFill>
            <a:prstDash val="solid"/>
            <a:miter/>
            <a:tailEnd type="triangle" w="sm" len="sm"/>
          </a:ln>
        </p:spPr>
      </p:cxnSp>
      <p:sp>
        <p:nvSpPr>
          <p:cNvPr id="122" name="e_step1_step3">
            <a:extLst xmlns:a="http://schemas.openxmlformats.org/drawingml/2006/main">
              <a:ext uri="{FF2B5EF4-FFF2-40B4-BE49-F238E27FC236}">
                <a16:creationId xmlns:a16="http://schemas.microsoft.com/office/drawing/2014/main" id="{11E28648-BC82-46A9-BD35-6A7743C3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302" y="1115903"/>
            <a:ext cx="273433" cy="43601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FB7E7"/>
          </a:solidFill>
          <a:ln xmlns:a="http://schemas.openxmlformats.org/drawingml/2006/main" w="5912">
            <a:solidFill>
              <a:srgbClr val="8E98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3" name="e_step1_step2">
            <a:extLst xmlns:a="http://schemas.openxmlformats.org/drawingml/2006/main">
              <a:ext uri="{FF2B5EF4-FFF2-40B4-BE49-F238E27FC236}">
                <a16:creationId xmlns:a16="http://schemas.microsoft.com/office/drawing/2014/main" id="{9B9D5D2F-2077-46C4-A2F6-0D379C01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537" y="4057157"/>
            <a:ext cx="376894" cy="229093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FB7E7"/>
          </a:solidFill>
          <a:ln xmlns:a="http://schemas.openxmlformats.org/drawingml/2006/main" w="5912">
            <a:solidFill>
              <a:srgbClr val="8E98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4" name="e_step3_step4">
            <a:extLst xmlns:a="http://schemas.openxmlformats.org/drawingml/2006/main">
              <a:ext uri="{FF2B5EF4-FFF2-40B4-BE49-F238E27FC236}">
                <a16:creationId xmlns:a16="http://schemas.microsoft.com/office/drawing/2014/main" id="{2078A39A-3A9F-4EBE-8056-173303C9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7420" y="3273808"/>
            <a:ext cx="406455" cy="229093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FB7E7"/>
          </a:solidFill>
          <a:ln xmlns:a="http://schemas.openxmlformats.org/drawingml/2006/main" w="5912">
            <a:solidFill>
              <a:srgbClr val="8E98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5" name="label_mcr">
            <a:extLst xmlns:a="http://schemas.openxmlformats.org/drawingml/2006/main">
              <a:ext uri="{FF2B5EF4-FFF2-40B4-BE49-F238E27FC236}">
                <a16:creationId xmlns:a16="http://schemas.microsoft.com/office/drawing/2014/main" id="{1969E994-C89B-4853-A1F3-66D49773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925" y="4759216"/>
            <a:ext cx="679888" cy="288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1085" rIns="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3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MCR</a:t>
            </a:r>
          </a:p>
        </p:txBody>
      </p:sp>
      <p:sp>
        <p:nvSpPr>
          <p:cNvPr id="126" name="label_barrier">
            <a:extLst xmlns:a="http://schemas.openxmlformats.org/drawingml/2006/main">
              <a:ext uri="{FF2B5EF4-FFF2-40B4-BE49-F238E27FC236}">
                <a16:creationId xmlns:a16="http://schemas.microsoft.com/office/drawing/2014/main" id="{FE1A0773-D5AD-432E-8FC7-3C1D7903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16" y="5173060"/>
            <a:ext cx="569037" cy="4729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1085" rIns="0" bIns="1108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0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Barrier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0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4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point</a:t>
            </a:r>
          </a:p>
        </p:txBody>
      </p:sp>
    </p:spTree>
    <p:extLst>
      <p:ext uri="{BB962C8B-B14F-4D97-AF65-F5344CB8AC3E}">
        <p14:creationId xmlns:p14="http://schemas.microsoft.com/office/powerpoint/2010/main" val="138531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2026-08-09T16:36:10.2670000Z</dcterms:created>
  <dcterms:modified xsi:type="dcterms:W3CDTF">2026-08-09T16:36:10.2670000Z</dcterms:modified>
</coreProperties>
</file>