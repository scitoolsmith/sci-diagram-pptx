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6fadfe96d24a46" /><Relationship Type="http://schemas.openxmlformats.org/officeDocument/2006/relationships/extended-properties" Target="/docProps/app.xml" Id="R93a7d546b31e4a50" /><Relationship Type="http://schemas.openxmlformats.org/officeDocument/2006/relationships/officeDocument" Target="/ppt/presentation.xml" Id="Re77e303c97c140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b1b2c310b4915"/>
  </p:sldMasterIdLst>
  <p:notesMasterIdLst>
    <p:notesMasterId xmlns:r="http://schemas.openxmlformats.org/officeDocument/2006/relationships" r:id="R7a38f7ab6f714a45"/>
  </p:notesMasterIdLst>
  <p:sldIdLst>
    <p:sldId xmlns:r="http://schemas.openxmlformats.org/officeDocument/2006/relationships" id="256" r:id="Re582f3f13fa24f87"/>
  </p:sldIdLst>
  <p:sldSz cx="9444038" cy="11087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0a7c46036c4396" /><Relationship Type="http://schemas.openxmlformats.org/officeDocument/2006/relationships/slideMaster" Target="/ppt/slideMasters/slideMaster1.xml" Id="Rf10b1b2c310b4915" /><Relationship Type="http://schemas.openxmlformats.org/officeDocument/2006/relationships/notesMaster" Target="/ppt/notesMasters/notesMaster1.xml" Id="R7a38f7ab6f714a45" /><Relationship Type="http://schemas.openxmlformats.org/officeDocument/2006/relationships/presProps" Target="/ppt/presProps.xml" Id="Rf0bc30467c4545c3" /><Relationship Type="http://schemas.openxmlformats.org/officeDocument/2006/relationships/tableStyles" Target="/ppt/tableStyles.xml" Id="Rf8d114f29c9c41a1" /><Relationship Type="http://schemas.openxmlformats.org/officeDocument/2006/relationships/slide" Target="/ppt/slides/slide1.xml" Id="Re582f3f13fa2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890f24830a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9eb846b93148b8" /><Relationship Type="http://schemas.openxmlformats.org/officeDocument/2006/relationships/notesMaster" Target="/ppt/notesMasters/notesMaster1.xml" Id="R74265988a228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c04ca1429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3f95742b748f4" /><Relationship Type="http://schemas.openxmlformats.org/officeDocument/2006/relationships/slideLayout" Target="/ppt/slideLayouts/slideLayout1.xml" Id="Rcb711e96355e40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11e96355e40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b0c0aa2874fa4" /><Relationship Type="http://schemas.openxmlformats.org/officeDocument/2006/relationships/notesSlide" Target="/ppt/notesSlides/notesSlide1.xml" Id="R90e76111398e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frame_trends">
            <a:extLst xmlns:a="http://schemas.openxmlformats.org/drawingml/2006/main">
              <a:ext uri="{FF2B5EF4-FFF2-40B4-BE49-F238E27FC236}">
                <a16:creationId xmlns:a16="http://schemas.microsoft.com/office/drawing/2014/main" id="{9F67D027-0914-424C-8D83-E01C920A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742950"/>
            <a:ext cx="5829300" cy="2228850"/>
          </a:xfrm>
          <a:prstGeom xmlns:a="http://schemas.openxmlformats.org/drawingml/2006/main" prst="roundRect">
            <a:avLst>
              <a:gd name="adj" fmla="val 1603"/>
            </a:avLst>
          </a:prstGeom>
          <a:noFill xmlns:a="http://schemas.openxmlformats.org/drawingml/2006/main"/>
          <a:ln xmlns:a="http://schemas.openxmlformats.org/drawingml/2006/main" w="19288">
            <a:solidFill>
              <a:srgbClr val="3F3F3F"/>
            </a:solidFill>
            <a:prstDash val="dash"/>
          </a:ln>
        </p:spPr>
      </p:sp>
      <p:sp>
        <p:nvSpPr>
          <p:cNvPr id="2" name="frame_trend">
            <a:extLst xmlns:a="http://schemas.openxmlformats.org/drawingml/2006/main">
              <a:ext uri="{FF2B5EF4-FFF2-40B4-BE49-F238E27FC236}">
                <a16:creationId xmlns:a16="http://schemas.microsoft.com/office/drawing/2014/main" id="{4F16F8AA-A75C-4B05-8970-282F2BF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171575"/>
            <a:ext cx="1557338" cy="1728788"/>
          </a:xfrm>
          <a:prstGeom xmlns:a="http://schemas.openxmlformats.org/drawingml/2006/main" prst="roundRect">
            <a:avLst>
              <a:gd name="adj" fmla="val 2294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3" name="frame_measurement">
            <a:extLst xmlns:a="http://schemas.openxmlformats.org/drawingml/2006/main">
              <a:ext uri="{FF2B5EF4-FFF2-40B4-BE49-F238E27FC236}">
                <a16:creationId xmlns:a16="http://schemas.microsoft.com/office/drawing/2014/main" id="{F6692B85-DF2B-4CE7-B421-B0AEA360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71575"/>
            <a:ext cx="1557338" cy="1728788"/>
          </a:xfrm>
          <a:prstGeom xmlns:a="http://schemas.openxmlformats.org/drawingml/2006/main" prst="roundRect">
            <a:avLst>
              <a:gd name="adj" fmla="val 2294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4" name="frame_comparison">
            <a:extLst xmlns:a="http://schemas.openxmlformats.org/drawingml/2006/main">
              <a:ext uri="{FF2B5EF4-FFF2-40B4-BE49-F238E27FC236}">
                <a16:creationId xmlns:a16="http://schemas.microsoft.com/office/drawing/2014/main" id="{034AC82D-E2F9-496A-802E-A9376AEA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888" y="1171575"/>
            <a:ext cx="1557338" cy="1728788"/>
          </a:xfrm>
          <a:prstGeom xmlns:a="http://schemas.openxmlformats.org/drawingml/2006/main" prst="roundRect">
            <a:avLst>
              <a:gd name="adj" fmla="val 2294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5" name="frame_identification">
            <a:extLst xmlns:a="http://schemas.openxmlformats.org/drawingml/2006/main">
              <a:ext uri="{FF2B5EF4-FFF2-40B4-BE49-F238E27FC236}">
                <a16:creationId xmlns:a16="http://schemas.microsoft.com/office/drawing/2014/main" id="{1C6114C2-57EC-4AE9-81CF-59F84897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3014663"/>
            <a:ext cx="5829300" cy="2714625"/>
          </a:xfrm>
          <a:prstGeom xmlns:a="http://schemas.openxmlformats.org/drawingml/2006/main" prst="roundRect">
            <a:avLst>
              <a:gd name="adj" fmla="val 1316"/>
            </a:avLst>
          </a:prstGeom>
          <a:noFill xmlns:a="http://schemas.openxmlformats.org/drawingml/2006/main"/>
          <a:ln xmlns:a="http://schemas.openxmlformats.org/drawingml/2006/main" w="19288">
            <a:solidFill>
              <a:srgbClr val="3F3F3F"/>
            </a:solidFill>
            <a:prstDash val="dash"/>
          </a:ln>
        </p:spPr>
      </p:sp>
      <p:sp>
        <p:nvSpPr>
          <p:cNvPr id="6" name="frame_identify">
            <a:extLst xmlns:a="http://schemas.openxmlformats.org/drawingml/2006/main">
              <a:ext uri="{FF2B5EF4-FFF2-40B4-BE49-F238E27FC236}">
                <a16:creationId xmlns:a16="http://schemas.microsoft.com/office/drawing/2014/main" id="{CF459824-CE01-4F12-8D2F-C6A893C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57575"/>
            <a:ext cx="2728913" cy="2114550"/>
          </a:xfrm>
          <a:prstGeom xmlns:a="http://schemas.openxmlformats.org/drawingml/2006/main" prst="roundRect">
            <a:avLst>
              <a:gd name="adj" fmla="val 1689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7" name="frame_risk">
            <a:extLst xmlns:a="http://schemas.openxmlformats.org/drawingml/2006/main">
              <a:ext uri="{FF2B5EF4-FFF2-40B4-BE49-F238E27FC236}">
                <a16:creationId xmlns:a16="http://schemas.microsoft.com/office/drawing/2014/main" id="{14298043-D382-41AD-A42C-AA7BFE8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57575"/>
            <a:ext cx="2814638" cy="2114550"/>
          </a:xfrm>
          <a:prstGeom xmlns:a="http://schemas.openxmlformats.org/drawingml/2006/main" prst="roundRect">
            <a:avLst>
              <a:gd name="adj" fmla="val 1689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8" name="frame_mechanism">
            <a:extLst xmlns:a="http://schemas.openxmlformats.org/drawingml/2006/main">
              <a:ext uri="{FF2B5EF4-FFF2-40B4-BE49-F238E27FC236}">
                <a16:creationId xmlns:a16="http://schemas.microsoft.com/office/drawing/2014/main" id="{01A5B42C-568B-400F-8FCD-795C0E8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5786438"/>
            <a:ext cx="5829300" cy="3886200"/>
          </a:xfrm>
          <a:prstGeom xmlns:a="http://schemas.openxmlformats.org/drawingml/2006/main" prst="roundRect">
            <a:avLst>
              <a:gd name="adj" fmla="val 919"/>
            </a:avLst>
          </a:prstGeom>
          <a:noFill xmlns:a="http://schemas.openxmlformats.org/drawingml/2006/main"/>
          <a:ln xmlns:a="http://schemas.openxmlformats.org/drawingml/2006/main" w="19288">
            <a:solidFill>
              <a:srgbClr val="3F3F3F"/>
            </a:solidFill>
            <a:prstDash val="dash"/>
          </a:ln>
        </p:spPr>
      </p:sp>
      <p:sp>
        <p:nvSpPr>
          <p:cNvPr id="9" name="frame_mechanism_inner">
            <a:extLst xmlns:a="http://schemas.openxmlformats.org/drawingml/2006/main">
              <a:ext uri="{FF2B5EF4-FFF2-40B4-BE49-F238E27FC236}">
                <a16:creationId xmlns:a16="http://schemas.microsoft.com/office/drawing/2014/main" id="{59B2F3D5-FF94-423C-8A74-254CFEDE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43638"/>
            <a:ext cx="5614988" cy="1685925"/>
          </a:xfrm>
          <a:prstGeom xmlns:a="http://schemas.openxmlformats.org/drawingml/2006/main" prst="roundRect">
            <a:avLst>
              <a:gd name="adj" fmla="val 2119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10" name="frame_path_row">
            <a:extLst xmlns:a="http://schemas.openxmlformats.org/drawingml/2006/main">
              <a:ext uri="{FF2B5EF4-FFF2-40B4-BE49-F238E27FC236}">
                <a16:creationId xmlns:a16="http://schemas.microsoft.com/office/drawing/2014/main" id="{B2306D44-490A-4508-8945-B7829D6F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115300"/>
            <a:ext cx="5629275" cy="1471613"/>
          </a:xfrm>
          <a:prstGeom xmlns:a="http://schemas.openxmlformats.org/drawingml/2006/main" prst="roundRect">
            <a:avLst>
              <a:gd name="adj" fmla="val 2427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11" name="frame_path_elements">
            <a:extLst xmlns:a="http://schemas.openxmlformats.org/drawingml/2006/main">
              <a:ext uri="{FF2B5EF4-FFF2-40B4-BE49-F238E27FC236}">
                <a16:creationId xmlns:a16="http://schemas.microsoft.com/office/drawing/2014/main" id="{1F10CF74-0667-4FBF-97AF-7E143EBC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8115300"/>
            <a:ext cx="1643063" cy="1371600"/>
          </a:xfrm>
          <a:prstGeom xmlns:a="http://schemas.openxmlformats.org/drawingml/2006/main" prst="roundRect">
            <a:avLst>
              <a:gd name="adj" fmla="val 2604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12" name="frame_path_modes">
            <a:extLst xmlns:a="http://schemas.openxmlformats.org/drawingml/2006/main">
              <a:ext uri="{FF2B5EF4-FFF2-40B4-BE49-F238E27FC236}">
                <a16:creationId xmlns:a16="http://schemas.microsoft.com/office/drawing/2014/main" id="{1BA41A3F-8A0E-438B-B071-1ACCA14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115300"/>
            <a:ext cx="3314700" cy="1371600"/>
          </a:xfrm>
          <a:prstGeom xmlns:a="http://schemas.openxmlformats.org/drawingml/2006/main" prst="roundRect">
            <a:avLst>
              <a:gd name="adj" fmla="val 2604"/>
            </a:avLst>
          </a:prstGeom>
          <a:noFill xmlns:a="http://schemas.openxmlformats.org/drawingml/2006/main"/>
          <a:ln xmlns:a="http://schemas.openxmlformats.org/drawingml/2006/main" w="16431">
            <a:solidFill>
              <a:srgbClr val="3F3F3F"/>
            </a:solidFill>
            <a:prstDash val="dash"/>
          </a:ln>
        </p:spPr>
      </p:sp>
      <p:sp>
        <p:nvSpPr>
          <p:cNvPr id="13" name="frame_policy">
            <a:extLst xmlns:a="http://schemas.openxmlformats.org/drawingml/2006/main">
              <a:ext uri="{FF2B5EF4-FFF2-40B4-BE49-F238E27FC236}">
                <a16:creationId xmlns:a16="http://schemas.microsoft.com/office/drawing/2014/main" id="{A38F75E8-0AAB-42CD-941E-28B5E14A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9815513"/>
            <a:ext cx="5829300" cy="1028700"/>
          </a:xfrm>
          <a:prstGeom xmlns:a="http://schemas.openxmlformats.org/drawingml/2006/main" prst="roundRect">
            <a:avLst>
              <a:gd name="adj" fmla="val 3472"/>
            </a:avLst>
          </a:prstGeom>
          <a:noFill xmlns:a="http://schemas.openxmlformats.org/drawingml/2006/main"/>
          <a:ln xmlns:a="http://schemas.openxmlformats.org/drawingml/2006/main" w="19288">
            <a:solidFill>
              <a:srgbClr val="3F3F3F"/>
            </a:solidFill>
            <a:prstDash val="dash"/>
          </a:ln>
        </p:spPr>
      </p:sp>
      <p:sp>
        <p:nvSpPr>
          <p:cNvPr id="14" name="framework_header">
            <a:extLst xmlns:a="http://schemas.openxmlformats.org/drawingml/2006/main">
              <a:ext uri="{FF2B5EF4-FFF2-40B4-BE49-F238E27FC236}">
                <a16:creationId xmlns:a16="http://schemas.microsoft.com/office/drawing/2014/main" id="{1B551B7B-1C52-44C4-AAE6-74BCA8B2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3" y="257175"/>
            <a:ext cx="1428750" cy="385763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AE3F2"/>
          </a:solidFill>
          <a:ln xmlns:a="http://schemas.openxmlformats.org/drawingml/2006/main" w="10716">
            <a:solidFill>
              <a:srgbClr val="6B879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8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8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研究框架</a:t>
            </a:r>
          </a:p>
        </p:txBody>
      </p:sp>
      <p:sp>
        <p:nvSpPr>
          <p:cNvPr id="15" name="research_content_header">
            <a:extLst xmlns:a="http://schemas.openxmlformats.org/drawingml/2006/main">
              <a:ext uri="{FF2B5EF4-FFF2-40B4-BE49-F238E27FC236}">
                <a16:creationId xmlns:a16="http://schemas.microsoft.com/office/drawing/2014/main" id="{C29D7719-8BCE-4656-8EF8-076727B6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57175"/>
            <a:ext cx="1443038" cy="385763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AE3F2"/>
          </a:solidFill>
          <a:ln xmlns:a="http://schemas.openxmlformats.org/drawingml/2006/main" w="10716">
            <a:solidFill>
              <a:srgbClr val="6B879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8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8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研究内容</a:t>
            </a:r>
          </a:p>
        </p:txBody>
      </p:sp>
      <p:sp>
        <p:nvSpPr>
          <p:cNvPr id="16" name="methods_header">
            <a:extLst xmlns:a="http://schemas.openxmlformats.org/drawingml/2006/main">
              <a:ext uri="{FF2B5EF4-FFF2-40B4-BE49-F238E27FC236}">
                <a16:creationId xmlns:a16="http://schemas.microsoft.com/office/drawing/2014/main" id="{B205CC5B-F723-49CB-AB4C-15D0D5E5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"/>
            <a:ext cx="1443038" cy="385763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AE3F2"/>
          </a:solidFill>
          <a:ln xmlns:a="http://schemas.openxmlformats.org/drawingml/2006/main" w="10716">
            <a:solidFill>
              <a:srgbClr val="6B879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8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8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研究方法</a:t>
            </a:r>
          </a:p>
        </p:txBody>
      </p:sp>
      <p:sp>
        <p:nvSpPr>
          <p:cNvPr id="17" name="stage_question">
            <a:extLst xmlns:a="http://schemas.openxmlformats.org/drawingml/2006/main">
              <a:ext uri="{FF2B5EF4-FFF2-40B4-BE49-F238E27FC236}">
                <a16:creationId xmlns:a16="http://schemas.microsoft.com/office/drawing/2014/main" id="{6E3161AF-0A7B-4A2D-B955-DA42999B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5750" y="1685925"/>
            <a:ext cx="1385888" cy="542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1ABDA"/>
          </a:solidFill>
          <a:ln xmlns:a="http://schemas.openxmlformats.org/drawingml/2006/main" w="10716">
            <a:solidFill>
              <a:srgbClr val="5F7FA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提出问题</a:t>
            </a:r>
          </a:p>
        </p:txBody>
      </p:sp>
      <p:sp>
        <p:nvSpPr>
          <p:cNvPr id="18" name="stage_analysis">
            <a:extLst xmlns:a="http://schemas.openxmlformats.org/drawingml/2006/main">
              <a:ext uri="{FF2B5EF4-FFF2-40B4-BE49-F238E27FC236}">
                <a16:creationId xmlns:a16="http://schemas.microsoft.com/office/drawing/2014/main" id="{07F03E12-C673-4204-9609-D778F0F0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5750" y="3857625"/>
            <a:ext cx="1385888" cy="55721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E6D5"/>
          </a:solidFill>
          <a:ln xmlns:a="http://schemas.openxmlformats.org/drawingml/2006/main" w="10716">
            <a:solidFill>
              <a:srgbClr val="D9B692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分析问题</a:t>
            </a:r>
          </a:p>
        </p:txBody>
      </p:sp>
      <p:sp>
        <p:nvSpPr>
          <p:cNvPr id="19" name="stage_solution">
            <a:extLst xmlns:a="http://schemas.openxmlformats.org/drawingml/2006/main">
              <a:ext uri="{FF2B5EF4-FFF2-40B4-BE49-F238E27FC236}">
                <a16:creationId xmlns:a16="http://schemas.microsoft.com/office/drawing/2014/main" id="{5D2ED2B8-E80E-475B-8424-DFEBF934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5750" y="5629275"/>
            <a:ext cx="1385888" cy="52863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1ABDA"/>
          </a:solidFill>
          <a:ln xmlns:a="http://schemas.openxmlformats.org/drawingml/2006/main" w="10716">
            <a:solidFill>
              <a:srgbClr val="5F7FA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解决问题</a:t>
            </a:r>
          </a:p>
        </p:txBody>
      </p:sp>
      <p:sp>
        <p:nvSpPr>
          <p:cNvPr id="20" name="stage_mechanism">
            <a:extLst xmlns:a="http://schemas.openxmlformats.org/drawingml/2006/main">
              <a:ext uri="{FF2B5EF4-FFF2-40B4-BE49-F238E27FC236}">
                <a16:creationId xmlns:a16="http://schemas.microsoft.com/office/drawing/2014/main" id="{40FBB422-29E0-4C18-9468-941D6F1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5750" y="6600825"/>
            <a:ext cx="1385888" cy="52863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5F3E8"/>
          </a:solidFill>
          <a:ln xmlns:a="http://schemas.openxmlformats.org/drawingml/2006/main" w="10716">
            <a:solidFill>
              <a:srgbClr val="308D8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影响机理研究</a:t>
            </a:r>
          </a:p>
        </p:txBody>
      </p:sp>
      <p:sp>
        <p:nvSpPr>
          <p:cNvPr id="21" name="stage_path">
            <a:extLst xmlns:a="http://schemas.openxmlformats.org/drawingml/2006/main">
              <a:ext uri="{FF2B5EF4-FFF2-40B4-BE49-F238E27FC236}">
                <a16:creationId xmlns:a16="http://schemas.microsoft.com/office/drawing/2014/main" id="{D3E0247A-A8C0-45CE-A125-08715B9F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5750" y="8472488"/>
            <a:ext cx="1385888" cy="557213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5F3E8"/>
          </a:solidFill>
          <a:ln xmlns:a="http://schemas.openxmlformats.org/drawingml/2006/main" w="10716">
            <a:solidFill>
              <a:srgbClr val="308D8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重构路径</a:t>
            </a:r>
          </a:p>
        </p:txBody>
      </p:sp>
      <p:sp>
        <p:nvSpPr>
          <p:cNvPr id="22" name="stage_policy">
            <a:extLst xmlns:a="http://schemas.openxmlformats.org/drawingml/2006/main">
              <a:ext uri="{FF2B5EF4-FFF2-40B4-BE49-F238E27FC236}">
                <a16:creationId xmlns:a16="http://schemas.microsoft.com/office/drawing/2014/main" id="{5EFB14AE-925F-4CA4-812D-6411FF9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5750" y="10029825"/>
            <a:ext cx="1400175" cy="528638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1ABDA"/>
          </a:solidFill>
          <a:ln xmlns:a="http://schemas.openxmlformats.org/drawingml/2006/main" w="10716">
            <a:solidFill>
              <a:srgbClr val="5F7FA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4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政策建议</a:t>
            </a:r>
          </a:p>
        </p:txBody>
      </p:sp>
      <p:sp>
        <p:nvSpPr>
          <p:cNvPr id="23" name="method_1">
            <a:extLst xmlns:a="http://schemas.openxmlformats.org/drawingml/2006/main">
              <a:ext uri="{FF2B5EF4-FFF2-40B4-BE49-F238E27FC236}">
                <a16:creationId xmlns:a16="http://schemas.microsoft.com/office/drawing/2014/main" id="{0C077B90-CDD9-407E-9F92-95472D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557338"/>
            <a:ext cx="1371600" cy="1300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BDA"/>
          </a:solidFill>
          <a:ln xmlns:a="http://schemas.openxmlformats.org/drawingml/2006/main" w="10716">
            <a:solidFill>
              <a:srgbClr val="5F7FA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知识图谱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专利计量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技术预见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区块聚类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多维创新指数</a:t>
            </a:r>
          </a:p>
        </p:txBody>
      </p:sp>
      <p:sp>
        <p:nvSpPr>
          <p:cNvPr id="24" name="method_2">
            <a:extLst xmlns:a="http://schemas.openxmlformats.org/drawingml/2006/main">
              <a:ext uri="{FF2B5EF4-FFF2-40B4-BE49-F238E27FC236}">
                <a16:creationId xmlns:a16="http://schemas.microsoft.com/office/drawing/2014/main" id="{FDF95660-248C-4F85-8157-DB56A21A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43338"/>
            <a:ext cx="1371600" cy="1300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BDA"/>
          </a:solidFill>
          <a:ln xmlns:a="http://schemas.openxmlformats.org/drawingml/2006/main" w="10716">
            <a:solidFill>
              <a:srgbClr val="5F7FA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复杂网络模型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层级分析法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ABM模型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压力测试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4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Agent仿真模拟</a:t>
            </a:r>
          </a:p>
        </p:txBody>
      </p:sp>
      <p:sp>
        <p:nvSpPr>
          <p:cNvPr id="25" name="method_3">
            <a:extLst xmlns:a="http://schemas.openxmlformats.org/drawingml/2006/main">
              <a:ext uri="{FF2B5EF4-FFF2-40B4-BE49-F238E27FC236}">
                <a16:creationId xmlns:a16="http://schemas.microsoft.com/office/drawing/2014/main" id="{A9A954AF-F13C-46DD-90B2-BDD94BEC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7086600"/>
            <a:ext cx="13716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BDA"/>
          </a:solidFill>
          <a:ln xmlns:a="http://schemas.openxmlformats.org/drawingml/2006/main" w="10716">
            <a:solidFill>
              <a:srgbClr val="5F7FA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多元Logi Probit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Tobit模型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DSGE模型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中心外围模型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8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案例分析</a:t>
            </a:r>
          </a:p>
        </p:txBody>
      </p:sp>
      <p:sp>
        <p:nvSpPr>
          <p:cNvPr id="26" name="method_4">
            <a:extLst xmlns:a="http://schemas.openxmlformats.org/drawingml/2006/main">
              <a:ext uri="{FF2B5EF4-FFF2-40B4-BE49-F238E27FC236}">
                <a16:creationId xmlns:a16="http://schemas.microsoft.com/office/drawing/2014/main" id="{B9E28708-BF2A-4EBA-B863-6C3AEA0A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9829800"/>
            <a:ext cx="1371600" cy="985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BDA"/>
          </a:solidFill>
          <a:ln xmlns:a="http://schemas.openxmlformats.org/drawingml/2006/main" w="10716">
            <a:solidFill>
              <a:srgbClr val="5F7FAE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SCP模型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SWOT分析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SPACE矩阵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1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PMC指数模型</a:t>
            </a:r>
          </a:p>
        </p:txBody>
      </p:sp>
      <p:sp>
        <p:nvSpPr>
          <p:cNvPr id="27" name="section_trends">
            <a:extLst xmlns:a="http://schemas.openxmlformats.org/drawingml/2006/main">
              <a:ext uri="{FF2B5EF4-FFF2-40B4-BE49-F238E27FC236}">
                <a16:creationId xmlns:a16="http://schemas.microsoft.com/office/drawing/2014/main" id="{87142A96-B537-4666-9DA0-95DD8612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28675"/>
            <a:ext cx="4243388" cy="3000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5F3E8"/>
          </a:solidFill>
          <a:ln xmlns:a="http://schemas.openxmlformats.org/drawingml/2006/main" w="10716">
            <a:solidFill>
              <a:srgbClr val="308D8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3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3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全球创新趋势、创新力测度与国际比较研究</a:t>
            </a:r>
          </a:p>
        </p:txBody>
      </p:sp>
      <p:sp>
        <p:nvSpPr>
          <p:cNvPr id="28" name="trend_header">
            <a:extLst xmlns:a="http://schemas.openxmlformats.org/drawingml/2006/main">
              <a:ext uri="{FF2B5EF4-FFF2-40B4-BE49-F238E27FC236}">
                <a16:creationId xmlns:a16="http://schemas.microsoft.com/office/drawing/2014/main" id="{41BD0682-FA21-4459-BBF3-FDD0373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1214438"/>
            <a:ext cx="1300163" cy="3429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E686"/>
          </a:solidFill>
          <a:ln xmlns:a="http://schemas.openxmlformats.org/drawingml/2006/main" w="10716">
            <a:solidFill>
              <a:srgbClr val="82A84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3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3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创新趋势</a:t>
            </a:r>
          </a:p>
        </p:txBody>
      </p:sp>
      <p:sp>
        <p:nvSpPr>
          <p:cNvPr id="29" name="trend_frontier">
            <a:extLst xmlns:a="http://schemas.openxmlformats.org/drawingml/2006/main">
              <a:ext uri="{FF2B5EF4-FFF2-40B4-BE49-F238E27FC236}">
                <a16:creationId xmlns:a16="http://schemas.microsoft.com/office/drawing/2014/main" id="{595E32DB-6AEB-4A72-B2D0-26B62FB7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1557338"/>
            <a:ext cx="1300163" cy="3429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前沿学科</a:t>
            </a:r>
          </a:p>
        </p:txBody>
      </p:sp>
      <p:sp>
        <p:nvSpPr>
          <p:cNvPr id="30" name="trend_patents">
            <a:extLst xmlns:a="http://schemas.openxmlformats.org/drawingml/2006/main">
              <a:ext uri="{FF2B5EF4-FFF2-40B4-BE49-F238E27FC236}">
                <a16:creationId xmlns:a16="http://schemas.microsoft.com/office/drawing/2014/main" id="{88A44B00-2CC6-4C99-A37A-4DBF1B42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1885950"/>
            <a:ext cx="1300163" cy="328613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专利分布</a:t>
            </a:r>
          </a:p>
        </p:txBody>
      </p:sp>
      <p:sp>
        <p:nvSpPr>
          <p:cNvPr id="31" name="trend_people">
            <a:extLst xmlns:a="http://schemas.openxmlformats.org/drawingml/2006/main">
              <a:ext uri="{FF2B5EF4-FFF2-40B4-BE49-F238E27FC236}">
                <a16:creationId xmlns:a16="http://schemas.microsoft.com/office/drawing/2014/main" id="{11D73524-C93A-4485-9BB8-4BE72E81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2200275"/>
            <a:ext cx="1300163" cy="314325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人员交流</a:t>
            </a:r>
          </a:p>
        </p:txBody>
      </p:sp>
      <p:sp>
        <p:nvSpPr>
          <p:cNvPr id="32" name="trend_application">
            <a:extLst xmlns:a="http://schemas.openxmlformats.org/drawingml/2006/main">
              <a:ext uri="{FF2B5EF4-FFF2-40B4-BE49-F238E27FC236}">
                <a16:creationId xmlns:a16="http://schemas.microsoft.com/office/drawing/2014/main" id="{3C512D13-6E20-415C-9773-FE5EBFC6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2500313"/>
            <a:ext cx="1300163" cy="328613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产业应用</a:t>
            </a:r>
          </a:p>
        </p:txBody>
      </p:sp>
      <p:sp>
        <p:nvSpPr>
          <p:cNvPr id="33" name="measurement_header">
            <a:extLst xmlns:a="http://schemas.openxmlformats.org/drawingml/2006/main">
              <a:ext uri="{FF2B5EF4-FFF2-40B4-BE49-F238E27FC236}">
                <a16:creationId xmlns:a16="http://schemas.microsoft.com/office/drawing/2014/main" id="{7CE68C96-534A-4EDD-BF3B-369347AD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14438"/>
            <a:ext cx="1343025" cy="3429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E686"/>
          </a:solidFill>
          <a:ln xmlns:a="http://schemas.openxmlformats.org/drawingml/2006/main" w="10716">
            <a:solidFill>
              <a:srgbClr val="82A84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3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3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创新力测度</a:t>
            </a:r>
          </a:p>
        </p:txBody>
      </p:sp>
      <p:sp>
        <p:nvSpPr>
          <p:cNvPr id="34" name="measurement_horizontal">
            <a:extLst xmlns:a="http://schemas.openxmlformats.org/drawingml/2006/main">
              <a:ext uri="{FF2B5EF4-FFF2-40B4-BE49-F238E27FC236}">
                <a16:creationId xmlns:a16="http://schemas.microsoft.com/office/drawing/2014/main" id="{4D4ACA6E-944F-4D59-BD34-577D893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1600200"/>
            <a:ext cx="1357313" cy="642938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“科学-技术-产业”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横向价值链</a:t>
            </a:r>
          </a:p>
        </p:txBody>
      </p:sp>
      <p:sp>
        <p:nvSpPr>
          <p:cNvPr id="35" name="measurement_vertical">
            <a:extLst xmlns:a="http://schemas.openxmlformats.org/drawingml/2006/main">
              <a:ext uri="{FF2B5EF4-FFF2-40B4-BE49-F238E27FC236}">
                <a16:creationId xmlns:a16="http://schemas.microsoft.com/office/drawing/2014/main" id="{B4A4CE68-F3EE-4D2B-A5A0-9F16E776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2271713"/>
            <a:ext cx="1357313" cy="557213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967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67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“实力-效力”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67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67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纵向价值链</a:t>
            </a:r>
          </a:p>
        </p:txBody>
      </p:sp>
      <p:sp>
        <p:nvSpPr>
          <p:cNvPr id="36" name="comparison_header">
            <a:extLst xmlns:a="http://schemas.openxmlformats.org/drawingml/2006/main">
              <a:ext uri="{FF2B5EF4-FFF2-40B4-BE49-F238E27FC236}">
                <a16:creationId xmlns:a16="http://schemas.microsoft.com/office/drawing/2014/main" id="{564D3574-0A0F-4251-BFD7-3F31FB36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14438"/>
            <a:ext cx="1314450" cy="3429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E686"/>
          </a:solidFill>
          <a:ln xmlns:a="http://schemas.openxmlformats.org/drawingml/2006/main" w="10716">
            <a:solidFill>
              <a:srgbClr val="82A84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3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13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国际比较</a:t>
            </a:r>
          </a:p>
        </p:txBody>
      </p:sp>
      <p:sp>
        <p:nvSpPr>
          <p:cNvPr id="37" name="comparison_position">
            <a:extLst xmlns:a="http://schemas.openxmlformats.org/drawingml/2006/main">
              <a:ext uri="{FF2B5EF4-FFF2-40B4-BE49-F238E27FC236}">
                <a16:creationId xmlns:a16="http://schemas.microsoft.com/office/drawing/2014/main" id="{90DB5F60-F419-481B-962F-EB25FEE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14488"/>
            <a:ext cx="1314450" cy="4000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地位指数</a:t>
            </a:r>
          </a:p>
        </p:txBody>
      </p:sp>
      <p:sp>
        <p:nvSpPr>
          <p:cNvPr id="38" name="comparison_participation">
            <a:extLst xmlns:a="http://schemas.openxmlformats.org/drawingml/2006/main">
              <a:ext uri="{FF2B5EF4-FFF2-40B4-BE49-F238E27FC236}">
                <a16:creationId xmlns:a16="http://schemas.microsoft.com/office/drawing/2014/main" id="{DA04041F-9C79-4171-845D-D2971EDD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1314450" cy="4000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参与度指数</a:t>
            </a:r>
          </a:p>
        </p:txBody>
      </p:sp>
      <p:sp>
        <p:nvSpPr>
          <p:cNvPr id="39" name="comparison_advantage">
            <a:extLst xmlns:a="http://schemas.openxmlformats.org/drawingml/2006/main">
              <a:ext uri="{FF2B5EF4-FFF2-40B4-BE49-F238E27FC236}">
                <a16:creationId xmlns:a16="http://schemas.microsoft.com/office/drawing/2014/main" id="{FE69E44D-61F3-498D-8E0F-A5DD5D83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86025"/>
            <a:ext cx="1314450" cy="3429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CB"/>
          </a:solidFill>
          <a:ln xmlns:a="http://schemas.openxmlformats.org/drawingml/2006/main" w="10716">
            <a:solidFill>
              <a:srgbClr val="D6BE6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79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79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竞争优势与劣势</a:t>
            </a:r>
          </a:p>
        </p:txBody>
      </p:sp>
      <p:sp>
        <p:nvSpPr>
          <p:cNvPr id="40" name="section_identification">
            <a:extLst xmlns:a="http://schemas.openxmlformats.org/drawingml/2006/main">
              <a:ext uri="{FF2B5EF4-FFF2-40B4-BE49-F238E27FC236}">
                <a16:creationId xmlns:a16="http://schemas.microsoft.com/office/drawing/2014/main" id="{CBC06A24-C1F9-4C8E-A928-CC34381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28963"/>
            <a:ext cx="4243388" cy="30003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5F3E8"/>
          </a:solidFill>
          <a:ln xmlns:a="http://schemas.openxmlformats.org/drawingml/2006/main" w="10716">
            <a:solidFill>
              <a:srgbClr val="308D8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全球创新产业链的识别、解构与风险防范研究</a:t>
            </a:r>
          </a:p>
        </p:txBody>
      </p:sp>
      <p:sp>
        <p:nvSpPr>
          <p:cNvPr id="41" name="identify_header">
            <a:extLst xmlns:a="http://schemas.openxmlformats.org/drawingml/2006/main">
              <a:ext uri="{FF2B5EF4-FFF2-40B4-BE49-F238E27FC236}">
                <a16:creationId xmlns:a16="http://schemas.microsoft.com/office/drawing/2014/main" id="{C05D23B1-08CC-4E69-9A2F-D66FCE52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63" y="3543300"/>
            <a:ext cx="250031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DFD"/>
          </a:solidFill>
          <a:ln xmlns:a="http://schemas.openxmlformats.org/drawingml/2006/main" w="10716">
            <a:solidFill>
              <a:srgbClr val="5D6BAD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5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产业链识别与解构</a:t>
            </a:r>
          </a:p>
        </p:txBody>
      </p:sp>
      <p:sp>
        <p:nvSpPr>
          <p:cNvPr id="42" name="identify_key">
            <a:extLst xmlns:a="http://schemas.openxmlformats.org/drawingml/2006/main">
              <a:ext uri="{FF2B5EF4-FFF2-40B4-BE49-F238E27FC236}">
                <a16:creationId xmlns:a16="http://schemas.microsoft.com/office/drawing/2014/main" id="{B4B99673-A666-4D48-9F06-D8BE3E9B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9063"/>
            <a:ext cx="1300163" cy="30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产业链关键环节</a:t>
            </a:r>
          </a:p>
        </p:txBody>
      </p:sp>
      <p:sp>
        <p:nvSpPr>
          <p:cNvPr id="43" name="identify_network">
            <a:extLst xmlns:a="http://schemas.openxmlformats.org/drawingml/2006/main">
              <a:ext uri="{FF2B5EF4-FFF2-40B4-BE49-F238E27FC236}">
                <a16:creationId xmlns:a16="http://schemas.microsoft.com/office/drawing/2014/main" id="{8E97B8FB-407E-4052-B76E-B0B3EC56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1300163" cy="30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产业网络结构</a:t>
            </a:r>
          </a:p>
        </p:txBody>
      </p:sp>
      <p:sp>
        <p:nvSpPr>
          <p:cNvPr id="44" name="identify_relation">
            <a:extLst xmlns:a="http://schemas.openxmlformats.org/drawingml/2006/main">
              <a:ext uri="{FF2B5EF4-FFF2-40B4-BE49-F238E27FC236}">
                <a16:creationId xmlns:a16="http://schemas.microsoft.com/office/drawing/2014/main" id="{6C9D235D-966C-4DAB-B7A7-019759F5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43438"/>
            <a:ext cx="1300163" cy="30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产业关联特征</a:t>
            </a:r>
          </a:p>
        </p:txBody>
      </p:sp>
      <p:sp>
        <p:nvSpPr>
          <p:cNvPr id="45" name="identify_ripple">
            <a:extLst xmlns:a="http://schemas.openxmlformats.org/drawingml/2006/main">
              <a:ext uri="{FF2B5EF4-FFF2-40B4-BE49-F238E27FC236}">
                <a16:creationId xmlns:a16="http://schemas.microsoft.com/office/drawing/2014/main" id="{8570A8E7-E642-42F7-8E83-B7179112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1300163" cy="30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产业链波及影响</a:t>
            </a:r>
          </a:p>
        </p:txBody>
      </p:sp>
      <p:sp>
        <p:nvSpPr>
          <p:cNvPr id="46" name="chain_structure">
            <a:extLst xmlns:a="http://schemas.openxmlformats.org/drawingml/2006/main">
              <a:ext uri="{FF2B5EF4-FFF2-40B4-BE49-F238E27FC236}">
                <a16:creationId xmlns:a16="http://schemas.microsoft.com/office/drawing/2014/main" id="{E693F31F-80F7-4026-8FEF-506AD314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900488"/>
            <a:ext cx="328613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4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业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链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结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特</a:t>
            </a:r>
          </a:p>
          <a:p xmlns:a="http://schemas.openxmlformats.org/drawingml/2006/main">
            <a:pPr algn="ctr">
              <a:lnSpc>
                <a:spcPct val="74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征</a:t>
            </a:r>
          </a:p>
        </p:txBody>
      </p:sp>
      <p:sp>
        <p:nvSpPr>
          <p:cNvPr id="47" name="reconstruction_basis">
            <a:extLst xmlns:a="http://schemas.openxmlformats.org/drawingml/2006/main">
              <a:ext uri="{FF2B5EF4-FFF2-40B4-BE49-F238E27FC236}">
                <a16:creationId xmlns:a16="http://schemas.microsoft.com/office/drawing/2014/main" id="{9BC77127-418F-478F-AE75-A28F9B47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3900488"/>
            <a:ext cx="357188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为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业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链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重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提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供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现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实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依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65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据</a:t>
            </a:r>
          </a:p>
        </p:txBody>
      </p:sp>
      <p:sp>
        <p:nvSpPr>
          <p:cNvPr id="48" name="risk_header">
            <a:extLst xmlns:a="http://schemas.openxmlformats.org/drawingml/2006/main">
              <a:ext uri="{FF2B5EF4-FFF2-40B4-BE49-F238E27FC236}">
                <a16:creationId xmlns:a16="http://schemas.microsoft.com/office/drawing/2014/main" id="{30E97ADC-8854-4EA8-887A-D025D19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543300"/>
            <a:ext cx="250031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DFD"/>
          </a:solidFill>
          <a:ln xmlns:a="http://schemas.openxmlformats.org/drawingml/2006/main" w="10716">
            <a:solidFill>
              <a:srgbClr val="5D6BAD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产业链断链风险防范与化解</a:t>
            </a:r>
          </a:p>
        </p:txBody>
      </p:sp>
      <p:sp>
        <p:nvSpPr>
          <p:cNvPr id="49" name="risk_upstream">
            <a:extLst xmlns:a="http://schemas.openxmlformats.org/drawingml/2006/main">
              <a:ext uri="{FF2B5EF4-FFF2-40B4-BE49-F238E27FC236}">
                <a16:creationId xmlns:a16="http://schemas.microsoft.com/office/drawing/2014/main" id="{C9A6F779-795A-46A2-B3BC-E9BDB99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3929063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上游原料源头垄断</a:t>
            </a:r>
          </a:p>
        </p:txBody>
      </p:sp>
      <p:sp>
        <p:nvSpPr>
          <p:cNvPr id="50" name="risk_process">
            <a:extLst xmlns:a="http://schemas.openxmlformats.org/drawingml/2006/main">
              <a:ext uri="{FF2B5EF4-FFF2-40B4-BE49-F238E27FC236}">
                <a16:creationId xmlns:a16="http://schemas.microsoft.com/office/drawing/2014/main" id="{CA225434-B59A-442A-BDC4-1275E027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271963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5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加工工艺不先进</a:t>
            </a:r>
          </a:p>
        </p:txBody>
      </p:sp>
      <p:sp>
        <p:nvSpPr>
          <p:cNvPr id="51" name="risk_software">
            <a:extLst xmlns:a="http://schemas.openxmlformats.org/drawingml/2006/main">
              <a:ext uri="{FF2B5EF4-FFF2-40B4-BE49-F238E27FC236}">
                <a16:creationId xmlns:a16="http://schemas.microsoft.com/office/drawing/2014/main" id="{04FB0D64-B2A9-468D-8DC1-71460A54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614863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89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889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设计软件对外依赖度高</a:t>
            </a:r>
          </a:p>
        </p:txBody>
      </p:sp>
      <p:sp>
        <p:nvSpPr>
          <p:cNvPr id="52" name="risk_equipment">
            <a:extLst xmlns:a="http://schemas.openxmlformats.org/drawingml/2006/main">
              <a:ext uri="{FF2B5EF4-FFF2-40B4-BE49-F238E27FC236}">
                <a16:creationId xmlns:a16="http://schemas.microsoft.com/office/drawing/2014/main" id="{CBDB7F59-BD96-450B-8F2D-5E604AF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957763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加工设备自给率低</a:t>
            </a:r>
          </a:p>
        </p:txBody>
      </p:sp>
      <p:sp>
        <p:nvSpPr>
          <p:cNvPr id="53" name="risk_supply">
            <a:extLst xmlns:a="http://schemas.openxmlformats.org/drawingml/2006/main">
              <a:ext uri="{FF2B5EF4-FFF2-40B4-BE49-F238E27FC236}">
                <a16:creationId xmlns:a16="http://schemas.microsoft.com/office/drawing/2014/main" id="{D0C0AE05-7077-40AE-904E-9225AC61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5300663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上下游供需不匹配</a:t>
            </a:r>
          </a:p>
        </p:txBody>
      </p:sp>
      <p:sp>
        <p:nvSpPr>
          <p:cNvPr id="54" name="risk_monitoring">
            <a:extLst xmlns:a="http://schemas.openxmlformats.org/drawingml/2006/main">
              <a:ext uri="{FF2B5EF4-FFF2-40B4-BE49-F238E27FC236}">
                <a16:creationId xmlns:a16="http://schemas.microsoft.com/office/drawing/2014/main" id="{646AF5EA-833D-4278-9140-A8E31FB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3" y="3914775"/>
            <a:ext cx="4000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建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风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险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监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测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预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警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体</a:t>
            </a:r>
          </a:p>
          <a:p xmlns:a="http://schemas.openxmlformats.org/drawingml/2006/main">
            <a:pPr algn="ctr">
              <a:lnSpc>
                <a:spcPct val="72000"/>
              </a:lnSpc>
              <a:buNone/>
              <a:def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7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系</a:t>
            </a:r>
          </a:p>
        </p:txBody>
      </p:sp>
      <p:sp>
        <p:nvSpPr>
          <p:cNvPr id="55" name="risk_path">
            <a:extLst xmlns:a="http://schemas.openxmlformats.org/drawingml/2006/main">
              <a:ext uri="{FF2B5EF4-FFF2-40B4-BE49-F238E27FC236}">
                <a16:creationId xmlns:a16="http://schemas.microsoft.com/office/drawing/2014/main" id="{A5D40B33-56EB-4A62-A5D8-6AFBBCC3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3914775"/>
            <a:ext cx="37147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提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出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业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链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重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构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最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优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路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73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径</a:t>
            </a:r>
          </a:p>
        </p:txBody>
      </p:sp>
      <p:sp>
        <p:nvSpPr>
          <p:cNvPr id="56" name="section_mechanism">
            <a:extLst xmlns:a="http://schemas.openxmlformats.org/drawingml/2006/main">
              <a:ext uri="{FF2B5EF4-FFF2-40B4-BE49-F238E27FC236}">
                <a16:creationId xmlns:a16="http://schemas.microsoft.com/office/drawing/2014/main" id="{B204CAFC-A205-410C-81FB-48EAA66D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86450"/>
            <a:ext cx="4243388" cy="328613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C5F3E8"/>
          </a:solidFill>
          <a:ln xmlns:a="http://schemas.openxmlformats.org/drawingml/2006/main" w="10716">
            <a:solidFill>
              <a:srgbClr val="308D8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全球创新产业链重构路径及影响机理研究</a:t>
            </a:r>
          </a:p>
        </p:txBody>
      </p:sp>
      <p:sp>
        <p:nvSpPr>
          <p:cNvPr id="57" name="factor_relation">
            <a:extLst xmlns:a="http://schemas.openxmlformats.org/drawingml/2006/main">
              <a:ext uri="{FF2B5EF4-FFF2-40B4-BE49-F238E27FC236}">
                <a16:creationId xmlns:a16="http://schemas.microsoft.com/office/drawing/2014/main" id="{A6D1145D-14A4-4928-A05C-6D1B0FDC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429375"/>
            <a:ext cx="134302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产业关联特征</a:t>
            </a:r>
          </a:p>
        </p:txBody>
      </p:sp>
      <p:sp>
        <p:nvSpPr>
          <p:cNvPr id="58" name="factor_dependency">
            <a:extLst xmlns:a="http://schemas.openxmlformats.org/drawingml/2006/main">
              <a:ext uri="{FF2B5EF4-FFF2-40B4-BE49-F238E27FC236}">
                <a16:creationId xmlns:a16="http://schemas.microsoft.com/office/drawing/2014/main" id="{CF92A83C-0105-409D-8338-FB663F1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729413"/>
            <a:ext cx="134302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产业链依存度</a:t>
            </a:r>
          </a:p>
        </p:txBody>
      </p:sp>
      <p:sp>
        <p:nvSpPr>
          <p:cNvPr id="59" name="factor_innovation">
            <a:extLst xmlns:a="http://schemas.openxmlformats.org/drawingml/2006/main">
              <a:ext uri="{FF2B5EF4-FFF2-40B4-BE49-F238E27FC236}">
                <a16:creationId xmlns:a16="http://schemas.microsoft.com/office/drawing/2014/main" id="{E6B78AED-C29D-46F7-8289-1C7D3BCA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029450"/>
            <a:ext cx="134302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技术创新</a:t>
            </a:r>
          </a:p>
        </p:txBody>
      </p:sp>
      <p:sp>
        <p:nvSpPr>
          <p:cNvPr id="60" name="factor_policy">
            <a:extLst xmlns:a="http://schemas.openxmlformats.org/drawingml/2006/main">
              <a:ext uri="{FF2B5EF4-FFF2-40B4-BE49-F238E27FC236}">
                <a16:creationId xmlns:a16="http://schemas.microsoft.com/office/drawing/2014/main" id="{C8A0385E-EE13-4CBC-892C-420AB97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329488"/>
            <a:ext cx="134302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国家政策</a:t>
            </a:r>
          </a:p>
        </p:txBody>
      </p:sp>
      <p:sp>
        <p:nvSpPr>
          <p:cNvPr id="61" name="factor_competition">
            <a:extLst xmlns:a="http://schemas.openxmlformats.org/drawingml/2006/main">
              <a:ext uri="{FF2B5EF4-FFF2-40B4-BE49-F238E27FC236}">
                <a16:creationId xmlns:a16="http://schemas.microsoft.com/office/drawing/2014/main" id="{688C4ACF-C9EB-480E-AAD1-80D5042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629525"/>
            <a:ext cx="134302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国际竞争与制裁</a:t>
            </a:r>
          </a:p>
        </p:txBody>
      </p:sp>
      <p:sp>
        <p:nvSpPr>
          <p:cNvPr id="62" name="impact_factors">
            <a:extLst xmlns:a="http://schemas.openxmlformats.org/drawingml/2006/main">
              <a:ext uri="{FF2B5EF4-FFF2-40B4-BE49-F238E27FC236}">
                <a16:creationId xmlns:a16="http://schemas.microsoft.com/office/drawing/2014/main" id="{3B4813FB-BBA9-464E-970F-B9489AA0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686550"/>
            <a:ext cx="257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5E7"/>
          </a:solidFill>
          <a:ln xmlns:a="http://schemas.openxmlformats.org/drawingml/2006/main" w="10716">
            <a:solidFill>
              <a:srgbClr val="9A649D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影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响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因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素</a:t>
            </a:r>
          </a:p>
        </p:txBody>
      </p:sp>
      <p:sp>
        <p:nvSpPr>
          <p:cNvPr id="63" name="three_chains">
            <a:extLst xmlns:a="http://schemas.openxmlformats.org/drawingml/2006/main">
              <a:ext uri="{FF2B5EF4-FFF2-40B4-BE49-F238E27FC236}">
                <a16:creationId xmlns:a16="http://schemas.microsoft.com/office/drawing/2014/main" id="{C7944644-4FB0-4ECF-AB02-AC1031F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6643688"/>
            <a:ext cx="1000125" cy="942975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C5E7"/>
          </a:solidFill>
          <a:ln xmlns:a="http://schemas.openxmlformats.org/drawingml/2006/main" w="10716">
            <a:solidFill>
              <a:srgbClr val="9A649D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0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0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价值链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0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0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+供应链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0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0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+空间链</a:t>
            </a:r>
          </a:p>
        </p:txBody>
      </p:sp>
      <p:sp>
        <p:nvSpPr>
          <p:cNvPr id="64" name="impact_mechanism">
            <a:extLst xmlns:a="http://schemas.openxmlformats.org/drawingml/2006/main">
              <a:ext uri="{FF2B5EF4-FFF2-40B4-BE49-F238E27FC236}">
                <a16:creationId xmlns:a16="http://schemas.microsoft.com/office/drawing/2014/main" id="{86590AFE-2B25-4213-97A8-B8F6FEB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686550"/>
            <a:ext cx="2571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5E7"/>
          </a:solidFill>
          <a:ln xmlns:a="http://schemas.openxmlformats.org/drawingml/2006/main" w="10716">
            <a:solidFill>
              <a:srgbClr val="9A649D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影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响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机</a:t>
            </a:r>
          </a:p>
          <a:p xmlns:a="http://schemas.openxmlformats.org/drawingml/2006/main">
            <a:pPr algn="ctr">
              <a:lnSpc>
                <a:spcPct val="84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理</a:t>
            </a:r>
          </a:p>
        </p:txBody>
      </p:sp>
      <p:sp>
        <p:nvSpPr>
          <p:cNvPr id="65" name="outcome_boundary">
            <a:extLst xmlns:a="http://schemas.openxmlformats.org/drawingml/2006/main">
              <a:ext uri="{FF2B5EF4-FFF2-40B4-BE49-F238E27FC236}">
                <a16:creationId xmlns:a16="http://schemas.microsoft.com/office/drawing/2014/main" id="{7A3C2972-5CBE-480E-9F91-35C6117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6429375"/>
            <a:ext cx="151447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分工边界拓展</a:t>
            </a:r>
          </a:p>
        </p:txBody>
      </p:sp>
      <p:sp>
        <p:nvSpPr>
          <p:cNvPr id="66" name="outcome_cost">
            <a:extLst xmlns:a="http://schemas.openxmlformats.org/drawingml/2006/main">
              <a:ext uri="{FF2B5EF4-FFF2-40B4-BE49-F238E27FC236}">
                <a16:creationId xmlns:a16="http://schemas.microsoft.com/office/drawing/2014/main" id="{0F379662-3121-4634-9A47-9B5D146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6757988"/>
            <a:ext cx="151447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研发与交易成本变化</a:t>
            </a:r>
          </a:p>
        </p:txBody>
      </p:sp>
      <p:sp>
        <p:nvSpPr>
          <p:cNvPr id="67" name="outcome_distribution">
            <a:extLst xmlns:a="http://schemas.openxmlformats.org/drawingml/2006/main">
              <a:ext uri="{FF2B5EF4-FFF2-40B4-BE49-F238E27FC236}">
                <a16:creationId xmlns:a16="http://schemas.microsoft.com/office/drawing/2014/main" id="{BE8C554D-DB2A-4C90-AD6E-0E9854DC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7086600"/>
            <a:ext cx="151447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价值分配转移</a:t>
            </a:r>
          </a:p>
        </p:txBody>
      </p:sp>
      <p:sp>
        <p:nvSpPr>
          <p:cNvPr id="68" name="outcome_supply">
            <a:extLst xmlns:a="http://schemas.openxmlformats.org/drawingml/2006/main">
              <a:ext uri="{FF2B5EF4-FFF2-40B4-BE49-F238E27FC236}">
                <a16:creationId xmlns:a16="http://schemas.microsoft.com/office/drawing/2014/main" id="{162A5969-9F01-403B-B108-A65B3B38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7415213"/>
            <a:ext cx="1514475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EE1FA"/>
          </a:solidFill>
          <a:ln xmlns:a="http://schemas.openxmlformats.org/drawingml/2006/main" w="10716">
            <a:solidFill>
              <a:srgbClr val="617FA3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供求关系变化</a:t>
            </a:r>
          </a:p>
        </p:txBody>
      </p:sp>
      <p:sp>
        <p:nvSpPr>
          <p:cNvPr id="69" name="mechanism_caption">
            <a:extLst xmlns:a="http://schemas.openxmlformats.org/drawingml/2006/main">
              <a:ext uri="{FF2B5EF4-FFF2-40B4-BE49-F238E27FC236}">
                <a16:creationId xmlns:a16="http://schemas.microsoft.com/office/drawing/2014/main" id="{3E530D8F-3A83-4D7A-B895-3343F803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7629525"/>
            <a:ext cx="1714500" cy="2571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C5E7"/>
          </a:solidFill>
          <a:ln xmlns:a="http://schemas.openxmlformats.org/drawingml/2006/main" w="10716">
            <a:solidFill>
              <a:srgbClr val="9A649D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3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产业链重构影响机理</a:t>
            </a:r>
          </a:p>
        </p:txBody>
      </p:sp>
      <p:sp>
        <p:nvSpPr>
          <p:cNvPr id="70" name="path_elements_header">
            <a:extLst xmlns:a="http://schemas.openxmlformats.org/drawingml/2006/main">
              <a:ext uri="{FF2B5EF4-FFF2-40B4-BE49-F238E27FC236}">
                <a16:creationId xmlns:a16="http://schemas.microsoft.com/office/drawing/2014/main" id="{90DB104C-AB07-4FE3-A301-BF0D7B8E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81724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11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产业链重构三要素</a:t>
            </a:r>
          </a:p>
        </p:txBody>
      </p:sp>
      <p:sp>
        <p:nvSpPr>
          <p:cNvPr id="71" name="path_value">
            <a:extLst xmlns:a="http://schemas.openxmlformats.org/drawingml/2006/main">
              <a:ext uri="{FF2B5EF4-FFF2-40B4-BE49-F238E27FC236}">
                <a16:creationId xmlns:a16="http://schemas.microsoft.com/office/drawing/2014/main" id="{D394E2D6-B996-4230-92E2-9F71189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8543925"/>
            <a:ext cx="1400175" cy="2857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价值重构</a:t>
            </a:r>
          </a:p>
        </p:txBody>
      </p:sp>
      <p:sp>
        <p:nvSpPr>
          <p:cNvPr id="72" name="path_organization">
            <a:extLst xmlns:a="http://schemas.openxmlformats.org/drawingml/2006/main">
              <a:ext uri="{FF2B5EF4-FFF2-40B4-BE49-F238E27FC236}">
                <a16:creationId xmlns:a16="http://schemas.microsoft.com/office/drawing/2014/main" id="{E1EA6C65-59BF-4BF7-B76D-3D530F87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8858250"/>
            <a:ext cx="1400175" cy="271463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组织重构</a:t>
            </a:r>
          </a:p>
        </p:txBody>
      </p:sp>
      <p:sp>
        <p:nvSpPr>
          <p:cNvPr id="73" name="path_space">
            <a:extLst xmlns:a="http://schemas.openxmlformats.org/drawingml/2006/main">
              <a:ext uri="{FF2B5EF4-FFF2-40B4-BE49-F238E27FC236}">
                <a16:creationId xmlns:a16="http://schemas.microsoft.com/office/drawing/2014/main" id="{2026751E-F860-4180-985C-CAD412FC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9172575"/>
            <a:ext cx="1400175" cy="271463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空间重构</a:t>
            </a:r>
          </a:p>
        </p:txBody>
      </p:sp>
      <p:sp>
        <p:nvSpPr>
          <p:cNvPr id="74" name="semiconductor_header">
            <a:extLst xmlns:a="http://schemas.openxmlformats.org/drawingml/2006/main">
              <a:ext uri="{FF2B5EF4-FFF2-40B4-BE49-F238E27FC236}">
                <a16:creationId xmlns:a16="http://schemas.microsoft.com/office/drawing/2014/main" id="{F32A592D-A94B-49DC-B584-4CCC26C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172450"/>
            <a:ext cx="2228850" cy="385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FCF"/>
          </a:solidFill>
          <a:ln xmlns:a="http://schemas.openxmlformats.org/drawingml/2006/main" w="10716">
            <a:solidFill>
              <a:srgbClr val="C6A589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66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866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半导体产业链重构模式与路径</a:t>
            </a:r>
          </a:p>
        </p:txBody>
      </p:sp>
      <p:sp>
        <p:nvSpPr>
          <p:cNvPr id="75" name="mode_linkage">
            <a:extLst xmlns:a="http://schemas.openxmlformats.org/drawingml/2006/main">
              <a:ext uri="{FF2B5EF4-FFF2-40B4-BE49-F238E27FC236}">
                <a16:creationId xmlns:a16="http://schemas.microsoft.com/office/drawing/2014/main" id="{2B71B26E-7967-4D5B-9C23-AA764E4A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543925"/>
            <a:ext cx="1728788" cy="2857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4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84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全球产业链价值链联动</a:t>
            </a:r>
          </a:p>
        </p:txBody>
      </p:sp>
      <p:sp>
        <p:nvSpPr>
          <p:cNvPr id="76" name="mode_upgrade">
            <a:extLst xmlns:a="http://schemas.openxmlformats.org/drawingml/2006/main">
              <a:ext uri="{FF2B5EF4-FFF2-40B4-BE49-F238E27FC236}">
                <a16:creationId xmlns:a16="http://schemas.microsoft.com/office/drawing/2014/main" id="{FF670D6E-D025-496D-AABD-4A99B46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8543925"/>
            <a:ext cx="1471613" cy="2857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产业链升级</a:t>
            </a:r>
          </a:p>
        </p:txBody>
      </p:sp>
      <p:sp>
        <p:nvSpPr>
          <p:cNvPr id="77" name="mode_ecosystem">
            <a:extLst xmlns:a="http://schemas.openxmlformats.org/drawingml/2006/main">
              <a:ext uri="{FF2B5EF4-FFF2-40B4-BE49-F238E27FC236}">
                <a16:creationId xmlns:a16="http://schemas.microsoft.com/office/drawing/2014/main" id="{7994DC0F-0995-457E-B647-30C11231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858250"/>
            <a:ext cx="1728788" cy="271463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89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889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全球产业链生态系统</a:t>
            </a:r>
          </a:p>
        </p:txBody>
      </p:sp>
      <p:sp>
        <p:nvSpPr>
          <p:cNvPr id="78" name="mode_expansion">
            <a:extLst xmlns:a="http://schemas.openxmlformats.org/drawingml/2006/main">
              <a:ext uri="{FF2B5EF4-FFF2-40B4-BE49-F238E27FC236}">
                <a16:creationId xmlns:a16="http://schemas.microsoft.com/office/drawing/2014/main" id="{B6939B45-EE4F-49F6-8C83-0307A489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8858250"/>
            <a:ext cx="1471613" cy="271463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87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87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产业链横纵向拓展</a:t>
            </a:r>
          </a:p>
        </p:txBody>
      </p:sp>
      <p:sp>
        <p:nvSpPr>
          <p:cNvPr id="79" name="mode_substitution">
            <a:extLst xmlns:a="http://schemas.openxmlformats.org/drawingml/2006/main">
              <a:ext uri="{FF2B5EF4-FFF2-40B4-BE49-F238E27FC236}">
                <a16:creationId xmlns:a16="http://schemas.microsoft.com/office/drawing/2014/main" id="{11469A3B-A116-41AB-9D49-599805D1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9172575"/>
            <a:ext cx="1728788" cy="271463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28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国产化替代</a:t>
            </a:r>
          </a:p>
        </p:txBody>
      </p:sp>
      <p:sp>
        <p:nvSpPr>
          <p:cNvPr id="80" name="mode_regional">
            <a:extLst xmlns:a="http://schemas.openxmlformats.org/drawingml/2006/main">
              <a:ext uri="{FF2B5EF4-FFF2-40B4-BE49-F238E27FC236}">
                <a16:creationId xmlns:a16="http://schemas.microsoft.com/office/drawing/2014/main" id="{4FD36764-5923-4C48-918F-0DE65237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9172575"/>
            <a:ext cx="1471613" cy="271463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2D0"/>
          </a:solidFill>
          <a:ln xmlns:a="http://schemas.openxmlformats.org/drawingml/2006/main" w="10716">
            <a:solidFill>
              <a:srgbClr val="5E9461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0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区域价值链合作</a:t>
            </a:r>
          </a:p>
        </p:txBody>
      </p:sp>
      <p:sp>
        <p:nvSpPr>
          <p:cNvPr id="81" name="section_policy">
            <a:extLst xmlns:a="http://schemas.openxmlformats.org/drawingml/2006/main">
              <a:ext uri="{FF2B5EF4-FFF2-40B4-BE49-F238E27FC236}">
                <a16:creationId xmlns:a16="http://schemas.microsoft.com/office/drawing/2014/main" id="{56A97D47-7939-421D-AA46-7D12C4CD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872663"/>
            <a:ext cx="4243388" cy="357188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5F3E8"/>
          </a:solidFill>
          <a:ln xmlns:a="http://schemas.openxmlformats.org/drawingml/2006/main" w="10716">
            <a:solidFill>
              <a:srgbClr val="308D8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2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102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我国创新产业政策优化与评价研究</a:t>
            </a:r>
          </a:p>
        </p:txBody>
      </p:sp>
      <p:sp>
        <p:nvSpPr>
          <p:cNvPr id="82" name="policy_history">
            <a:extLst xmlns:a="http://schemas.openxmlformats.org/drawingml/2006/main">
              <a:ext uri="{FF2B5EF4-FFF2-40B4-BE49-F238E27FC236}">
                <a16:creationId xmlns:a16="http://schemas.microsoft.com/office/drawing/2014/main" id="{1C805B53-90F0-4E41-AC85-B965B086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8" y="10258425"/>
            <a:ext cx="1414463" cy="5143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9EACD"/>
          </a:solidFill>
          <a:ln xmlns:a="http://schemas.openxmlformats.org/drawingml/2006/main" w="10716">
            <a:solidFill>
              <a:srgbClr val="D5B45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93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3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产业政策发展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34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34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历程及成效</a:t>
            </a:r>
          </a:p>
        </p:txBody>
      </p:sp>
      <p:sp>
        <p:nvSpPr>
          <p:cNvPr id="83" name="policy_evaluation">
            <a:extLst xmlns:a="http://schemas.openxmlformats.org/drawingml/2006/main">
              <a:ext uri="{FF2B5EF4-FFF2-40B4-BE49-F238E27FC236}">
                <a16:creationId xmlns:a16="http://schemas.microsoft.com/office/drawing/2014/main" id="{3C547954-6654-4ADC-B453-A534DD8A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10258425"/>
            <a:ext cx="1314450" cy="5143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9EACD"/>
          </a:solidFill>
          <a:ln xmlns:a="http://schemas.openxmlformats.org/drawingml/2006/main" w="10716">
            <a:solidFill>
              <a:srgbClr val="D5B45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产业政策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评价体系</a:t>
            </a:r>
          </a:p>
        </p:txBody>
      </p:sp>
      <p:sp>
        <p:nvSpPr>
          <p:cNvPr id="84" name="policy_optimization">
            <a:extLst xmlns:a="http://schemas.openxmlformats.org/drawingml/2006/main">
              <a:ext uri="{FF2B5EF4-FFF2-40B4-BE49-F238E27FC236}">
                <a16:creationId xmlns:a16="http://schemas.microsoft.com/office/drawing/2014/main" id="{1C8FD0D6-4763-4A88-B578-05A16725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0258425"/>
            <a:ext cx="1285875" cy="5143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9EACD"/>
          </a:solidFill>
          <a:ln xmlns:a="http://schemas.openxmlformats.org/drawingml/2006/main" w="10716">
            <a:solidFill>
              <a:srgbClr val="D5B454"/>
            </a:solidFill>
            <a:prstDash val="solid"/>
          </a:ln>
        </p:spPr>
        <p:txBody>
          <a:bodyPr xmlns:a="http://schemas.openxmlformats.org/drawingml/2006/main" wrap="square" lIns="17145" tIns="10001" rIns="17145" bIns="10001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产业政策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defRPr>
            </a:pPr>
            <a:r>
              <a:rPr sz="990" b="0">
                <a:solidFill>
                  <a:srgbClr val="3E4857"/>
                </a:solidFill>
                <a:latin typeface="Songti SC"/>
                <a:ea typeface="Songti SC"/>
                <a:cs typeface="Songti SC"/>
              </a:rPr>
              <a:t>优化</a:t>
            </a:r>
          </a:p>
        </p:txBody>
      </p:sp>
      <p:cxnSp>
        <p:nvCxnSpPr>
          <p:cNvPr id="207" name=""/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300413" y="4079082"/>
            <a:ext cx="385762" cy="55006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08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300413" y="4436269"/>
            <a:ext cx="385762" cy="19288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09" name=""/>
          <p:cNvCxnSpPr>
            <a:stCxn xmlns:a="http://schemas.openxmlformats.org/drawingml/2006/main" id="44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V="1">
            <a:off x="3300413" y="4629151"/>
            <a:ext cx="385762" cy="16430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0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V="1">
            <a:off x="3300413" y="4629151"/>
            <a:ext cx="385762" cy="52149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1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4014788" y="4629151"/>
            <a:ext cx="85725" cy="0"/>
          </a:xfrm>
          <a:prstGeom xmlns:a="http://schemas.openxmlformats.org/drawingml/2006/main" prst="straightConnector1">
            <a:avLst/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2" name=""/>
          <p:cNvCxnSpPr>
            <a:stCxn xmlns:a="http://schemas.openxmlformats.org/drawingml/2006/main" id="4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372226" y="4071938"/>
            <a:ext cx="128587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3" name=""/>
          <p:cNvCxnSpPr>
            <a:stCxn xmlns:a="http://schemas.openxmlformats.org/drawingml/2006/main" id="50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372226" y="4414838"/>
            <a:ext cx="128587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4" name=""/>
          <p:cNvCxnSpPr>
            <a:stCxn xmlns:a="http://schemas.openxmlformats.org/drawingml/2006/main" id="51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6372226" y="4643438"/>
            <a:ext cx="128587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5" name=""/>
          <p:cNvCxnSpPr>
            <a:stCxn xmlns:a="http://schemas.openxmlformats.org/drawingml/2006/main" id="52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6372226" y="4643438"/>
            <a:ext cx="128587" cy="45720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6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6372226" y="4643438"/>
            <a:ext cx="128587" cy="80010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7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6900863" y="4643438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</a:ln>
        </p:spPr>
      </p:cxnSp>
      <p:cxnSp>
        <p:nvCxnSpPr>
          <p:cNvPr id="218" name=""/>
          <p:cNvCxnSpPr>
            <a:stCxn xmlns:a="http://schemas.openxmlformats.org/drawingml/2006/main" id="57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343275" y="6557963"/>
            <a:ext cx="142875" cy="585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19" name=""/>
          <p:cNvCxnSpPr>
            <a:stCxn xmlns:a="http://schemas.openxmlformats.org/drawingml/2006/main" id="58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343275" y="6858001"/>
            <a:ext cx="142875" cy="2857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0" name=""/>
          <p:cNvCxnSpPr>
            <a:stCxn xmlns:a="http://schemas.openxmlformats.org/drawingml/2006/main" id="5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V="1">
            <a:off x="3343275" y="7143750"/>
            <a:ext cx="142875" cy="14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1" name=""/>
          <p:cNvCxnSpPr>
            <a:stCxn xmlns:a="http://schemas.openxmlformats.org/drawingml/2006/main" id="60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V="1">
            <a:off x="3343275" y="7143750"/>
            <a:ext cx="142875" cy="31432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2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V="1">
            <a:off x="3343275" y="7143750"/>
            <a:ext cx="142875" cy="614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3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V="1">
            <a:off x="3743325" y="7115176"/>
            <a:ext cx="242888" cy="28574"/>
          </a:xfrm>
          <a:prstGeom xmlns:a="http://schemas.openxmlformats.org/drawingml/2006/main" prst="straightConnector1">
            <a:avLst/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4" name=""/>
          <p:cNvCxnSpPr>
            <a:stCxn xmlns:a="http://schemas.openxmlformats.org/drawingml/2006/main" id="65" idx="1"/>
            <a:endCxn xmlns:a="http://schemas.openxmlformats.org/drawingml/2006/main" id="64" idx="3"/>
          </p:cNvCxnSpPr>
          <p:nvPr/>
        </p:nvCxnSpPr>
        <p:spPr>
          <a:xfrm xmlns:a="http://schemas.openxmlformats.org/drawingml/2006/main" flipH="1">
            <a:off x="5543550" y="6557963"/>
            <a:ext cx="357188" cy="585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5" name=""/>
          <p:cNvCxnSpPr>
            <a:stCxn xmlns:a="http://schemas.openxmlformats.org/drawingml/2006/main" id="66" idx="1"/>
            <a:endCxn xmlns:a="http://schemas.openxmlformats.org/drawingml/2006/main" id="64" idx="3"/>
          </p:cNvCxnSpPr>
          <p:nvPr/>
        </p:nvCxnSpPr>
        <p:spPr>
          <a:xfrm xmlns:a="http://schemas.openxmlformats.org/drawingml/2006/main" flipH="1">
            <a:off x="5543550" y="6886576"/>
            <a:ext cx="357188" cy="25717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6" name=""/>
          <p:cNvCxnSpPr>
            <a:stCxn xmlns:a="http://schemas.openxmlformats.org/drawingml/2006/main" id="67" idx="1"/>
            <a:endCxn xmlns:a="http://schemas.openxmlformats.org/drawingml/2006/main" id="64" idx="3"/>
          </p:cNvCxnSpPr>
          <p:nvPr/>
        </p:nvCxnSpPr>
        <p:spPr>
          <a:xfrm xmlns:a="http://schemas.openxmlformats.org/drawingml/2006/main" flipH="1" flipV="1">
            <a:off x="5543550" y="7143750"/>
            <a:ext cx="357188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7" name=""/>
          <p:cNvCxnSpPr>
            <a:stCxn xmlns:a="http://schemas.openxmlformats.org/drawingml/2006/main" id="68" idx="1"/>
            <a:endCxn xmlns:a="http://schemas.openxmlformats.org/drawingml/2006/main" id="64" idx="3"/>
          </p:cNvCxnSpPr>
          <p:nvPr/>
        </p:nvCxnSpPr>
        <p:spPr>
          <a:xfrm xmlns:a="http://schemas.openxmlformats.org/drawingml/2006/main" flipH="1" flipV="1">
            <a:off x="5543550" y="7143750"/>
            <a:ext cx="357188" cy="40005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8" name=""/>
          <p:cNvCxnSpPr>
            <a:stCxn xmlns:a="http://schemas.openxmlformats.org/drawingml/2006/main" id="64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 flipV="1">
            <a:off x="4986338" y="7115176"/>
            <a:ext cx="300037" cy="28574"/>
          </a:xfrm>
          <a:prstGeom xmlns:a="http://schemas.openxmlformats.org/drawingml/2006/main" prst="straightConnector1">
            <a:avLst/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cxnSp>
        <p:nvCxnSpPr>
          <p:cNvPr id="229" name=""/>
          <p:cNvCxnSpPr>
            <a:stCxn xmlns:a="http://schemas.openxmlformats.org/drawingml/2006/main" id="63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4486276" y="7586663"/>
            <a:ext cx="157163" cy="42862"/>
          </a:xfrm>
          <a:prstGeom xmlns:a="http://schemas.openxmlformats.org/drawingml/2006/main" prst="straightConnector1">
            <a:avLst/>
          </a:prstGeom>
          <a:ln xmlns:a="http://schemas.openxmlformats.org/drawingml/2006/main" w="10287" cap="rnd">
            <a:solidFill>
              <a:srgbClr val="3F3F3F"/>
            </a:solidFill>
            <a:prstDash val="solid"/>
            <a:round/>
            <a:tailEnd type="triangle" w="sm" len="sm"/>
          </a:ln>
        </p:spPr>
      </p:cxnSp>
      <p:sp>
        <p:nvSpPr>
          <p:cNvPr id="108" name="e_framework_question">
            <a:extLst xmlns:a="http://schemas.openxmlformats.org/drawingml/2006/main">
              <a:ext uri="{FF2B5EF4-FFF2-40B4-BE49-F238E27FC236}">
                <a16:creationId xmlns:a16="http://schemas.microsoft.com/office/drawing/2014/main" id="{DF0ECA02-3888-4433-927F-2382BCE6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0088"/>
            <a:ext cx="471488" cy="971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09" name="e_question_analysis">
            <a:extLst xmlns:a="http://schemas.openxmlformats.org/drawingml/2006/main">
              <a:ext uri="{FF2B5EF4-FFF2-40B4-BE49-F238E27FC236}">
                <a16:creationId xmlns:a16="http://schemas.microsoft.com/office/drawing/2014/main" id="{0BBDC0A5-24E8-413C-892F-BC83B1A1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1713"/>
            <a:ext cx="471488" cy="1585913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0" name="e_analysis_solution">
            <a:extLst xmlns:a="http://schemas.openxmlformats.org/drawingml/2006/main">
              <a:ext uri="{FF2B5EF4-FFF2-40B4-BE49-F238E27FC236}">
                <a16:creationId xmlns:a16="http://schemas.microsoft.com/office/drawing/2014/main" id="{D8A7C268-29B4-4478-8B4F-054F515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71488" cy="11715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1" name="e_solution_mechanism">
            <a:extLst xmlns:a="http://schemas.openxmlformats.org/drawingml/2006/main">
              <a:ext uri="{FF2B5EF4-FFF2-40B4-BE49-F238E27FC236}">
                <a16:creationId xmlns:a16="http://schemas.microsoft.com/office/drawing/2014/main" id="{220874C4-2DDC-48D0-BEE4-4D21814C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8" y="6215063"/>
            <a:ext cx="442913" cy="385763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2" name="e_mechanism_path">
            <a:extLst xmlns:a="http://schemas.openxmlformats.org/drawingml/2006/main">
              <a:ext uri="{FF2B5EF4-FFF2-40B4-BE49-F238E27FC236}">
                <a16:creationId xmlns:a16="http://schemas.microsoft.com/office/drawing/2014/main" id="{19E2C7EF-2778-4317-A0BC-E220135E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58050"/>
            <a:ext cx="471488" cy="121443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3" name="e_path_policy">
            <a:extLst xmlns:a="http://schemas.openxmlformats.org/drawingml/2006/main">
              <a:ext uri="{FF2B5EF4-FFF2-40B4-BE49-F238E27FC236}">
                <a16:creationId xmlns:a16="http://schemas.microsoft.com/office/drawing/2014/main" id="{258CEF58-4987-4A3E-B465-20CC1F2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58275"/>
            <a:ext cx="471488" cy="98583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4" name="e_methods_1">
            <a:extLst xmlns:a="http://schemas.openxmlformats.org/drawingml/2006/main">
              <a:ext uri="{FF2B5EF4-FFF2-40B4-BE49-F238E27FC236}">
                <a16:creationId xmlns:a16="http://schemas.microsoft.com/office/drawing/2014/main" id="{CA1ECE0D-2E16-4F44-995F-4F1B2FD6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714375"/>
            <a:ext cx="485775" cy="842963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5" name="e_methods_2">
            <a:extLst xmlns:a="http://schemas.openxmlformats.org/drawingml/2006/main">
              <a:ext uri="{FF2B5EF4-FFF2-40B4-BE49-F238E27FC236}">
                <a16:creationId xmlns:a16="http://schemas.microsoft.com/office/drawing/2014/main" id="{2EB45F54-8BE4-4586-B029-6686F298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914650"/>
            <a:ext cx="485775" cy="92868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6" name="e_methods_3">
            <a:extLst xmlns:a="http://schemas.openxmlformats.org/drawingml/2006/main">
              <a:ext uri="{FF2B5EF4-FFF2-40B4-BE49-F238E27FC236}">
                <a16:creationId xmlns:a16="http://schemas.microsoft.com/office/drawing/2014/main" id="{C1346AED-10A2-477F-93CE-2D9670C1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571500" cy="1943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7" name="e_methods_4">
            <a:extLst xmlns:a="http://schemas.openxmlformats.org/drawingml/2006/main">
              <a:ext uri="{FF2B5EF4-FFF2-40B4-BE49-F238E27FC236}">
                <a16:creationId xmlns:a16="http://schemas.microsoft.com/office/drawing/2014/main" id="{2BADDCDF-654A-4D08-ABF6-7AD8C3B5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8315325"/>
            <a:ext cx="571500" cy="1514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6429">
            <a:solidFill>
              <a:srgbClr val="4472C4"/>
            </a:solidFill>
            <a:prstDash val="solid"/>
          </a:ln>
        </p:spPr>
      </p:sp>
      <p:sp>
        <p:nvSpPr>
          <p:cNvPr id="118" name="e_trend_measurement">
            <a:extLst xmlns:a="http://schemas.openxmlformats.org/drawingml/2006/main">
              <a:ext uri="{FF2B5EF4-FFF2-40B4-BE49-F238E27FC236}">
                <a16:creationId xmlns:a16="http://schemas.microsoft.com/office/drawing/2014/main" id="{91692EFA-F868-4CCB-BFBB-92EB908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200150"/>
            <a:ext cx="471488" cy="44291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A48"/>
          </a:solidFill>
          <a:ln xmlns:a="http://schemas.openxmlformats.org/drawingml/2006/main" w="6429">
            <a:solidFill>
              <a:srgbClr val="6E7A48"/>
            </a:solidFill>
            <a:prstDash val="solid"/>
          </a:ln>
        </p:spPr>
      </p:sp>
      <p:sp>
        <p:nvSpPr>
          <p:cNvPr id="119" name="e_measurement_comparison">
            <a:extLst xmlns:a="http://schemas.openxmlformats.org/drawingml/2006/main">
              <a:ext uri="{FF2B5EF4-FFF2-40B4-BE49-F238E27FC236}">
                <a16:creationId xmlns:a16="http://schemas.microsoft.com/office/drawing/2014/main" id="{2237A3CF-E1EE-4257-A158-E72D52FA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200150"/>
            <a:ext cx="485775" cy="44291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A48"/>
          </a:solidFill>
          <a:ln xmlns:a="http://schemas.openxmlformats.org/drawingml/2006/main" w="6429">
            <a:solidFill>
              <a:srgbClr val="6E7A48"/>
            </a:solidFill>
            <a:prstDash val="solid"/>
          </a:ln>
        </p:spPr>
      </p:sp>
      <p:sp>
        <p:nvSpPr>
          <p:cNvPr id="120" name="e_elements_modes">
            <a:extLst xmlns:a="http://schemas.openxmlformats.org/drawingml/2006/main">
              <a:ext uri="{FF2B5EF4-FFF2-40B4-BE49-F238E27FC236}">
                <a16:creationId xmlns:a16="http://schemas.microsoft.com/office/drawing/2014/main" id="{3F513E89-8BFF-4FFA-85D9-001E46D4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8186738"/>
            <a:ext cx="428625" cy="38576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763F"/>
          </a:solidFill>
          <a:ln xmlns:a="http://schemas.openxmlformats.org/drawingml/2006/main" w="6429">
            <a:solidFill>
              <a:srgbClr val="DE763F"/>
            </a:solidFill>
            <a:prstDash val="solid"/>
          </a:ln>
        </p:spPr>
      </p:sp>
      <p:sp>
        <p:nvSpPr>
          <p:cNvPr id="121" name="e_policy_history_evaluation">
            <a:extLst xmlns:a="http://schemas.openxmlformats.org/drawingml/2006/main">
              <a:ext uri="{FF2B5EF4-FFF2-40B4-BE49-F238E27FC236}">
                <a16:creationId xmlns:a16="http://schemas.microsoft.com/office/drawing/2014/main" id="{45CC0F94-D2AA-447D-9C48-F718C53C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0315575"/>
            <a:ext cx="400050" cy="35718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33D"/>
          </a:solidFill>
          <a:ln xmlns:a="http://schemas.openxmlformats.org/drawingml/2006/main" w="6429">
            <a:solidFill>
              <a:srgbClr val="E4B33D"/>
            </a:solidFill>
            <a:prstDash val="solid"/>
          </a:ln>
        </p:spPr>
      </p:sp>
      <p:sp>
        <p:nvSpPr>
          <p:cNvPr id="122" name="e_policy_evaluation_optimization">
            <a:extLst xmlns:a="http://schemas.openxmlformats.org/drawingml/2006/main">
              <a:ext uri="{FF2B5EF4-FFF2-40B4-BE49-F238E27FC236}">
                <a16:creationId xmlns:a16="http://schemas.microsoft.com/office/drawing/2014/main" id="{4670CEA5-B997-454E-B6E5-332442E0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315575"/>
            <a:ext cx="414338" cy="35718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33D"/>
          </a:solidFill>
          <a:ln xmlns:a="http://schemas.openxmlformats.org/drawingml/2006/main" w="6429">
            <a:solidFill>
              <a:srgbClr val="E4B3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373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2026-08-09T15:54:37.2470000Z</dcterms:created>
  <dcterms:modified xsi:type="dcterms:W3CDTF">2026-08-09T15:54:37.2470000Z</dcterms:modified>
</coreProperties>
</file>